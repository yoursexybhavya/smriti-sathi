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Respected judges, imagine standing before the 400-year-old Amer Fort in Jaipur. IDEA FORGE 2026 · LIVE WORKING PWA READY. HERODOTUS: Giving India’s Living Stone a Voice in Every Pocket. An interactive, map-first web companion putting 4,000 years of Indian heritage into every traveler's pocket — with instant multilingual audio, curated architectural stories, and verified on-site visitor facts. MAP-FIRST DISCOVERY · WEB SPEECH AUDIO · ZERO-FRICTION PWA. ★ LIVE WORKING MVP READY ON SMARTPHONES: Next.js 14 · Mapbox GL · Browser Web Speech API · Vercel Edge. herodotus-guide.vercel.app · 3,693 ASI Monuments Unified. Take Amer Fort &amp; Palace in Jaipur, Rajasthan · UNESCO World Heritage Site #247 with Rajput-Mughal Architecture · Founded 1592 CE. Perched high on the rugged Aravalli hills, Amer Fort witnessed four centuries of living history. Yet today, millions of domestic tourists walk through its monumental Sun Gate in silence without hearing its stories. We bring you 400-Year Living Stone, 5 Indian Languages, Zero App Download, and an On-Site GPS Guide. Cover Photography: Sunset over Amer Fort ramparts. Presented by Team Herodotus · IDEA FORGE 2026 Pitch-A-Thon · Free Public Access · Built for 1.4 Billion Citizens.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VISITOR FRICTION. Standing in Front of History. Where’s the Story? India preserves 3,693 protected monuments, yet 98% offer zero native digital context on-site. THE ON-SITE REALITY: 300M+ domestic travelers walk past world-changing heritage in complete silence — facing weathered placards and fragmented information. Problem 01: Scattered &amp; Unverified Historical Context. On-site tourists struggle to find verified stories. Critical historical narratives are buried in unverified blogs, fragmented search tabs, or eroded physical placards. Problem 02: Dispersed Logistics &amp; Outdated Tariffs. Official opening hours, differential domestic vs. international tariffs, and ticketing portals are spread across disparate databases, causing visitor confusion and tout exploitation. Problem 03: Expensive Guide Monopoly &amp; Language Divide. Tourists face an unfair choice: pay ₹300–₹500 for unverified touts or walk in silence. Audio guides exist at &lt;1% of sites and are almost exclusively in English. THE CORE REALITY: The history exists. The information exists. But the digital connection is broken. India is blessed with 3,693 ASI-protected monuments, but for 98% of them, the visitor experience is completely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JUDGING CRITERION: INNOVATION &amp; ORIGINALITY. Spatial-First Discovery vs Keyword Search. Monuments are physical coordinates on earth, not search queries in a database. PARADIGM SHIFT: Replacing keyword search boxes with an interactive, 60 FPS spatial map covering 3,693 geocoded monuments. TRADITIONAL VISITOR JOURNEY (STATUS QUO): Keyword Search: Must know exact monument spellings in advance; zero serendipity. Bulky 150MB Apps: Heavy downloads that stall on 3G, or expensive hardware booths. English Monopoly: Audio guides exist at &lt;30 sites, costing ₹300+ in English only. ★ HERODOTUS SPATIAL COMPANION (BREAKTHROUGH): Map-First Cartography: Dynamic 60 FPS vector map across 3,693 geocoded ASI monuments. Zero-Friction PWA: Sub-350KB payload, instant browser access, zero app downloads. Linguistic Inclusion: Mother-tongue narration in 5+ Indian languages at ₹0 cost. DYNAMIC SPATIAL ENGINE: 3,693 monument coordinates clustered with Mapbox Supercluster. As travelers explore regions, clusters dynamically expand into verified cultural dossiers. Core Originality: Transforming static geo-coordinates into living, voice-narrated cultural dossiers at zero marginal server cost. We asked a fundamental question: Why are we searching for monuments using text boxes, when history lives on physical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JUDGING CRITERION: PRESENTATION &amp; CLARITY. From Map to Monument in 10 Seconds. A seamless, zero-friction web flow taking travelers from national cartography to verified audio in 4 steps. ON-SITE EXPERIENCE: Zero download required. A traveler stands at Amer Fort, taps their browser, and listens to verified narratives in their mother tongue. Live URL: herodotus-guide.vercel.app/explore/amer-fort showing Amer Fort &amp; Palace · Rajput-Mughal Architecture (1592 CE). PLAYING AUDIO GUIDE · 01:24 / 03:42 · Web Speech (Hindi / English) with elapsed 01:24 and total 03:42. Timings: 08:00 – 17:30, Tariff: ₹100 (Ind) / ₹500 (Int), Verified Official ASI E-Ticket Portal, Instant Audio in 5 Indian Languages, and GPS Proximity Sync · Offline Audio Cached locally in IndexedDB. Our 4-step journey: STEP 01: 01 · LOCATE — Open browser, explore smooth Mapbox vector canvas with 3,693 dynamically clustered pins. STEP 02: 02 · CONTEXTUALIZE — Tap any monument to open curated architectural highlights, dynasty timelines, and verified photography. STEP 03 · AUDIO: 03 · LISTEN — Hit Play for instant Web Speech audio narration in your mother tongue — zero file downloads, zero latency. STEP 04: 04 · PLAN — Access official ASI ticket booking portals, real-time hours, and direct turn-by-turn navigation. Here is our working MVP in action. A traveler opens herodotus-guide in any mobile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JUDGING CRITERION: FEASIBILITY &amp; TECHNICAL VIABILITY. Lightweight MVP Architecture delivers Infinite Scalability. Engineered on modern browser standards for zero server streaming costs, sub-second loads, and offline reliability. LAYER 01: Next.js 14 PWA Client Frontend — Zero app-store friction or downloads, Installable PWA with offline Service Worker, and Tailwind CSS for responsive budget mobile UI. LAYER 02: Mapbox GL JS Spatial Engine — 60 FPS vector map rendering canvas, Supercluster pin clustering for 3,693 sites, and GeoJSON boundary overlays &amp; terrain tilt. LAYER 03 · CORE TECH: Web Speech API Native Audio Engine — Client device speech synthesis engine, Zero audio streaming bandwidth or CDN costs, in 5+ languages: Hindi, Tamil, Bengali, Telugu, EN. LAYER 04: GeoJSON Catalog Data Pipeline — Unified schema for 3,693 ASI monuments, Verified timings, entry tariffs &amp; histories, Cached locally in browser IndexedDB. LAYER 05: Vercel Edge Network Global Edge &amp; DB — Global Edge CDN with sub-100ms TTFB, MongoDB Atlas for user bookmarks &amp; cache, with 99.99% uptime with zero server operations. Key metrics: &lt; 350 KB Initial Bundle Payload — Loads in under 1.2s on standard 3G/4G networks across rural and remote monument sites in India. ₹0 / User Marginal Audio Streaming Cost — Client-side Web Speech eliminates expensive cloud audio storage, CDN media streaming, and bandwidth bills. 48 Hours New Monument Onboarding Cycle — Standardized GeoJSON monument data model enables instant verification and nationwide catalog rollout. Our technical feasibility stems from intentional simplicity. We didn't build expensive server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JUDGING CRITERION: BUSINESS MODEL &amp; SCALABILITY. 3-Tier Monetization &amp; Phased National Expansion. A financially sustainable model blending government partnerships, micro-transactions, and zero-cost scaling. STREAM 01 · B2G / B2B: Tourism Boards &amp; Ticketing. Official State Partnerships &amp; ASI Affiliate. State Tourism Dept white-label contracts, 2%–3% affiliate commission on ASI e-tickets, and Sponsored heritage circuits licensing. STREAM 02 · FREEMIUM (HERO): Deep-Dive Audio Walks. ₹49 – ₹99 UPI Micro-Payments. Core 90s audio &amp; facts are free forever. Premium 25-min immersive narrative walks with Instant UPI unlocks without subscriptions. STREAM 03 · HYPERLOCAL: Heritage Commerce. Curated Artisans &amp; Guided Walks. Directory of verified local heritage guides, 10%–15% commission on GI-tagged craft, and Hyperlocal culinary &amp; cultural trail tips. SCALABILITY ROADMAP: FROM REGIONAL VALIDATION TO CONTINENTAL REACH: PHASE 1 (Q1-Q2 2026): Golden Triangle Circuit — 50 premier monuments with audio, Hindi + English Web Speech validation, Target: 50,000 monthly active users. PHASE 2 (Q3-Q4 2026): Pan-India Rollout — 500 high-footfall sites · 12 states, Tamil, Telugu &amp; Bengali voice rollout, Target: ₹15L ARR via UPI &amp; B2G pilots. PHASE 3 (2027): Continental Scale — All 3,693 ASI monuments nationwide, Cross-border rollout in Nepal &amp; Sri Lanka, Target: 1M+ active cultural travelers. Cultural Consumer: 300M annual domestic visitors. Monumental Scale: 3,693 ASI sites nationwide. How do we monetize and scale? Through three disciplined engines: And 06 / JUDGING CRITERION: IMPACT &amp; SOCIAL RELEVANCE: Democratizing Heritage for 1.4 Billion Citizens. Transforming silent stone into living history, breaking linguistic barriers, and revitalizing 3,500 forgotten sites. ★ 'For the first time, my grandfather could hear the history of our temples in his own language, Tamil, without paying ₹500 to a hurried guide.' — Real Visitor Feedback · Brihadisvara Temple, Thanjavur. Revitalizing 3,500+ Forgotten Monuments: 90% of tourism footfall in India is concentrated in just 15 mega-sites. Herodotus provides digital visibility and spatial discovery for 3,500+ neglected stepwells, forts, and rock-cut temples across all 28 states. 🌐 Breaking the English-Only Tourist Divide: Existing commercial audio guides cater almost exclusively to foreign or elite English-speaking tourists. Herodotus synthesizes audio in Hindi, Tamil, Bengali, Telugu, and English, restoring cultural heritage to everyday citizens. ♿ Universal Accessibility for Non-Readers &amp; Visually Impaired: An audio-first spatial interface ensures that citizens with visual impairments or low textual literacy can experience the full majesty of India’s historical narratives with complete independence. SOCIAL RELEVANCE: Giving every Indian citizen dignified, equal, mother-tongue access to 4,000 years of living heritage. Ninety percent of Indian tourists visit the same 15 famous monuments. Herodotus shines a digital spotlight on 3,500 forgotten stepwells and forts across all 28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FORGE 2026 · FINAL PITCH SUMMARY. History is everywhere. Now, it can speak. HERODOTUS — GIVING INDIA'S LIVING STONE A VOICE IN EVERY POCKET. ✓ LIVE WORKING MVP: Complete end-to-end PWA ready for live judge testing on mobile devices with Mapbox spatial clustering and Web Speech synthesis. ✓ ZERO-COST MARGINAL SCALE: Client-side browser architecture eliminates expensive streaming servers, allowing seamless nationwide expansion across 3,693 sites. ✓ HIGH SOCIAL IMPACT: Multilingual inclusion in 5+ Indian languages, revitalizing 3,500 neglected monuments and serving visually impaired citizens. EXPERIENCE THE LIVE MVP DEMO: https://herodotus-guide.vercel.app. Thank You, Respected Judges! We are now open for Questions &amp; Live Smartphone Demonstration. Fully responsive PWA · Testable right now on your smartphone in any modern browser. Open-access unified catalog · 3,693 ASI monuments documented for public heritage education. Team Herodotus · IDEA FORGE 2026 Pitch-A-Thon. History is everywhere. Now, it can speak. We have a live working MVP ready on your phones right now at herodotus-guide.vercel.app.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B09"/>
        </a:solidFill>
      </p:bgPr>
    </p:bg>
    <p:spTree>
      <p:nvGrpSpPr>
        <p:cNvPr id="1" name=""/>
        <p:cNvGrpSpPr/>
        <p:nvPr/>
      </p:nvGrpSpPr>
      <p:grpSpPr>
        <a:xfrm>
          <a:off x="0" y="0"/>
          <a:ext cx="0" cy="0"/>
          <a:chOff x="0" y="0"/>
          <a:chExt cx="0" cy="0"/>
        </a:xfrm>
      </p:grpSpPr>
      <p:pic>
        <p:nvPicPr>
          <p:cNvPr id="2" name="Image 0" descr="/Users/krishnajangid/.gemini/antigravity/brain/0257ec97-0b88-48e3-abaf-ced68cd3ce48/hero_monument_1789383083590.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D0B09">
              <a:alpha val="62000"/>
            </a:srgbClr>
          </a:solidFill>
          <a:ln w="12700">
            <a:solidFill>
              <a:srgbClr val="333333"/>
            </a:solidFill>
            <a:prstDash val="solid"/>
          </a:ln>
        </p:spPr>
      </p:sp>
      <p:sp>
        <p:nvSpPr>
          <p:cNvPr id="4" name="Shape 1"/>
          <p:cNvSpPr/>
          <p:nvPr/>
        </p:nvSpPr>
        <p:spPr>
          <a:xfrm>
            <a:off x="0" y="0"/>
            <a:ext cx="7132320" cy="6858000"/>
          </a:xfrm>
          <a:prstGeom prst="rect">
            <a:avLst/>
          </a:prstGeom>
          <a:solidFill>
            <a:srgbClr val="0D0B09">
              <a:alpha val="80000"/>
            </a:srgbClr>
          </a:solidFill>
          <a:ln w="12700">
            <a:solidFill>
              <a:srgbClr val="333333"/>
            </a:solidFill>
            <a:prstDash val="solid"/>
          </a:ln>
        </p:spPr>
      </p:sp>
      <p:sp>
        <p:nvSpPr>
          <p:cNvPr id="5" name="Shape 2"/>
          <p:cNvSpPr/>
          <p:nvPr/>
        </p:nvSpPr>
        <p:spPr>
          <a:xfrm>
            <a:off x="0" y="0"/>
            <a:ext cx="12191695" cy="365760"/>
          </a:xfrm>
          <a:prstGeom prst="rect">
            <a:avLst/>
          </a:prstGeom>
          <a:solidFill>
            <a:srgbClr val="000000"/>
          </a:solidFill>
          <a:ln w="12700">
            <a:solidFill>
              <a:srgbClr val="333333"/>
            </a:solidFill>
            <a:prstDash val="solid"/>
          </a:ln>
        </p:spPr>
      </p:sp>
      <p:sp>
        <p:nvSpPr>
          <p:cNvPr id="6" name="Shape 3"/>
          <p:cNvSpPr/>
          <p:nvPr/>
        </p:nvSpPr>
        <p:spPr>
          <a:xfrm>
            <a:off x="0" y="6492240"/>
            <a:ext cx="12191695" cy="365760"/>
          </a:xfrm>
          <a:prstGeom prst="rect">
            <a:avLst/>
          </a:prstGeom>
          <a:solidFill>
            <a:srgbClr val="000000"/>
          </a:solidFill>
          <a:ln w="12700">
            <a:solidFill>
              <a:srgbClr val="333333"/>
            </a:solidFill>
            <a:prstDash val="solid"/>
          </a:ln>
        </p:spPr>
      </p:sp>
      <p:sp>
        <p:nvSpPr>
          <p:cNvPr id="7" name="Text 4"/>
          <p:cNvSpPr/>
          <p:nvPr/>
        </p:nvSpPr>
        <p:spPr>
          <a:xfrm>
            <a:off x="731520" y="109728"/>
            <a:ext cx="5486400" cy="201168"/>
          </a:xfrm>
          <a:prstGeom prst="rect">
            <a:avLst/>
          </a:prstGeom>
          <a:noFill/>
          <a:ln/>
        </p:spPr>
        <p:txBody>
          <a:bodyPr wrap="square" lIns="0" tIns="0" rIns="0" bIns="0" rtlCol="0" anchor="ctr"/>
          <a:lstStyle/>
          <a:p>
            <a:pPr indent="0" marL="0">
              <a:buNone/>
            </a:pPr>
            <a:r>
              <a:rPr lang="en-US" sz="950" b="1" spc="300" kern="0" dirty="0">
                <a:solidFill>
                  <a:srgbClr val="C69214"/>
                </a:solidFill>
                <a:latin typeface="Calibri" pitchFamily="34" charset="0"/>
                <a:ea typeface="Calibri" pitchFamily="34" charset="-122"/>
                <a:cs typeface="Calibri" pitchFamily="34" charset="-120"/>
              </a:rPr>
              <a:t>IDEA FORGE 2026  —  PITCH-A-THON</a:t>
            </a:r>
            <a:endParaRPr lang="en-US" sz="950" dirty="0"/>
          </a:p>
        </p:txBody>
      </p:sp>
      <p:sp>
        <p:nvSpPr>
          <p:cNvPr id="8" name="Text 5"/>
          <p:cNvSpPr/>
          <p:nvPr/>
        </p:nvSpPr>
        <p:spPr>
          <a:xfrm>
            <a:off x="6858000" y="109728"/>
            <a:ext cx="4602175" cy="201168"/>
          </a:xfrm>
          <a:prstGeom prst="rect">
            <a:avLst/>
          </a:prstGeom>
          <a:noFill/>
          <a:ln/>
        </p:spPr>
        <p:txBody>
          <a:bodyPr wrap="square" lIns="0" tIns="0" rIns="0" bIns="0" rtlCol="0" anchor="ctr"/>
          <a:lstStyle/>
          <a:p>
            <a:pPr algn="r" indent="0" marL="0">
              <a:buNone/>
            </a:pPr>
            <a:r>
              <a:rPr lang="en-US" sz="900" spc="200" kern="0" dirty="0">
                <a:solidFill>
                  <a:srgbClr val="8A8279"/>
                </a:solidFill>
                <a:latin typeface="Calibri" pitchFamily="34" charset="0"/>
                <a:ea typeface="Calibri" pitchFamily="34" charset="-122"/>
                <a:cs typeface="Calibri" pitchFamily="34" charset="-120"/>
              </a:rPr>
              <a:t>27.1751° N  ·  78.0421° E  ·  AGRA, IN</a:t>
            </a:r>
            <a:endParaRPr lang="en-US" sz="900" dirty="0"/>
          </a:p>
        </p:txBody>
      </p:sp>
      <p:sp>
        <p:nvSpPr>
          <p:cNvPr id="9" name="Shape 6"/>
          <p:cNvSpPr/>
          <p:nvPr/>
        </p:nvSpPr>
        <p:spPr>
          <a:xfrm>
            <a:off x="731520" y="384048"/>
            <a:ext cx="10728655" cy="0"/>
          </a:xfrm>
          <a:prstGeom prst="line">
            <a:avLst/>
          </a:prstGeom>
          <a:noFill/>
          <a:ln w="9525">
            <a:solidFill>
              <a:srgbClr val="C69214"/>
            </a:solidFill>
            <a:prstDash val="solid"/>
          </a:ln>
        </p:spPr>
      </p:sp>
      <p:sp>
        <p:nvSpPr>
          <p:cNvPr id="10" name="Shape 7"/>
          <p:cNvSpPr/>
          <p:nvPr/>
        </p:nvSpPr>
        <p:spPr>
          <a:xfrm>
            <a:off x="731520" y="347472"/>
            <a:ext cx="0" cy="73152"/>
          </a:xfrm>
          <a:prstGeom prst="line">
            <a:avLst/>
          </a:prstGeom>
          <a:noFill/>
          <a:ln w="9525">
            <a:solidFill>
              <a:srgbClr val="C69214"/>
            </a:solidFill>
            <a:prstDash val="solid"/>
          </a:ln>
        </p:spPr>
      </p:sp>
      <p:sp>
        <p:nvSpPr>
          <p:cNvPr id="11" name="Shape 8"/>
          <p:cNvSpPr/>
          <p:nvPr/>
        </p:nvSpPr>
        <p:spPr>
          <a:xfrm>
            <a:off x="11460175" y="347472"/>
            <a:ext cx="0" cy="73152"/>
          </a:xfrm>
          <a:prstGeom prst="line">
            <a:avLst/>
          </a:prstGeom>
          <a:noFill/>
          <a:ln w="9525">
            <a:solidFill>
              <a:srgbClr val="C69214"/>
            </a:solidFill>
            <a:prstDash val="solid"/>
          </a:ln>
        </p:spPr>
      </p:sp>
      <p:sp>
        <p:nvSpPr>
          <p:cNvPr id="12" name="Text 9"/>
          <p:cNvSpPr/>
          <p:nvPr/>
        </p:nvSpPr>
        <p:spPr>
          <a:xfrm>
            <a:off x="731520" y="2606040"/>
            <a:ext cx="6400800" cy="228600"/>
          </a:xfrm>
          <a:prstGeom prst="rect">
            <a:avLst/>
          </a:prstGeom>
          <a:noFill/>
          <a:ln/>
        </p:spPr>
        <p:txBody>
          <a:bodyPr wrap="square" lIns="0" tIns="0" rIns="0" bIns="0" rtlCol="0" anchor="ctr"/>
          <a:lstStyle/>
          <a:p>
            <a:pPr indent="0" marL="0">
              <a:buNone/>
            </a:pPr>
            <a:r>
              <a:rPr lang="en-US" sz="1000" b="1" spc="350" kern="0" dirty="0">
                <a:solidFill>
                  <a:srgbClr val="C69214"/>
                </a:solidFill>
                <a:latin typeface="Calibri" pitchFamily="34" charset="0"/>
                <a:ea typeface="Calibri" pitchFamily="34" charset="-122"/>
                <a:cs typeface="Calibri" pitchFamily="34" charset="-120"/>
              </a:rPr>
              <a:t>A MAP-FIRST DIGITAL HERITAGE EXPERIENCE</a:t>
            </a:r>
            <a:endParaRPr lang="en-US" sz="1000" dirty="0"/>
          </a:p>
        </p:txBody>
      </p:sp>
      <p:sp>
        <p:nvSpPr>
          <p:cNvPr id="13" name="Text 10"/>
          <p:cNvSpPr/>
          <p:nvPr/>
        </p:nvSpPr>
        <p:spPr>
          <a:xfrm>
            <a:off x="685800" y="2852928"/>
            <a:ext cx="6858000" cy="123444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HERODOTUS</a:t>
            </a:r>
            <a:endParaRPr lang="en-US" sz="7600" dirty="0"/>
          </a:p>
        </p:txBody>
      </p:sp>
      <p:sp>
        <p:nvSpPr>
          <p:cNvPr id="14" name="Text 11"/>
          <p:cNvSpPr/>
          <p:nvPr/>
        </p:nvSpPr>
        <p:spPr>
          <a:xfrm>
            <a:off x="731520" y="4251960"/>
            <a:ext cx="6217920" cy="822960"/>
          </a:xfrm>
          <a:prstGeom prst="rect">
            <a:avLst/>
          </a:prstGeom>
          <a:noFill/>
          <a:ln/>
        </p:spPr>
        <p:txBody>
          <a:bodyPr wrap="square" lIns="0" tIns="0" rIns="0" bIns="0" rtlCol="0" anchor="ctr"/>
          <a:lstStyle/>
          <a:p>
            <a:pPr indent="0" marL="0">
              <a:lnSpc>
                <a:spcPct val="115000"/>
              </a:lnSpc>
              <a:buNone/>
            </a:pPr>
            <a:r>
              <a:rPr lang="en-US" sz="2000" b="1" dirty="0">
                <a:solidFill>
                  <a:srgbClr val="FFFFFF"/>
                </a:solidFill>
                <a:latin typeface="Cambria" pitchFamily="34" charset="0"/>
                <a:ea typeface="Cambria" pitchFamily="34" charset="-122"/>
                <a:cs typeface="Cambria" pitchFamily="34" charset="-120"/>
              </a:rPr>
              <a:t>EXPLORE INDIA'S MONUMENTS,</a:t>
            </a:r>
            <a:endParaRPr lang="en-US" sz="2000" dirty="0"/>
          </a:p>
          <a:p>
            <a:pPr indent="0" marL="0">
              <a:lnSpc>
                <a:spcPct val="115000"/>
              </a:lnSpc>
              <a:buNone/>
            </a:pPr>
            <a:r>
              <a:rPr lang="en-US" sz="2000" b="1" dirty="0">
                <a:solidFill>
                  <a:srgbClr val="FFFFFF"/>
                </a:solidFill>
                <a:latin typeface="Cambria" pitchFamily="34" charset="0"/>
                <a:ea typeface="Cambria" pitchFamily="34" charset="-122"/>
                <a:cs typeface="Cambria" pitchFamily="34" charset="-120"/>
              </a:rPr>
              <a:t>ONE MAP AT A TIME</a:t>
            </a:r>
            <a:endParaRPr lang="en-US" sz="2000" dirty="0"/>
          </a:p>
        </p:txBody>
      </p:sp>
      <p:sp>
        <p:nvSpPr>
          <p:cNvPr id="15" name="Text 12"/>
          <p:cNvSpPr/>
          <p:nvPr/>
        </p:nvSpPr>
        <p:spPr>
          <a:xfrm>
            <a:off x="731520" y="5166360"/>
            <a:ext cx="6217920" cy="274320"/>
          </a:xfrm>
          <a:prstGeom prst="rect">
            <a:avLst/>
          </a:prstGeom>
          <a:noFill/>
          <a:ln/>
        </p:spPr>
        <p:txBody>
          <a:bodyPr wrap="square" lIns="0" tIns="0" rIns="0" bIns="0" rtlCol="0" anchor="ctr"/>
          <a:lstStyle/>
          <a:p>
            <a:pPr indent="0" marL="0">
              <a:buNone/>
            </a:pPr>
            <a:r>
              <a:rPr lang="en-US" sz="1050" dirty="0">
                <a:solidFill>
                  <a:srgbClr val="E8E0D4"/>
                </a:solidFill>
                <a:latin typeface="Calibri" pitchFamily="34" charset="0"/>
                <a:ea typeface="Calibri" pitchFamily="34" charset="-122"/>
                <a:cs typeface="Calibri" pitchFamily="34" charset="-120"/>
              </a:rPr>
              <a:t>Giving India’s Living Stone a Voice in Every Pocket · 3,693 ASI Monuments Unified · Free Public Access</a:t>
            </a:r>
            <a:endParaRPr lang="en-US" sz="1050" dirty="0"/>
          </a:p>
        </p:txBody>
      </p:sp>
      <p:pic>
        <p:nvPicPr>
          <p:cNvPr id="16" name="Image 1" descr="/Users/krishnajangid/.gemini/antigravity/brain/0257ec97-0b88-48e3-abaf-ced68cd3ce48/india_heritage_map_1789407014836.jpg">    </p:cNvPr>
          <p:cNvPicPr>
            <a:picLocks noChangeAspect="1"/>
          </p:cNvPicPr>
          <p:nvPr/>
        </p:nvPicPr>
        <p:blipFill>
          <a:blip r:embed="rId2">
            <a:alphaModFix amt="65000"/>
          </a:blip>
          <a:stretch>
            <a:fillRect/>
          </a:stretch>
        </p:blipFill>
        <p:spPr>
          <a:xfrm>
            <a:off x="7498080" y="1280160"/>
            <a:ext cx="3931920" cy="3474720"/>
          </a:xfrm>
          <a:prstGeom prst="rect">
            <a:avLst/>
          </a:prstGeom>
        </p:spPr>
      </p:pic>
      <p:sp>
        <p:nvSpPr>
          <p:cNvPr id="17" name="Shape 13"/>
          <p:cNvSpPr/>
          <p:nvPr/>
        </p:nvSpPr>
        <p:spPr>
          <a:xfrm>
            <a:off x="9546336" y="2322576"/>
            <a:ext cx="292608" cy="292608"/>
          </a:xfrm>
          <a:prstGeom prst="ellipse">
            <a:avLst/>
          </a:prstGeom>
          <a:solidFill>
            <a:srgbClr val="C69214">
              <a:alpha val="15000"/>
            </a:srgbClr>
          </a:solidFill>
          <a:ln w="12700">
            <a:solidFill>
              <a:srgbClr val="C69214"/>
            </a:solidFill>
            <a:prstDash val="dash"/>
          </a:ln>
        </p:spPr>
      </p:sp>
      <p:sp>
        <p:nvSpPr>
          <p:cNvPr id="18" name="Shape 14"/>
          <p:cNvSpPr/>
          <p:nvPr/>
        </p:nvSpPr>
        <p:spPr>
          <a:xfrm>
            <a:off x="9619488" y="2395728"/>
            <a:ext cx="146304" cy="146304"/>
          </a:xfrm>
          <a:prstGeom prst="ellipse">
            <a:avLst/>
          </a:prstGeom>
          <a:noFill/>
          <a:ln w="19050">
            <a:solidFill>
              <a:srgbClr val="C69214"/>
            </a:solidFill>
            <a:prstDash val="solid"/>
          </a:ln>
        </p:spPr>
      </p:sp>
      <p:sp>
        <p:nvSpPr>
          <p:cNvPr id="19" name="Shape 15"/>
          <p:cNvSpPr/>
          <p:nvPr/>
        </p:nvSpPr>
        <p:spPr>
          <a:xfrm>
            <a:off x="9660636" y="2436876"/>
            <a:ext cx="64008" cy="64008"/>
          </a:xfrm>
          <a:prstGeom prst="ellipse">
            <a:avLst/>
          </a:prstGeom>
          <a:solidFill>
            <a:srgbClr val="C69214"/>
          </a:solidFill>
          <a:ln/>
        </p:spPr>
      </p:sp>
      <p:sp>
        <p:nvSpPr>
          <p:cNvPr id="20" name="Text 16"/>
          <p:cNvSpPr/>
          <p:nvPr/>
        </p:nvSpPr>
        <p:spPr>
          <a:xfrm>
            <a:off x="7040880" y="2240280"/>
            <a:ext cx="2468880" cy="411480"/>
          </a:xfrm>
          <a:prstGeom prst="rect">
            <a:avLst/>
          </a:prstGeom>
          <a:noFill/>
          <a:ln/>
        </p:spPr>
        <p:txBody>
          <a:bodyPr wrap="square" lIns="0" tIns="0" rIns="0" bIns="0" rtlCol="0" anchor="ctr"/>
          <a:lstStyle/>
          <a:p>
            <a:pPr algn="r" indent="0" marL="0">
              <a:buNone/>
            </a:pPr>
            <a:r>
              <a:rPr lang="en-US" sz="850" b="1" dirty="0">
                <a:solidFill>
                  <a:srgbClr val="E8E0D4"/>
                </a:solidFill>
                <a:latin typeface="Calibri" pitchFamily="34" charset="0"/>
                <a:ea typeface="Calibri" pitchFamily="34" charset="-122"/>
                <a:cs typeface="Calibri" pitchFamily="34" charset="-120"/>
              </a:rPr>
              <a:t>TAJ MAHAL   /   AGRA</a:t>
            </a:r>
            <a:endParaRPr lang="en-US" sz="850" dirty="0"/>
          </a:p>
          <a:p>
            <a:pPr algn="r" indent="0" marL="0">
              <a:buNone/>
            </a:pPr>
            <a:r>
              <a:rPr lang="en-US" sz="850" b="1" dirty="0">
                <a:solidFill>
                  <a:srgbClr val="E8E0D4"/>
                </a:solidFill>
                <a:latin typeface="Calibri" pitchFamily="34" charset="0"/>
                <a:ea typeface="Calibri" pitchFamily="34" charset="-122"/>
                <a:cs typeface="Calibri" pitchFamily="34" charset="-120"/>
              </a:rPr>
              <a:t>MONUMENT RECORD · IN-UP-001</a:t>
            </a:r>
            <a:endParaRPr lang="en-US" sz="850" dirty="0"/>
          </a:p>
        </p:txBody>
      </p:sp>
      <p:sp>
        <p:nvSpPr>
          <p:cNvPr id="21" name="Text 17"/>
          <p:cNvSpPr/>
          <p:nvPr/>
        </p:nvSpPr>
        <p:spPr>
          <a:xfrm>
            <a:off x="731520" y="5715000"/>
            <a:ext cx="3200400" cy="201168"/>
          </a:xfrm>
          <a:prstGeom prst="rect">
            <a:avLst/>
          </a:prstGeom>
          <a:noFill/>
          <a:ln/>
        </p:spPr>
        <p:txBody>
          <a:bodyPr wrap="square" lIns="0" tIns="0" rIns="0" bIns="0" rtlCol="0" anchor="ctr"/>
          <a:lstStyle/>
          <a:p>
            <a:pPr indent="0" marL="0">
              <a:buNone/>
            </a:pPr>
            <a:r>
              <a:rPr lang="en-US" sz="950" b="1" spc="300" kern="0" dirty="0">
                <a:solidFill>
                  <a:srgbClr val="C69214"/>
                </a:solidFill>
                <a:latin typeface="Calibri" pitchFamily="34" charset="0"/>
                <a:ea typeface="Calibri" pitchFamily="34" charset="-122"/>
                <a:cs typeface="Calibri" pitchFamily="34" charset="-120"/>
              </a:rPr>
              <a:t>TEAM HERODOTUS</a:t>
            </a:r>
            <a:endParaRPr lang="en-US" sz="950" dirty="0"/>
          </a:p>
        </p:txBody>
      </p:sp>
      <p:sp>
        <p:nvSpPr>
          <p:cNvPr id="22" name="Text 18"/>
          <p:cNvSpPr/>
          <p:nvPr/>
        </p:nvSpPr>
        <p:spPr>
          <a:xfrm>
            <a:off x="7315200" y="5715000"/>
            <a:ext cx="4144975" cy="201168"/>
          </a:xfrm>
          <a:prstGeom prst="rect">
            <a:avLst/>
          </a:prstGeom>
          <a:noFill/>
          <a:ln/>
        </p:spPr>
        <p:txBody>
          <a:bodyPr wrap="square" lIns="0" tIns="0" rIns="0" bIns="0" rtlCol="0" anchor="ctr"/>
          <a:lstStyle/>
          <a:p>
            <a:pPr algn="r" indent="0" marL="0">
              <a:buNone/>
            </a:pPr>
            <a:r>
              <a:rPr lang="en-US" sz="900" spc="300" kern="0" dirty="0">
                <a:solidFill>
                  <a:srgbClr val="8A8279"/>
                </a:solidFill>
                <a:latin typeface="Calibri" pitchFamily="34" charset="0"/>
                <a:ea typeface="Calibri" pitchFamily="34" charset="-122"/>
                <a:cs typeface="Calibri" pitchFamily="34" charset="-120"/>
              </a:rPr>
              <a:t>MAP   ·   STORY   ·   AUDIO   ·   VISIT</a:t>
            </a:r>
            <a:endParaRPr lang="en-US" sz="900" dirty="0"/>
          </a:p>
        </p:txBody>
      </p:sp>
      <p:sp>
        <p:nvSpPr>
          <p:cNvPr id="23" name="Shape 19"/>
          <p:cNvSpPr/>
          <p:nvPr/>
        </p:nvSpPr>
        <p:spPr>
          <a:xfrm>
            <a:off x="731520" y="6108192"/>
            <a:ext cx="10728655" cy="0"/>
          </a:xfrm>
          <a:prstGeom prst="line">
            <a:avLst/>
          </a:prstGeom>
          <a:noFill/>
          <a:ln w="12700">
            <a:solidFill>
              <a:srgbClr val="C69214"/>
            </a:solidFill>
            <a:prstDash val="dash"/>
          </a:ln>
        </p:spPr>
      </p:sp>
      <p:sp>
        <p:nvSpPr>
          <p:cNvPr id="24" name="Shape 20"/>
          <p:cNvSpPr/>
          <p:nvPr/>
        </p:nvSpPr>
        <p:spPr>
          <a:xfrm>
            <a:off x="731520" y="6071616"/>
            <a:ext cx="0" cy="73152"/>
          </a:xfrm>
          <a:prstGeom prst="line">
            <a:avLst/>
          </a:prstGeom>
          <a:noFill/>
          <a:ln w="12700">
            <a:solidFill>
              <a:srgbClr val="C69214"/>
            </a:solidFill>
            <a:prstDash val="solid"/>
          </a:ln>
        </p:spPr>
      </p:sp>
      <p:sp>
        <p:nvSpPr>
          <p:cNvPr id="25" name="Shape 21"/>
          <p:cNvSpPr/>
          <p:nvPr/>
        </p:nvSpPr>
        <p:spPr>
          <a:xfrm>
            <a:off x="11460175" y="6071616"/>
            <a:ext cx="0" cy="73152"/>
          </a:xfrm>
          <a:prstGeom prst="line">
            <a:avLst/>
          </a:prstGeom>
          <a:noFill/>
          <a:ln w="12700">
            <a:solidFill>
              <a:srgbClr val="C69214"/>
            </a:solidFill>
            <a:prstDash val="solid"/>
          </a:ln>
        </p:spPr>
      </p:sp>
      <p:sp>
        <p:nvSpPr>
          <p:cNvPr id="26" name="Shape 22"/>
          <p:cNvSpPr/>
          <p:nvPr/>
        </p:nvSpPr>
        <p:spPr>
          <a:xfrm>
            <a:off x="9601200" y="6016752"/>
            <a:ext cx="182880" cy="182880"/>
          </a:xfrm>
          <a:prstGeom prst="ellipse">
            <a:avLst/>
          </a:prstGeom>
          <a:solidFill>
            <a:srgbClr val="C69214">
              <a:alpha val="15000"/>
            </a:srgbClr>
          </a:solidFill>
          <a:ln w="12700">
            <a:solidFill>
              <a:srgbClr val="C69214"/>
            </a:solidFill>
            <a:prstDash val="dash"/>
          </a:ln>
        </p:spPr>
      </p:sp>
      <p:sp>
        <p:nvSpPr>
          <p:cNvPr id="27" name="Shape 23"/>
          <p:cNvSpPr/>
          <p:nvPr/>
        </p:nvSpPr>
        <p:spPr>
          <a:xfrm>
            <a:off x="9646920" y="6062472"/>
            <a:ext cx="91440" cy="91440"/>
          </a:xfrm>
          <a:prstGeom prst="ellipse">
            <a:avLst/>
          </a:prstGeom>
          <a:noFill/>
          <a:ln w="19050">
            <a:solidFill>
              <a:srgbClr val="C69214"/>
            </a:solidFill>
            <a:prstDash val="solid"/>
          </a:ln>
        </p:spPr>
      </p:sp>
      <p:sp>
        <p:nvSpPr>
          <p:cNvPr id="28" name="Shape 24"/>
          <p:cNvSpPr/>
          <p:nvPr/>
        </p:nvSpPr>
        <p:spPr>
          <a:xfrm>
            <a:off x="9660636" y="6076188"/>
            <a:ext cx="64008" cy="64008"/>
          </a:xfrm>
          <a:prstGeom prst="ellipse">
            <a:avLst/>
          </a:prstGeom>
          <a:solidFill>
            <a:srgbClr val="C6921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9"/>
        </a:solidFill>
      </p:bgPr>
    </p:bg>
    <p:spTree>
      <p:nvGrpSpPr>
        <p:cNvPr id="1" name=""/>
        <p:cNvGrpSpPr/>
        <p:nvPr/>
      </p:nvGrpSpPr>
      <p:grpSpPr>
        <a:xfrm>
          <a:off x="0" y="0"/>
          <a:ext cx="0" cy="0"/>
          <a:chOff x="0" y="0"/>
          <a:chExt cx="0" cy="0"/>
        </a:xfrm>
      </p:grpSpPr>
      <p:pic>
        <p:nvPicPr>
          <p:cNvPr id="2" name="Image 0" descr="/Users/krishnajangid/.gemini/antigravity/brain/0257ec97-0b88-48e3-abaf-ced68cd3ce48/heritage_problem_scene_1789435962154.jpg">    </p:cNvPr>
          <p:cNvPicPr>
            <a:picLocks noChangeAspect="1"/>
          </p:cNvPicPr>
          <p:nvPr/>
        </p:nvPicPr>
        <p:blipFill>
          <a:blip r:embed="rId1"/>
          <a:srcRect l="0" r="0" t="0" b="0"/>
          <a:stretch/>
        </p:blipFill>
        <p:spPr>
          <a:xfrm>
            <a:off x="0" y="0"/>
            <a:ext cx="6949440" cy="6858000"/>
          </a:xfrm>
          <a:prstGeom prst="rect">
            <a:avLst/>
          </a:prstGeom>
        </p:spPr>
      </p:pic>
      <p:sp>
        <p:nvSpPr>
          <p:cNvPr id="3" name="Shape 0"/>
          <p:cNvSpPr/>
          <p:nvPr/>
        </p:nvSpPr>
        <p:spPr>
          <a:xfrm>
            <a:off x="0" y="0"/>
            <a:ext cx="6949440" cy="6858000"/>
          </a:xfrm>
          <a:prstGeom prst="rect">
            <a:avLst/>
          </a:prstGeom>
          <a:solidFill>
            <a:srgbClr val="0D0B09">
              <a:alpha val="75000"/>
            </a:srgbClr>
          </a:solidFill>
          <a:ln w="12700">
            <a:solidFill>
              <a:srgbClr val="333333"/>
            </a:solidFill>
            <a:prstDash val="solid"/>
          </a:ln>
        </p:spPr>
      </p:sp>
      <p:sp>
        <p:nvSpPr>
          <p:cNvPr id="4" name="Text 1"/>
          <p:cNvSpPr/>
          <p:nvPr/>
        </p:nvSpPr>
        <p:spPr>
          <a:xfrm>
            <a:off x="731520" y="457200"/>
            <a:ext cx="2377440" cy="219456"/>
          </a:xfrm>
          <a:prstGeom prst="rect">
            <a:avLst/>
          </a:prstGeom>
          <a:noFill/>
          <a:ln/>
        </p:spPr>
        <p:txBody>
          <a:bodyPr wrap="square" lIns="0" tIns="0" rIns="0" bIns="0" rtlCol="0" anchor="ctr"/>
          <a:lstStyle/>
          <a:p>
            <a:pPr indent="0" marL="0">
              <a:buNone/>
            </a:pPr>
            <a:r>
              <a:rPr lang="en-US" sz="1000" b="1" spc="300" kern="0" dirty="0">
                <a:solidFill>
                  <a:srgbClr val="C69214"/>
                </a:solidFill>
                <a:latin typeface="Calibri" pitchFamily="34" charset="0"/>
                <a:ea typeface="Calibri" pitchFamily="34" charset="-122"/>
                <a:cs typeface="Calibri" pitchFamily="34" charset="-120"/>
              </a:rPr>
              <a:t>02  —  THE PROBLEM</a:t>
            </a:r>
            <a:endParaRPr lang="en-US" sz="1000" dirty="0"/>
          </a:p>
        </p:txBody>
      </p:sp>
      <p:sp>
        <p:nvSpPr>
          <p:cNvPr id="5" name="Shape 2"/>
          <p:cNvSpPr/>
          <p:nvPr/>
        </p:nvSpPr>
        <p:spPr>
          <a:xfrm>
            <a:off x="2560320" y="566928"/>
            <a:ext cx="4023360" cy="0"/>
          </a:xfrm>
          <a:prstGeom prst="line">
            <a:avLst/>
          </a:prstGeom>
          <a:noFill/>
          <a:ln w="9525">
            <a:solidFill>
              <a:srgbClr val="C69214"/>
            </a:solidFill>
            <a:prstDash val="solid"/>
          </a:ln>
        </p:spPr>
      </p:sp>
      <p:sp>
        <p:nvSpPr>
          <p:cNvPr id="6" name="Text 3"/>
          <p:cNvSpPr/>
          <p:nvPr/>
        </p:nvSpPr>
        <p:spPr>
          <a:xfrm>
            <a:off x="7132320" y="457200"/>
            <a:ext cx="4327855" cy="219456"/>
          </a:xfrm>
          <a:prstGeom prst="rect">
            <a:avLst/>
          </a:prstGeom>
          <a:noFill/>
          <a:ln/>
        </p:spPr>
        <p:txBody>
          <a:bodyPr wrap="square" lIns="0" tIns="0" rIns="0" bIns="0" rtlCol="0" anchor="ctr"/>
          <a:lstStyle/>
          <a:p>
            <a:pPr algn="r" indent="0" marL="0">
              <a:buNone/>
            </a:pPr>
            <a:r>
              <a:rPr lang="en-US" sz="900" spc="200" kern="0" dirty="0">
                <a:solidFill>
                  <a:srgbClr val="8A8279"/>
                </a:solidFill>
                <a:latin typeface="Calibri" pitchFamily="34" charset="0"/>
                <a:ea typeface="Calibri" pitchFamily="34" charset="-122"/>
                <a:cs typeface="Calibri" pitchFamily="34" charset="-120"/>
              </a:rPr>
              <a:t>26.9239° N  ·  75.8267° E  JAIPUR, IN</a:t>
            </a:r>
            <a:endParaRPr lang="en-US" sz="900" dirty="0"/>
          </a:p>
        </p:txBody>
      </p:sp>
      <p:sp>
        <p:nvSpPr>
          <p:cNvPr id="7" name="Text 4"/>
          <p:cNvSpPr/>
          <p:nvPr/>
        </p:nvSpPr>
        <p:spPr>
          <a:xfrm>
            <a:off x="731520" y="3886200"/>
            <a:ext cx="5852160" cy="960120"/>
          </a:xfrm>
          <a:prstGeom prst="rect">
            <a:avLst/>
          </a:prstGeom>
          <a:noFill/>
          <a:ln/>
        </p:spPr>
        <p:txBody>
          <a:bodyPr wrap="square" lIns="0" tIns="0" rIns="0" bIns="0" rtlCol="0" anchor="ctr"/>
          <a:lstStyle/>
          <a:p>
            <a:pPr indent="0" marL="0">
              <a:lnSpc>
                <a:spcPct val="105000"/>
              </a:lnSpc>
              <a:buNone/>
            </a:pPr>
            <a:r>
              <a:rPr lang="en-US" sz="2800" b="1" dirty="0">
                <a:solidFill>
                  <a:srgbClr val="FFFFFF"/>
                </a:solidFill>
                <a:latin typeface="Cambria" pitchFamily="34" charset="0"/>
                <a:ea typeface="Cambria" pitchFamily="34" charset="-122"/>
                <a:cs typeface="Cambria" pitchFamily="34" charset="-120"/>
              </a:rPr>
              <a:t>YOU'RE STANDING IN FRONT OF HISTORY.
</a:t>
            </a:r>
            <a:pPr indent="0" marL="0">
              <a:lnSpc>
                <a:spcPct val="105000"/>
              </a:lnSpc>
              <a:buNone/>
            </a:pPr>
            <a:r>
              <a:rPr lang="en-US" sz="2800" b="1" dirty="0">
                <a:solidFill>
                  <a:srgbClr val="C69214"/>
                </a:solidFill>
                <a:latin typeface="Cambria" pitchFamily="34" charset="0"/>
                <a:ea typeface="Cambria" pitchFamily="34" charset="-122"/>
                <a:cs typeface="Cambria" pitchFamily="34" charset="-120"/>
              </a:rPr>
              <a:t>BUT WHERE'S THE STORY?</a:t>
            </a:r>
            <a:endParaRPr lang="en-US" sz="2800" dirty="0"/>
          </a:p>
        </p:txBody>
      </p:sp>
      <p:sp>
        <p:nvSpPr>
          <p:cNvPr id="8" name="Text 5"/>
          <p:cNvSpPr/>
          <p:nvPr/>
        </p:nvSpPr>
        <p:spPr>
          <a:xfrm>
            <a:off x="731520" y="4983480"/>
            <a:ext cx="5852160" cy="457200"/>
          </a:xfrm>
          <a:prstGeom prst="rect">
            <a:avLst/>
          </a:prstGeom>
          <a:noFill/>
          <a:ln/>
        </p:spPr>
        <p:txBody>
          <a:bodyPr wrap="square" lIns="0" tIns="0" rIns="0" bIns="0" rtlCol="0" anchor="ctr"/>
          <a:lstStyle/>
          <a:p>
            <a:pPr indent="0" marL="0">
              <a:lnSpc>
                <a:spcPct val="115000"/>
              </a:lnSpc>
              <a:buNone/>
            </a:pPr>
            <a:r>
              <a:rPr lang="en-US" sz="1050" b="1" spc="200" kern="0" dirty="0">
                <a:solidFill>
                  <a:srgbClr val="E8E0D4"/>
                </a:solidFill>
                <a:latin typeface="Calibri" pitchFamily="34" charset="0"/>
                <a:ea typeface="Calibri" pitchFamily="34" charset="-122"/>
                <a:cs typeface="Calibri" pitchFamily="34" charset="-120"/>
              </a:rPr>
              <a:t>THE HISTORY IS THERE.</a:t>
            </a:r>
            <a:endParaRPr lang="en-US" sz="1050" dirty="0"/>
          </a:p>
          <a:p>
            <a:pPr indent="0" marL="0">
              <a:lnSpc>
                <a:spcPct val="115000"/>
              </a:lnSpc>
              <a:buNone/>
            </a:pPr>
            <a:r>
              <a:rPr lang="en-US" sz="1050" b="1" spc="200" kern="0" dirty="0">
                <a:solidFill>
                  <a:srgbClr val="E8E0D4"/>
                </a:solidFill>
                <a:latin typeface="Calibri" pitchFamily="34" charset="0"/>
                <a:ea typeface="Calibri" pitchFamily="34" charset="-122"/>
                <a:cs typeface="Calibri" pitchFamily="34" charset="-120"/>
              </a:rPr>
              <a:t>THE DIGITAL EXPERIENCE IS FRAGMENTED.</a:t>
            </a:r>
            <a:endParaRPr lang="en-US" sz="1050" dirty="0"/>
          </a:p>
        </p:txBody>
      </p:sp>
      <p:sp>
        <p:nvSpPr>
          <p:cNvPr id="9" name="Text 6"/>
          <p:cNvSpPr/>
          <p:nvPr/>
        </p:nvSpPr>
        <p:spPr>
          <a:xfrm>
            <a:off x="731520" y="5897880"/>
            <a:ext cx="5852160" cy="228600"/>
          </a:xfrm>
          <a:prstGeom prst="rect">
            <a:avLst/>
          </a:prstGeom>
          <a:noFill/>
          <a:ln/>
        </p:spPr>
        <p:txBody>
          <a:bodyPr wrap="square" lIns="0" tIns="0" rIns="0" bIns="0" rtlCol="0" anchor="ctr"/>
          <a:lstStyle/>
          <a:p>
            <a:pPr indent="0" marL="0">
              <a:buNone/>
            </a:pPr>
            <a:r>
              <a:rPr lang="en-US" sz="900" spc="200" kern="0" dirty="0">
                <a:solidFill>
                  <a:srgbClr val="C69214"/>
                </a:solidFill>
                <a:latin typeface="Calibri" pitchFamily="34" charset="0"/>
                <a:ea typeface="Calibri" pitchFamily="34" charset="-122"/>
                <a:cs typeface="Calibri" pitchFamily="34" charset="-120"/>
              </a:rPr>
              <a:t>───────   X   ───────   X   ───────   X   ───────   X   ───────</a:t>
            </a:r>
            <a:endParaRPr lang="en-US" sz="900" dirty="0"/>
          </a:p>
        </p:txBody>
      </p:sp>
      <p:sp>
        <p:nvSpPr>
          <p:cNvPr id="10" name="Shape 7"/>
          <p:cNvSpPr/>
          <p:nvPr/>
        </p:nvSpPr>
        <p:spPr>
          <a:xfrm>
            <a:off x="7406640" y="960120"/>
            <a:ext cx="4053535" cy="1463040"/>
          </a:xfrm>
          <a:prstGeom prst="roundRect">
            <a:avLst>
              <a:gd name="adj" fmla="val 5000"/>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11" name="Shape 8"/>
          <p:cNvSpPr/>
          <p:nvPr/>
        </p:nvSpPr>
        <p:spPr>
          <a:xfrm>
            <a:off x="7406640" y="1097280"/>
            <a:ext cx="0" cy="1188720"/>
          </a:xfrm>
          <a:prstGeom prst="line">
            <a:avLst/>
          </a:prstGeom>
          <a:noFill/>
          <a:ln w="25400">
            <a:solidFill>
              <a:srgbClr val="C69214"/>
            </a:solidFill>
            <a:prstDash val="solid"/>
          </a:ln>
        </p:spPr>
      </p:sp>
      <p:sp>
        <p:nvSpPr>
          <p:cNvPr id="12" name="Text 9"/>
          <p:cNvSpPr/>
          <p:nvPr/>
        </p:nvSpPr>
        <p:spPr>
          <a:xfrm>
            <a:off x="7635240" y="1097280"/>
            <a:ext cx="457200" cy="201168"/>
          </a:xfrm>
          <a:prstGeom prst="rect">
            <a:avLst/>
          </a:prstGeom>
          <a:noFill/>
          <a:ln/>
        </p:spPr>
        <p:txBody>
          <a:bodyPr wrap="square" lIns="0" tIns="0" rIns="0" bIns="0" rtlCol="0" anchor="ctr"/>
          <a:lstStyle/>
          <a:p>
            <a:pPr indent="0" marL="0">
              <a:buNone/>
            </a:pPr>
            <a:r>
              <a:rPr lang="en-US" sz="1100" b="1" dirty="0">
                <a:solidFill>
                  <a:srgbClr val="C69214"/>
                </a:solidFill>
                <a:latin typeface="Calibri" pitchFamily="34" charset="0"/>
                <a:ea typeface="Calibri" pitchFamily="34" charset="-122"/>
                <a:cs typeface="Calibri" pitchFamily="34" charset="-120"/>
              </a:rPr>
              <a:t>01</a:t>
            </a:r>
            <a:endParaRPr lang="en-US" sz="1100" dirty="0"/>
          </a:p>
        </p:txBody>
      </p:sp>
      <p:sp>
        <p:nvSpPr>
          <p:cNvPr id="13" name="Text 10"/>
          <p:cNvSpPr/>
          <p:nvPr/>
        </p:nvSpPr>
        <p:spPr>
          <a:xfrm>
            <a:off x="10957255" y="1097280"/>
            <a:ext cx="320040" cy="201168"/>
          </a:xfrm>
          <a:prstGeom prst="rect">
            <a:avLst/>
          </a:prstGeom>
          <a:noFill/>
          <a:ln/>
        </p:spPr>
        <p:txBody>
          <a:bodyPr wrap="square" lIns="0" tIns="0" rIns="0" bIns="0" rtlCol="0" anchor="ctr"/>
          <a:lstStyle/>
          <a:p>
            <a:pPr algn="r" indent="0" marL="0">
              <a:buNone/>
            </a:pPr>
            <a:r>
              <a:rPr lang="en-US" sz="1100" dirty="0">
                <a:solidFill>
                  <a:srgbClr val="C69214"/>
                </a:solidFill>
                <a:latin typeface="Calibri" pitchFamily="34" charset="0"/>
                <a:ea typeface="Calibri" pitchFamily="34" charset="-122"/>
                <a:cs typeface="Calibri" pitchFamily="34" charset="-120"/>
              </a:rPr>
              <a:t>🔍</a:t>
            </a:r>
            <a:endParaRPr lang="en-US" sz="1100" dirty="0"/>
          </a:p>
        </p:txBody>
      </p:sp>
      <p:sp>
        <p:nvSpPr>
          <p:cNvPr id="14" name="Text 11"/>
          <p:cNvSpPr/>
          <p:nvPr/>
        </p:nvSpPr>
        <p:spPr>
          <a:xfrm>
            <a:off x="7635240" y="1344168"/>
            <a:ext cx="3596335"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INFORMATION IS SCATTERED</a:t>
            </a:r>
            <a:endParaRPr lang="en-US" sz="1400" dirty="0"/>
          </a:p>
        </p:txBody>
      </p:sp>
      <p:sp>
        <p:nvSpPr>
          <p:cNvPr id="15" name="Text 12"/>
          <p:cNvSpPr/>
          <p:nvPr/>
        </p:nvSpPr>
        <p:spPr>
          <a:xfrm>
            <a:off x="7635240" y="1618488"/>
            <a:ext cx="3596335" cy="685800"/>
          </a:xfrm>
          <a:prstGeom prst="rect">
            <a:avLst/>
          </a:prstGeom>
          <a:noFill/>
          <a:ln/>
        </p:spPr>
        <p:txBody>
          <a:bodyPr wrap="square" lIns="0" tIns="0" rIns="0" bIns="0" rtlCol="0" anchor="ctr"/>
          <a:lstStyle/>
          <a:p>
            <a:pPr indent="0" marL="0">
              <a:buNone/>
            </a:pPr>
            <a:r>
              <a:rPr lang="en-US" sz="1000" dirty="0">
                <a:solidFill>
                  <a:srgbClr val="8A8279"/>
                </a:solidFill>
                <a:latin typeface="Calibri" pitchFamily="34" charset="0"/>
                <a:ea typeface="Calibri" pitchFamily="34" charset="-122"/>
                <a:cs typeface="Calibri" pitchFamily="34" charset="-120"/>
              </a:rPr>
              <a:t>Historical context can be difficult to access while you are actually standing at the monument. 300M+ domestic travelers walk past 3,693 protected sites with 98% offering zero digital context.</a:t>
            </a:r>
            <a:endParaRPr lang="en-US" sz="1000" dirty="0"/>
          </a:p>
        </p:txBody>
      </p:sp>
      <p:sp>
        <p:nvSpPr>
          <p:cNvPr id="16" name="Shape 13"/>
          <p:cNvSpPr/>
          <p:nvPr/>
        </p:nvSpPr>
        <p:spPr>
          <a:xfrm>
            <a:off x="6007608" y="1664208"/>
            <a:ext cx="54864" cy="54864"/>
          </a:xfrm>
          <a:prstGeom prst="ellipse">
            <a:avLst/>
          </a:prstGeom>
          <a:solidFill>
            <a:srgbClr val="C69214"/>
          </a:solidFill>
          <a:ln/>
        </p:spPr>
      </p:sp>
      <p:sp>
        <p:nvSpPr>
          <p:cNvPr id="17" name="Shape 14"/>
          <p:cNvSpPr/>
          <p:nvPr/>
        </p:nvSpPr>
        <p:spPr>
          <a:xfrm>
            <a:off x="5980176" y="1636776"/>
            <a:ext cx="109728" cy="109728"/>
          </a:xfrm>
          <a:prstGeom prst="ellipse">
            <a:avLst/>
          </a:prstGeom>
          <a:noFill/>
          <a:ln w="15240">
            <a:solidFill>
              <a:srgbClr val="C69214"/>
            </a:solidFill>
            <a:prstDash val="solid"/>
          </a:ln>
        </p:spPr>
      </p:sp>
      <p:sp>
        <p:nvSpPr>
          <p:cNvPr id="18" name="Shape 15"/>
          <p:cNvSpPr/>
          <p:nvPr/>
        </p:nvSpPr>
        <p:spPr>
          <a:xfrm>
            <a:off x="6089904" y="1691640"/>
            <a:ext cx="1316736" cy="0"/>
          </a:xfrm>
          <a:prstGeom prst="line">
            <a:avLst/>
          </a:prstGeom>
          <a:noFill/>
          <a:ln w="12700">
            <a:solidFill>
              <a:srgbClr val="C69214"/>
            </a:solidFill>
            <a:prstDash val="solid"/>
          </a:ln>
        </p:spPr>
      </p:sp>
      <p:sp>
        <p:nvSpPr>
          <p:cNvPr id="19" name="Shape 16"/>
          <p:cNvSpPr/>
          <p:nvPr/>
        </p:nvSpPr>
        <p:spPr>
          <a:xfrm>
            <a:off x="7406640" y="2606040"/>
            <a:ext cx="4053535" cy="1463040"/>
          </a:xfrm>
          <a:prstGeom prst="roundRect">
            <a:avLst>
              <a:gd name="adj" fmla="val 5000"/>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20" name="Shape 17"/>
          <p:cNvSpPr/>
          <p:nvPr/>
        </p:nvSpPr>
        <p:spPr>
          <a:xfrm>
            <a:off x="7406640" y="2743200"/>
            <a:ext cx="0" cy="1188720"/>
          </a:xfrm>
          <a:prstGeom prst="line">
            <a:avLst/>
          </a:prstGeom>
          <a:noFill/>
          <a:ln w="25400">
            <a:solidFill>
              <a:srgbClr val="C69214"/>
            </a:solidFill>
            <a:prstDash val="solid"/>
          </a:ln>
        </p:spPr>
      </p:sp>
      <p:sp>
        <p:nvSpPr>
          <p:cNvPr id="21" name="Text 18"/>
          <p:cNvSpPr/>
          <p:nvPr/>
        </p:nvSpPr>
        <p:spPr>
          <a:xfrm>
            <a:off x="7635240" y="2743200"/>
            <a:ext cx="457200" cy="201168"/>
          </a:xfrm>
          <a:prstGeom prst="rect">
            <a:avLst/>
          </a:prstGeom>
          <a:noFill/>
          <a:ln/>
        </p:spPr>
        <p:txBody>
          <a:bodyPr wrap="square" lIns="0" tIns="0" rIns="0" bIns="0" rtlCol="0" anchor="ctr"/>
          <a:lstStyle/>
          <a:p>
            <a:pPr indent="0" marL="0">
              <a:buNone/>
            </a:pPr>
            <a:r>
              <a:rPr lang="en-US" sz="1100" b="1" dirty="0">
                <a:solidFill>
                  <a:srgbClr val="C69214"/>
                </a:solidFill>
                <a:latin typeface="Calibri" pitchFamily="34" charset="0"/>
                <a:ea typeface="Calibri" pitchFamily="34" charset="-122"/>
                <a:cs typeface="Calibri" pitchFamily="34" charset="-120"/>
              </a:rPr>
              <a:t>02</a:t>
            </a:r>
            <a:endParaRPr lang="en-US" sz="1100" dirty="0"/>
          </a:p>
        </p:txBody>
      </p:sp>
      <p:sp>
        <p:nvSpPr>
          <p:cNvPr id="22" name="Text 19"/>
          <p:cNvSpPr/>
          <p:nvPr/>
        </p:nvSpPr>
        <p:spPr>
          <a:xfrm>
            <a:off x="10957255" y="2743200"/>
            <a:ext cx="320040" cy="201168"/>
          </a:xfrm>
          <a:prstGeom prst="rect">
            <a:avLst/>
          </a:prstGeom>
          <a:noFill/>
          <a:ln/>
        </p:spPr>
        <p:txBody>
          <a:bodyPr wrap="square" lIns="0" tIns="0" rIns="0" bIns="0" rtlCol="0" anchor="ctr"/>
          <a:lstStyle/>
          <a:p>
            <a:pPr algn="r" indent="0" marL="0">
              <a:buNone/>
            </a:pPr>
            <a:r>
              <a:rPr lang="en-US" sz="1100" dirty="0">
                <a:solidFill>
                  <a:srgbClr val="C69214"/>
                </a:solidFill>
                <a:latin typeface="Calibri" pitchFamily="34" charset="0"/>
                <a:ea typeface="Calibri" pitchFamily="34" charset="-122"/>
                <a:cs typeface="Calibri" pitchFamily="34" charset="-120"/>
              </a:rPr>
              <a:t>🕒</a:t>
            </a:r>
            <a:endParaRPr lang="en-US" sz="1100" dirty="0"/>
          </a:p>
        </p:txBody>
      </p:sp>
      <p:sp>
        <p:nvSpPr>
          <p:cNvPr id="23" name="Text 20"/>
          <p:cNvSpPr/>
          <p:nvPr/>
        </p:nvSpPr>
        <p:spPr>
          <a:xfrm>
            <a:off x="7635240" y="2990088"/>
            <a:ext cx="3596335"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VISITOR DETAILS ARE FRAGMENTED</a:t>
            </a:r>
            <a:endParaRPr lang="en-US" sz="1400" dirty="0"/>
          </a:p>
        </p:txBody>
      </p:sp>
      <p:sp>
        <p:nvSpPr>
          <p:cNvPr id="24" name="Text 21"/>
          <p:cNvSpPr/>
          <p:nvPr/>
        </p:nvSpPr>
        <p:spPr>
          <a:xfrm>
            <a:off x="7635240" y="3264408"/>
            <a:ext cx="3596335" cy="685800"/>
          </a:xfrm>
          <a:prstGeom prst="rect">
            <a:avLst/>
          </a:prstGeom>
          <a:noFill/>
          <a:ln/>
        </p:spPr>
        <p:txBody>
          <a:bodyPr wrap="square" lIns="0" tIns="0" rIns="0" bIns="0" rtlCol="0" anchor="ctr"/>
          <a:lstStyle/>
          <a:p>
            <a:pPr indent="0" marL="0">
              <a:buNone/>
            </a:pPr>
            <a:r>
              <a:rPr lang="en-US" sz="1000" dirty="0">
                <a:solidFill>
                  <a:srgbClr val="8A8279"/>
                </a:solidFill>
                <a:latin typeface="Calibri" pitchFamily="34" charset="0"/>
                <a:ea typeface="Calibri" pitchFamily="34" charset="-122"/>
                <a:cs typeface="Calibri" pitchFamily="34" charset="-120"/>
              </a:rPr>
              <a:t>Timings, entry fees, differential domestic vs. international tariffs, and official ASI ticket links are dispersed across outdated government portals or buried in forums.</a:t>
            </a:r>
            <a:endParaRPr lang="en-US" sz="1000" dirty="0"/>
          </a:p>
        </p:txBody>
      </p:sp>
      <p:sp>
        <p:nvSpPr>
          <p:cNvPr id="25" name="Shape 22"/>
          <p:cNvSpPr/>
          <p:nvPr/>
        </p:nvSpPr>
        <p:spPr>
          <a:xfrm>
            <a:off x="5641848" y="3310128"/>
            <a:ext cx="54864" cy="54864"/>
          </a:xfrm>
          <a:prstGeom prst="ellipse">
            <a:avLst/>
          </a:prstGeom>
          <a:solidFill>
            <a:srgbClr val="C69214"/>
          </a:solidFill>
          <a:ln/>
        </p:spPr>
      </p:sp>
      <p:sp>
        <p:nvSpPr>
          <p:cNvPr id="26" name="Shape 23"/>
          <p:cNvSpPr/>
          <p:nvPr/>
        </p:nvSpPr>
        <p:spPr>
          <a:xfrm>
            <a:off x="5614416" y="3282696"/>
            <a:ext cx="109728" cy="109728"/>
          </a:xfrm>
          <a:prstGeom prst="ellipse">
            <a:avLst/>
          </a:prstGeom>
          <a:noFill/>
          <a:ln w="15240">
            <a:solidFill>
              <a:srgbClr val="C69214"/>
            </a:solidFill>
            <a:prstDash val="solid"/>
          </a:ln>
        </p:spPr>
      </p:sp>
      <p:sp>
        <p:nvSpPr>
          <p:cNvPr id="27" name="Shape 24"/>
          <p:cNvSpPr/>
          <p:nvPr/>
        </p:nvSpPr>
        <p:spPr>
          <a:xfrm>
            <a:off x="5724144" y="3337560"/>
            <a:ext cx="1682496" cy="0"/>
          </a:xfrm>
          <a:prstGeom prst="line">
            <a:avLst/>
          </a:prstGeom>
          <a:noFill/>
          <a:ln w="12700">
            <a:solidFill>
              <a:srgbClr val="C69214"/>
            </a:solidFill>
            <a:prstDash val="solid"/>
          </a:ln>
        </p:spPr>
      </p:sp>
      <p:sp>
        <p:nvSpPr>
          <p:cNvPr id="28" name="Shape 25"/>
          <p:cNvSpPr/>
          <p:nvPr/>
        </p:nvSpPr>
        <p:spPr>
          <a:xfrm>
            <a:off x="7406640" y="4251960"/>
            <a:ext cx="4053535" cy="1463040"/>
          </a:xfrm>
          <a:prstGeom prst="roundRect">
            <a:avLst>
              <a:gd name="adj" fmla="val 5000"/>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29" name="Shape 26"/>
          <p:cNvSpPr/>
          <p:nvPr/>
        </p:nvSpPr>
        <p:spPr>
          <a:xfrm>
            <a:off x="7406640" y="4389120"/>
            <a:ext cx="0" cy="1188720"/>
          </a:xfrm>
          <a:prstGeom prst="line">
            <a:avLst/>
          </a:prstGeom>
          <a:noFill/>
          <a:ln w="25400">
            <a:solidFill>
              <a:srgbClr val="C69214"/>
            </a:solidFill>
            <a:prstDash val="solid"/>
          </a:ln>
        </p:spPr>
      </p:sp>
      <p:sp>
        <p:nvSpPr>
          <p:cNvPr id="30" name="Text 27"/>
          <p:cNvSpPr/>
          <p:nvPr/>
        </p:nvSpPr>
        <p:spPr>
          <a:xfrm>
            <a:off x="7635240" y="4389120"/>
            <a:ext cx="457200" cy="201168"/>
          </a:xfrm>
          <a:prstGeom prst="rect">
            <a:avLst/>
          </a:prstGeom>
          <a:noFill/>
          <a:ln/>
        </p:spPr>
        <p:txBody>
          <a:bodyPr wrap="square" lIns="0" tIns="0" rIns="0" bIns="0" rtlCol="0" anchor="ctr"/>
          <a:lstStyle/>
          <a:p>
            <a:pPr indent="0" marL="0">
              <a:buNone/>
            </a:pPr>
            <a:r>
              <a:rPr lang="en-US" sz="1100" b="1" dirty="0">
                <a:solidFill>
                  <a:srgbClr val="C69214"/>
                </a:solidFill>
                <a:latin typeface="Calibri" pitchFamily="34" charset="0"/>
                <a:ea typeface="Calibri" pitchFamily="34" charset="-122"/>
                <a:cs typeface="Calibri" pitchFamily="34" charset="-120"/>
              </a:rPr>
              <a:t>03</a:t>
            </a:r>
            <a:endParaRPr lang="en-US" sz="1100" dirty="0"/>
          </a:p>
        </p:txBody>
      </p:sp>
      <p:sp>
        <p:nvSpPr>
          <p:cNvPr id="31" name="Text 28"/>
          <p:cNvSpPr/>
          <p:nvPr/>
        </p:nvSpPr>
        <p:spPr>
          <a:xfrm>
            <a:off x="10957255" y="4389120"/>
            <a:ext cx="320040" cy="201168"/>
          </a:xfrm>
          <a:prstGeom prst="rect">
            <a:avLst/>
          </a:prstGeom>
          <a:noFill/>
          <a:ln/>
        </p:spPr>
        <p:txBody>
          <a:bodyPr wrap="square" lIns="0" tIns="0" rIns="0" bIns="0" rtlCol="0" anchor="ctr"/>
          <a:lstStyle/>
          <a:p>
            <a:pPr algn="r" indent="0" marL="0">
              <a:buNone/>
            </a:pPr>
            <a:r>
              <a:rPr lang="en-US" sz="1100" dirty="0">
                <a:solidFill>
                  <a:srgbClr val="C69214"/>
                </a:solidFill>
                <a:latin typeface="Calibri" pitchFamily="34" charset="0"/>
                <a:ea typeface="Calibri" pitchFamily="34" charset="-122"/>
                <a:cs typeface="Calibri" pitchFamily="34" charset="-120"/>
              </a:rPr>
              <a:t>ılı</a:t>
            </a:r>
            <a:endParaRPr lang="en-US" sz="1100" dirty="0"/>
          </a:p>
        </p:txBody>
      </p:sp>
      <p:sp>
        <p:nvSpPr>
          <p:cNvPr id="32" name="Text 29"/>
          <p:cNvSpPr/>
          <p:nvPr/>
        </p:nvSpPr>
        <p:spPr>
          <a:xfrm>
            <a:off x="7635240" y="4636008"/>
            <a:ext cx="3596335"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EXPERIENCE LACKS CONTEXT</a:t>
            </a:r>
            <a:endParaRPr lang="en-US" sz="1400" dirty="0"/>
          </a:p>
        </p:txBody>
      </p:sp>
      <p:sp>
        <p:nvSpPr>
          <p:cNvPr id="33" name="Text 30"/>
          <p:cNvSpPr/>
          <p:nvPr/>
        </p:nvSpPr>
        <p:spPr>
          <a:xfrm>
            <a:off x="7635240" y="4910328"/>
            <a:ext cx="3596335" cy="685800"/>
          </a:xfrm>
          <a:prstGeom prst="rect">
            <a:avLst/>
          </a:prstGeom>
          <a:noFill/>
          <a:ln/>
        </p:spPr>
        <p:txBody>
          <a:bodyPr wrap="square" lIns="0" tIns="0" rIns="0" bIns="0" rtlCol="0" anchor="ctr"/>
          <a:lstStyle/>
          <a:p>
            <a:pPr indent="0" marL="0">
              <a:buNone/>
            </a:pPr>
            <a:r>
              <a:rPr lang="en-US" sz="1000" dirty="0">
                <a:solidFill>
                  <a:srgbClr val="8A8279"/>
                </a:solidFill>
                <a:latin typeface="Calibri" pitchFamily="34" charset="0"/>
                <a:ea typeface="Calibri" pitchFamily="34" charset="-122"/>
                <a:cs typeface="Calibri" pitchFamily="34" charset="-120"/>
              </a:rPr>
              <a:t>Visitors face an unfair choice: pay ₹300–₹500 for unverified touts, buy English-only audio wands at &lt;30 sites, or wander silently through 4,000 years of living history without understanding.</a:t>
            </a:r>
            <a:endParaRPr lang="en-US" sz="1000" dirty="0"/>
          </a:p>
        </p:txBody>
      </p:sp>
      <p:sp>
        <p:nvSpPr>
          <p:cNvPr id="34" name="Shape 31"/>
          <p:cNvSpPr/>
          <p:nvPr/>
        </p:nvSpPr>
        <p:spPr>
          <a:xfrm>
            <a:off x="6190488" y="4956048"/>
            <a:ext cx="54864" cy="54864"/>
          </a:xfrm>
          <a:prstGeom prst="ellipse">
            <a:avLst/>
          </a:prstGeom>
          <a:solidFill>
            <a:srgbClr val="C69214"/>
          </a:solidFill>
          <a:ln/>
        </p:spPr>
      </p:sp>
      <p:sp>
        <p:nvSpPr>
          <p:cNvPr id="35" name="Shape 32"/>
          <p:cNvSpPr/>
          <p:nvPr/>
        </p:nvSpPr>
        <p:spPr>
          <a:xfrm>
            <a:off x="6163056" y="4928616"/>
            <a:ext cx="109728" cy="109728"/>
          </a:xfrm>
          <a:prstGeom prst="ellipse">
            <a:avLst/>
          </a:prstGeom>
          <a:noFill/>
          <a:ln w="15240">
            <a:solidFill>
              <a:srgbClr val="C69214"/>
            </a:solidFill>
            <a:prstDash val="solid"/>
          </a:ln>
        </p:spPr>
      </p:sp>
      <p:sp>
        <p:nvSpPr>
          <p:cNvPr id="36" name="Shape 33"/>
          <p:cNvSpPr/>
          <p:nvPr/>
        </p:nvSpPr>
        <p:spPr>
          <a:xfrm>
            <a:off x="6272784" y="4983480"/>
            <a:ext cx="1133856" cy="0"/>
          </a:xfrm>
          <a:prstGeom prst="line">
            <a:avLst/>
          </a:prstGeom>
          <a:noFill/>
          <a:ln w="12700">
            <a:solidFill>
              <a:srgbClr val="C69214"/>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9"/>
        </a:solidFill>
      </p:bgPr>
    </p:bg>
    <p:spTree>
      <p:nvGrpSpPr>
        <p:cNvPr id="1" name=""/>
        <p:cNvGrpSpPr/>
        <p:nvPr/>
      </p:nvGrpSpPr>
      <p:grpSpPr>
        <a:xfrm>
          <a:off x="0" y="0"/>
          <a:ext cx="0" cy="0"/>
          <a:chOff x="0" y="0"/>
          <a:chExt cx="0" cy="0"/>
        </a:xfrm>
      </p:grpSpPr>
      <p:sp>
        <p:nvSpPr>
          <p:cNvPr id="2" name="Shape 0"/>
          <p:cNvSpPr/>
          <p:nvPr/>
        </p:nvSpPr>
        <p:spPr>
          <a:xfrm>
            <a:off x="2377440" y="457200"/>
            <a:ext cx="0" cy="5760720"/>
          </a:xfrm>
          <a:prstGeom prst="line">
            <a:avLst/>
          </a:prstGeom>
          <a:noFill/>
          <a:ln w="6350">
            <a:solidFill>
              <a:srgbClr val="1C1916"/>
            </a:solidFill>
            <a:prstDash val="solid"/>
          </a:ln>
        </p:spPr>
      </p:sp>
      <p:sp>
        <p:nvSpPr>
          <p:cNvPr id="3" name="Shape 1"/>
          <p:cNvSpPr/>
          <p:nvPr/>
        </p:nvSpPr>
        <p:spPr>
          <a:xfrm>
            <a:off x="4023360" y="457200"/>
            <a:ext cx="0" cy="5760720"/>
          </a:xfrm>
          <a:prstGeom prst="line">
            <a:avLst/>
          </a:prstGeom>
          <a:noFill/>
          <a:ln w="6350">
            <a:solidFill>
              <a:srgbClr val="1C1916"/>
            </a:solidFill>
            <a:prstDash val="solid"/>
          </a:ln>
        </p:spPr>
      </p:sp>
      <p:sp>
        <p:nvSpPr>
          <p:cNvPr id="4" name="Shape 2"/>
          <p:cNvSpPr/>
          <p:nvPr/>
        </p:nvSpPr>
        <p:spPr>
          <a:xfrm>
            <a:off x="5669280" y="457200"/>
            <a:ext cx="0" cy="5760720"/>
          </a:xfrm>
          <a:prstGeom prst="line">
            <a:avLst/>
          </a:prstGeom>
          <a:noFill/>
          <a:ln w="6350">
            <a:solidFill>
              <a:srgbClr val="1C1916"/>
            </a:solidFill>
            <a:prstDash val="solid"/>
          </a:ln>
        </p:spPr>
      </p:sp>
      <p:sp>
        <p:nvSpPr>
          <p:cNvPr id="5" name="Shape 3"/>
          <p:cNvSpPr/>
          <p:nvPr/>
        </p:nvSpPr>
        <p:spPr>
          <a:xfrm>
            <a:off x="7315200" y="457200"/>
            <a:ext cx="0" cy="5760720"/>
          </a:xfrm>
          <a:prstGeom prst="line">
            <a:avLst/>
          </a:prstGeom>
          <a:noFill/>
          <a:ln w="6350">
            <a:solidFill>
              <a:srgbClr val="1C1916"/>
            </a:solidFill>
            <a:prstDash val="solid"/>
          </a:ln>
        </p:spPr>
      </p:sp>
      <p:sp>
        <p:nvSpPr>
          <p:cNvPr id="6" name="Shape 4"/>
          <p:cNvSpPr/>
          <p:nvPr/>
        </p:nvSpPr>
        <p:spPr>
          <a:xfrm>
            <a:off x="8961120" y="457200"/>
            <a:ext cx="0" cy="5760720"/>
          </a:xfrm>
          <a:prstGeom prst="line">
            <a:avLst/>
          </a:prstGeom>
          <a:noFill/>
          <a:ln w="6350">
            <a:solidFill>
              <a:srgbClr val="1C1916"/>
            </a:solidFill>
            <a:prstDash val="solid"/>
          </a:ln>
        </p:spPr>
      </p:sp>
      <p:sp>
        <p:nvSpPr>
          <p:cNvPr id="7" name="Shape 5"/>
          <p:cNvSpPr/>
          <p:nvPr/>
        </p:nvSpPr>
        <p:spPr>
          <a:xfrm>
            <a:off x="10607040" y="457200"/>
            <a:ext cx="0" cy="5760720"/>
          </a:xfrm>
          <a:prstGeom prst="line">
            <a:avLst/>
          </a:prstGeom>
          <a:noFill/>
          <a:ln w="6350">
            <a:solidFill>
              <a:srgbClr val="1C1916"/>
            </a:solidFill>
            <a:prstDash val="solid"/>
          </a:ln>
        </p:spPr>
      </p:sp>
      <p:sp>
        <p:nvSpPr>
          <p:cNvPr id="8" name="Shape 6"/>
          <p:cNvSpPr/>
          <p:nvPr/>
        </p:nvSpPr>
        <p:spPr>
          <a:xfrm>
            <a:off x="731520" y="2103120"/>
            <a:ext cx="10728655" cy="0"/>
          </a:xfrm>
          <a:prstGeom prst="line">
            <a:avLst/>
          </a:prstGeom>
          <a:noFill/>
          <a:ln w="6350">
            <a:solidFill>
              <a:srgbClr val="1C1916"/>
            </a:solidFill>
            <a:prstDash val="solid"/>
          </a:ln>
        </p:spPr>
      </p:sp>
      <p:sp>
        <p:nvSpPr>
          <p:cNvPr id="9" name="Shape 7"/>
          <p:cNvSpPr/>
          <p:nvPr/>
        </p:nvSpPr>
        <p:spPr>
          <a:xfrm>
            <a:off x="731520" y="3474720"/>
            <a:ext cx="10728655" cy="0"/>
          </a:xfrm>
          <a:prstGeom prst="line">
            <a:avLst/>
          </a:prstGeom>
          <a:noFill/>
          <a:ln w="6350">
            <a:solidFill>
              <a:srgbClr val="1C1916"/>
            </a:solidFill>
            <a:prstDash val="solid"/>
          </a:ln>
        </p:spPr>
      </p:sp>
      <p:sp>
        <p:nvSpPr>
          <p:cNvPr id="10" name="Shape 8"/>
          <p:cNvSpPr/>
          <p:nvPr/>
        </p:nvSpPr>
        <p:spPr>
          <a:xfrm>
            <a:off x="731520" y="4846320"/>
            <a:ext cx="10728655" cy="0"/>
          </a:xfrm>
          <a:prstGeom prst="line">
            <a:avLst/>
          </a:prstGeom>
          <a:noFill/>
          <a:ln w="6350">
            <a:solidFill>
              <a:srgbClr val="1C1916"/>
            </a:solidFill>
            <a:prstDash val="solid"/>
          </a:ln>
        </p:spPr>
      </p:sp>
      <p:sp>
        <p:nvSpPr>
          <p:cNvPr id="11" name="Shape 9"/>
          <p:cNvSpPr/>
          <p:nvPr/>
        </p:nvSpPr>
        <p:spPr>
          <a:xfrm>
            <a:off x="731520" y="6217920"/>
            <a:ext cx="10728655" cy="0"/>
          </a:xfrm>
          <a:prstGeom prst="line">
            <a:avLst/>
          </a:prstGeom>
          <a:noFill/>
          <a:ln w="6350">
            <a:solidFill>
              <a:srgbClr val="1C1916"/>
            </a:solidFill>
            <a:prstDash val="solid"/>
          </a:ln>
        </p:spPr>
      </p:sp>
      <p:sp>
        <p:nvSpPr>
          <p:cNvPr id="12" name="Text 10"/>
          <p:cNvSpPr/>
          <p:nvPr/>
        </p:nvSpPr>
        <p:spPr>
          <a:xfrm>
            <a:off x="731520" y="457200"/>
            <a:ext cx="4389120" cy="219456"/>
          </a:xfrm>
          <a:prstGeom prst="rect">
            <a:avLst/>
          </a:prstGeom>
          <a:noFill/>
          <a:ln/>
        </p:spPr>
        <p:txBody>
          <a:bodyPr wrap="square" lIns="0" tIns="0" rIns="0" bIns="0" rtlCol="0" anchor="ctr"/>
          <a:lstStyle/>
          <a:p>
            <a:pPr indent="0" marL="0">
              <a:buNone/>
            </a:pPr>
            <a:r>
              <a:rPr lang="en-US" sz="1000" b="1" spc="300" kern="0" dirty="0">
                <a:solidFill>
                  <a:srgbClr val="C69214"/>
                </a:solidFill>
                <a:latin typeface="Calibri" pitchFamily="34" charset="0"/>
                <a:ea typeface="Calibri" pitchFamily="34" charset="-122"/>
                <a:cs typeface="Calibri" pitchFamily="34" charset="-120"/>
              </a:rPr>
              <a:t>03  —  THE SOLUTION</a:t>
            </a:r>
            <a:endParaRPr lang="en-US" sz="1000" dirty="0"/>
          </a:p>
        </p:txBody>
      </p:sp>
      <p:sp>
        <p:nvSpPr>
          <p:cNvPr id="13" name="Text 11"/>
          <p:cNvSpPr/>
          <p:nvPr/>
        </p:nvSpPr>
        <p:spPr>
          <a:xfrm>
            <a:off x="6858000" y="457200"/>
            <a:ext cx="4602175" cy="219456"/>
          </a:xfrm>
          <a:prstGeom prst="rect">
            <a:avLst/>
          </a:prstGeom>
          <a:noFill/>
          <a:ln/>
        </p:spPr>
        <p:txBody>
          <a:bodyPr wrap="square" lIns="0" tIns="0" rIns="0" bIns="0" rtlCol="0" anchor="ctr"/>
          <a:lstStyle/>
          <a:p>
            <a:pPr algn="r" indent="0" marL="0">
              <a:buNone/>
            </a:pPr>
            <a:r>
              <a:rPr lang="en-US" sz="900" spc="200" kern="0" dirty="0">
                <a:solidFill>
                  <a:srgbClr val="8A8279"/>
                </a:solidFill>
                <a:latin typeface="Calibri" pitchFamily="34" charset="0"/>
                <a:ea typeface="Calibri" pitchFamily="34" charset="-122"/>
                <a:cs typeface="Calibri" pitchFamily="34" charset="-120"/>
              </a:rPr>
              <a:t>26.9855° N  ·  75.8513° E  AMER, IN</a:t>
            </a:r>
            <a:endParaRPr lang="en-US" sz="900" dirty="0"/>
          </a:p>
        </p:txBody>
      </p:sp>
      <p:sp>
        <p:nvSpPr>
          <p:cNvPr id="14" name="Text 12"/>
          <p:cNvSpPr/>
          <p:nvPr/>
        </p:nvSpPr>
        <p:spPr>
          <a:xfrm>
            <a:off x="731520" y="713232"/>
            <a:ext cx="6583680" cy="8686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WHAT IF THE MAP
</a:t>
            </a:r>
            <a:pPr indent="0" marL="0">
              <a:lnSpc>
                <a:spcPct val="105000"/>
              </a:lnSpc>
              <a:buNone/>
            </a:pPr>
            <a:r>
              <a:rPr lang="en-US" sz="3200" b="1" dirty="0">
                <a:solidFill>
                  <a:srgbClr val="C69214"/>
                </a:solidFill>
                <a:latin typeface="Cambria" pitchFamily="34" charset="0"/>
                <a:ea typeface="Cambria" pitchFamily="34" charset="-122"/>
                <a:cs typeface="Cambria" pitchFamily="34" charset="-120"/>
              </a:rPr>
              <a:t>COULD TELL THE STORY?</a:t>
            </a:r>
            <a:endParaRPr lang="en-US" sz="3200" dirty="0"/>
          </a:p>
        </p:txBody>
      </p:sp>
      <p:sp>
        <p:nvSpPr>
          <p:cNvPr id="15" name="Text 13"/>
          <p:cNvSpPr/>
          <p:nvPr/>
        </p:nvSpPr>
        <p:spPr>
          <a:xfrm>
            <a:off x="731520" y="1627632"/>
            <a:ext cx="6400800" cy="256032"/>
          </a:xfrm>
          <a:prstGeom prst="rect">
            <a:avLst/>
          </a:prstGeom>
          <a:noFill/>
          <a:ln/>
        </p:spPr>
        <p:txBody>
          <a:bodyPr wrap="square" lIns="0" tIns="0" rIns="0" bIns="0" rtlCol="0" anchor="ctr"/>
          <a:lstStyle/>
          <a:p>
            <a:pPr indent="0" marL="0">
              <a:buNone/>
            </a:pPr>
            <a:r>
              <a:rPr lang="en-US" sz="1200" dirty="0">
                <a:solidFill>
                  <a:srgbClr val="E8E0D4"/>
                </a:solidFill>
                <a:latin typeface="Calibri" pitchFamily="34" charset="0"/>
                <a:ea typeface="Calibri" pitchFamily="34" charset="-122"/>
                <a:cs typeface="Calibri" pitchFamily="34" charset="-120"/>
              </a:rPr>
              <a:t>Explore India's monuments through one map-first experience. (Judging Criterion: Innovation &amp; Originality)</a:t>
            </a:r>
            <a:endParaRPr lang="en-US" sz="1200" dirty="0"/>
          </a:p>
        </p:txBody>
      </p:sp>
      <p:sp>
        <p:nvSpPr>
          <p:cNvPr id="16" name="Text 14"/>
          <p:cNvSpPr/>
          <p:nvPr/>
        </p:nvSpPr>
        <p:spPr>
          <a:xfrm>
            <a:off x="7498080" y="685800"/>
            <a:ext cx="3962095" cy="960120"/>
          </a:xfrm>
          <a:prstGeom prst="rect">
            <a:avLst/>
          </a:prstGeom>
          <a:noFill/>
          <a:ln/>
        </p:spPr>
        <p:txBody>
          <a:bodyPr wrap="square" lIns="0" tIns="0" rIns="0" bIns="0" rtlCol="0" anchor="ctr"/>
          <a:lstStyle/>
          <a:p>
            <a:pPr algn="r" indent="0" marL="0">
              <a:lnSpc>
                <a:spcPct val="110000"/>
              </a:lnSpc>
              <a:buNone/>
            </a:pPr>
            <a:r>
              <a:rPr lang="en-US" sz="2000" i="1" dirty="0">
                <a:solidFill>
                  <a:srgbClr val="C69214"/>
                </a:solidFill>
                <a:latin typeface="Cambria" pitchFamily="34" charset="0"/>
                <a:ea typeface="Cambria" pitchFamily="34" charset="-122"/>
                <a:cs typeface="Cambria" pitchFamily="34" charset="-120"/>
              </a:rPr>
              <a:t>One map.</a:t>
            </a:r>
            <a:endParaRPr lang="en-US" sz="2000" dirty="0"/>
          </a:p>
          <a:p>
            <a:pPr algn="r" indent="0" marL="0">
              <a:lnSpc>
                <a:spcPct val="110000"/>
              </a:lnSpc>
              <a:buNone/>
            </a:pPr>
            <a:r>
              <a:rPr lang="en-US" sz="2000" i="1" dirty="0">
                <a:solidFill>
                  <a:srgbClr val="C69214"/>
                </a:solidFill>
                <a:latin typeface="Cambria" pitchFamily="34" charset="0"/>
                <a:ea typeface="Cambria" pitchFamily="34" charset="-122"/>
                <a:cs typeface="Cambria" pitchFamily="34" charset="-120"/>
              </a:rPr>
              <a:t>Every monument.</a:t>
            </a:r>
            <a:endParaRPr lang="en-US" sz="2000" dirty="0"/>
          </a:p>
          <a:p>
            <a:pPr algn="r" indent="0" marL="0">
              <a:lnSpc>
                <a:spcPct val="110000"/>
              </a:lnSpc>
              <a:buNone/>
            </a:pPr>
            <a:r>
              <a:rPr lang="en-US" sz="2000" i="1" dirty="0">
                <a:solidFill>
                  <a:srgbClr val="C69214"/>
                </a:solidFill>
                <a:latin typeface="Cambria" pitchFamily="34" charset="0"/>
                <a:ea typeface="Cambria" pitchFamily="34" charset="-122"/>
                <a:cs typeface="Cambria" pitchFamily="34" charset="-120"/>
              </a:rPr>
              <a:t>One tap away.</a:t>
            </a:r>
            <a:endParaRPr lang="en-US" sz="2000" dirty="0"/>
          </a:p>
        </p:txBody>
      </p:sp>
      <p:sp>
        <p:nvSpPr>
          <p:cNvPr id="17" name="Shape 15"/>
          <p:cNvSpPr/>
          <p:nvPr/>
        </p:nvSpPr>
        <p:spPr>
          <a:xfrm>
            <a:off x="731520" y="2057400"/>
            <a:ext cx="6217920" cy="4343400"/>
          </a:xfrm>
          <a:prstGeom prst="roundRect">
            <a:avLst>
              <a:gd name="adj" fmla="val 1684"/>
            </a:avLst>
          </a:prstGeom>
          <a:solidFill>
            <a:srgbClr val="12100E"/>
          </a:solidFill>
          <a:ln w="12700">
            <a:solidFill>
              <a:srgbClr val="2E2A25"/>
            </a:solidFill>
            <a:prstDash val="solid"/>
          </a:ln>
        </p:spPr>
      </p:sp>
      <p:sp>
        <p:nvSpPr>
          <p:cNvPr id="18" name="Text 16"/>
          <p:cNvSpPr/>
          <p:nvPr/>
        </p:nvSpPr>
        <p:spPr>
          <a:xfrm>
            <a:off x="914400" y="2194560"/>
            <a:ext cx="2743200" cy="201168"/>
          </a:xfrm>
          <a:prstGeom prst="rect">
            <a:avLst/>
          </a:prstGeom>
          <a:noFill/>
          <a:ln/>
        </p:spPr>
        <p:txBody>
          <a:bodyPr wrap="square" lIns="0" tIns="0" rIns="0" bIns="0" rtlCol="0" anchor="ctr"/>
          <a:lstStyle/>
          <a:p>
            <a:pPr indent="0" marL="0">
              <a:buNone/>
            </a:pPr>
            <a:r>
              <a:rPr lang="en-US" sz="850" b="1" dirty="0">
                <a:solidFill>
                  <a:srgbClr val="8A8279"/>
                </a:solidFill>
                <a:latin typeface="Calibri" pitchFamily="34" charset="0"/>
                <a:ea typeface="Calibri" pitchFamily="34" charset="-122"/>
                <a:cs typeface="Calibri" pitchFamily="34" charset="-120"/>
              </a:rPr>
              <a:t>HERODOTUS   /   NATIONAL VIEW</a:t>
            </a:r>
            <a:endParaRPr lang="en-US" sz="850" dirty="0"/>
          </a:p>
        </p:txBody>
      </p:sp>
      <p:sp>
        <p:nvSpPr>
          <p:cNvPr id="19" name="Text 17"/>
          <p:cNvSpPr/>
          <p:nvPr/>
        </p:nvSpPr>
        <p:spPr>
          <a:xfrm>
            <a:off x="3749040" y="2194560"/>
            <a:ext cx="3017520" cy="201168"/>
          </a:xfrm>
          <a:prstGeom prst="rect">
            <a:avLst/>
          </a:prstGeom>
          <a:noFill/>
          <a:ln/>
        </p:spPr>
        <p:txBody>
          <a:bodyPr wrap="square" lIns="0" tIns="0" rIns="0" bIns="0" rtlCol="0" anchor="ctr"/>
          <a:lstStyle/>
          <a:p>
            <a:pPr algn="r" indent="0" marL="0">
              <a:buNone/>
            </a:pPr>
            <a:r>
              <a:rPr lang="en-US" sz="850" dirty="0">
                <a:solidFill>
                  <a:srgbClr val="8A8279"/>
                </a:solidFill>
                <a:latin typeface="Calibri" pitchFamily="34" charset="0"/>
                <a:ea typeface="Calibri" pitchFamily="34" charset="-122"/>
                <a:cs typeface="Calibri" pitchFamily="34" charset="-120"/>
              </a:rPr>
              <a:t>ZOOM LV 04  ·  20.59°N 78.96°E</a:t>
            </a:r>
            <a:endParaRPr lang="en-US" sz="850" dirty="0"/>
          </a:p>
        </p:txBody>
      </p:sp>
      <p:pic>
        <p:nvPicPr>
          <p:cNvPr id="20" name="Image 0" descr="/Users/krishnajangid/.gemini/antigravity/brain/0257ec97-0b88-48e3-abaf-ced68cd3ce48/india_heritage_map_1789407014836.jpg">    </p:cNvPr>
          <p:cNvPicPr>
            <a:picLocks noChangeAspect="1"/>
          </p:cNvPicPr>
          <p:nvPr/>
        </p:nvPicPr>
        <p:blipFill>
          <a:blip r:embed="rId1"/>
          <a:stretch>
            <a:fillRect/>
          </a:stretch>
        </p:blipFill>
        <p:spPr>
          <a:xfrm>
            <a:off x="868680" y="2468880"/>
            <a:ext cx="3749040" cy="3520440"/>
          </a:xfrm>
          <a:prstGeom prst="rect">
            <a:avLst/>
          </a:prstGeom>
        </p:spPr>
      </p:pic>
      <p:sp>
        <p:nvSpPr>
          <p:cNvPr id="21" name="Shape 18"/>
          <p:cNvSpPr/>
          <p:nvPr/>
        </p:nvSpPr>
        <p:spPr>
          <a:xfrm>
            <a:off x="1892808" y="3447288"/>
            <a:ext cx="329184" cy="329184"/>
          </a:xfrm>
          <a:prstGeom prst="ellipse">
            <a:avLst/>
          </a:prstGeom>
          <a:solidFill>
            <a:srgbClr val="C69214">
              <a:alpha val="15000"/>
            </a:srgbClr>
          </a:solidFill>
          <a:ln w="12700">
            <a:solidFill>
              <a:srgbClr val="C69214"/>
            </a:solidFill>
            <a:prstDash val="dash"/>
          </a:ln>
        </p:spPr>
      </p:sp>
      <p:sp>
        <p:nvSpPr>
          <p:cNvPr id="22" name="Shape 19"/>
          <p:cNvSpPr/>
          <p:nvPr/>
        </p:nvSpPr>
        <p:spPr>
          <a:xfrm>
            <a:off x="1975104" y="3529584"/>
            <a:ext cx="164592" cy="164592"/>
          </a:xfrm>
          <a:prstGeom prst="ellipse">
            <a:avLst/>
          </a:prstGeom>
          <a:noFill/>
          <a:ln w="19050">
            <a:solidFill>
              <a:srgbClr val="C69214"/>
            </a:solidFill>
            <a:prstDash val="solid"/>
          </a:ln>
        </p:spPr>
      </p:sp>
      <p:sp>
        <p:nvSpPr>
          <p:cNvPr id="23" name="Shape 20"/>
          <p:cNvSpPr/>
          <p:nvPr/>
        </p:nvSpPr>
        <p:spPr>
          <a:xfrm>
            <a:off x="2025396" y="3579876"/>
            <a:ext cx="64008" cy="64008"/>
          </a:xfrm>
          <a:prstGeom prst="ellipse">
            <a:avLst/>
          </a:prstGeom>
          <a:solidFill>
            <a:srgbClr val="C69214"/>
          </a:solidFill>
          <a:ln/>
        </p:spPr>
      </p:sp>
      <p:sp>
        <p:nvSpPr>
          <p:cNvPr id="24" name="Shape 21"/>
          <p:cNvSpPr/>
          <p:nvPr/>
        </p:nvSpPr>
        <p:spPr>
          <a:xfrm>
            <a:off x="4709160" y="2514600"/>
            <a:ext cx="2057400" cy="822960"/>
          </a:xfrm>
          <a:prstGeom prst="roundRect">
            <a:avLst>
              <a:gd name="adj" fmla="val 6667"/>
            </a:avLst>
          </a:prstGeom>
          <a:solidFill>
            <a:srgbClr val="1A1714"/>
          </a:solidFill>
          <a:ln w="12700">
            <a:solidFill>
              <a:srgbClr val="2E2A25"/>
            </a:solidFill>
            <a:prstDash val="solid"/>
          </a:ln>
        </p:spPr>
      </p:sp>
      <p:sp>
        <p:nvSpPr>
          <p:cNvPr id="25" name="Text 22"/>
          <p:cNvSpPr/>
          <p:nvPr/>
        </p:nvSpPr>
        <p:spPr>
          <a:xfrm>
            <a:off x="4846320" y="2624328"/>
            <a:ext cx="365760" cy="201168"/>
          </a:xfrm>
          <a:prstGeom prst="rect">
            <a:avLst/>
          </a:prstGeom>
          <a:noFill/>
          <a:ln/>
        </p:spPr>
        <p:txBody>
          <a:bodyPr wrap="square" lIns="0" tIns="0" rIns="0" bIns="0" rtlCol="0" anchor="ctr"/>
          <a:lstStyle/>
          <a:p>
            <a:pPr indent="0" marL="0">
              <a:buNone/>
            </a:pPr>
            <a:r>
              <a:rPr lang="en-US" sz="1000" b="1" dirty="0">
                <a:solidFill>
                  <a:srgbClr val="C69214"/>
                </a:solidFill>
                <a:latin typeface="Calibri" pitchFamily="34" charset="0"/>
                <a:ea typeface="Calibri" pitchFamily="34" charset="-122"/>
                <a:cs typeface="Calibri" pitchFamily="34" charset="-120"/>
              </a:rPr>
              <a:t>01</a:t>
            </a:r>
            <a:endParaRPr lang="en-US" sz="1000" dirty="0"/>
          </a:p>
        </p:txBody>
      </p:sp>
      <p:sp>
        <p:nvSpPr>
          <p:cNvPr id="26" name="Text 23"/>
          <p:cNvSpPr/>
          <p:nvPr/>
        </p:nvSpPr>
        <p:spPr>
          <a:xfrm>
            <a:off x="6355080" y="2624328"/>
            <a:ext cx="274320" cy="201168"/>
          </a:xfrm>
          <a:prstGeom prst="rect">
            <a:avLst/>
          </a:prstGeom>
          <a:noFill/>
          <a:ln/>
        </p:spPr>
        <p:txBody>
          <a:bodyPr wrap="square" lIns="0" tIns="0" rIns="0" bIns="0" rtlCol="0" anchor="ctr"/>
          <a:lstStyle/>
          <a:p>
            <a:pPr algn="r" indent="0" marL="0">
              <a:buNone/>
            </a:pPr>
            <a:r>
              <a:rPr lang="en-US" sz="1000" dirty="0">
                <a:solidFill>
                  <a:srgbClr val="C69214"/>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4846320" y="2843784"/>
            <a:ext cx="1783080" cy="2286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INDIA</a:t>
            </a:r>
            <a:endParaRPr lang="en-US" sz="1300" dirty="0"/>
          </a:p>
        </p:txBody>
      </p:sp>
      <p:sp>
        <p:nvSpPr>
          <p:cNvPr id="28" name="Text 25"/>
          <p:cNvSpPr/>
          <p:nvPr/>
        </p:nvSpPr>
        <p:spPr>
          <a:xfrm>
            <a:off x="4846320" y="3063240"/>
            <a:ext cx="1783080" cy="201168"/>
          </a:xfrm>
          <a:prstGeom prst="rect">
            <a:avLst/>
          </a:prstGeom>
          <a:noFill/>
          <a:ln/>
        </p:spPr>
        <p:txBody>
          <a:bodyPr wrap="square" lIns="0" tIns="0" rIns="0" bIns="0" rtlCol="0" anchor="ctr"/>
          <a:lstStyle/>
          <a:p>
            <a:pPr indent="0" marL="0">
              <a:buNone/>
            </a:pPr>
            <a:r>
              <a:rPr lang="en-US" sz="850" dirty="0">
                <a:solidFill>
                  <a:srgbClr val="8A8279"/>
                </a:solidFill>
                <a:latin typeface="Calibri" pitchFamily="34" charset="0"/>
                <a:ea typeface="Calibri" pitchFamily="34" charset="-122"/>
                <a:cs typeface="Calibri" pitchFamily="34" charset="-120"/>
              </a:rPr>
              <a:t>National spatial view</a:t>
            </a:r>
            <a:endParaRPr lang="en-US" sz="850" dirty="0"/>
          </a:p>
        </p:txBody>
      </p:sp>
      <p:sp>
        <p:nvSpPr>
          <p:cNvPr id="29" name="Shape 26"/>
          <p:cNvSpPr/>
          <p:nvPr/>
        </p:nvSpPr>
        <p:spPr>
          <a:xfrm>
            <a:off x="4709160" y="3410712"/>
            <a:ext cx="2057400" cy="822960"/>
          </a:xfrm>
          <a:prstGeom prst="roundRect">
            <a:avLst>
              <a:gd name="adj" fmla="val 6667"/>
            </a:avLst>
          </a:prstGeom>
          <a:solidFill>
            <a:srgbClr val="1A1714"/>
          </a:solidFill>
          <a:ln w="12700">
            <a:solidFill>
              <a:srgbClr val="2E2A25"/>
            </a:solidFill>
            <a:prstDash val="solid"/>
          </a:ln>
        </p:spPr>
      </p:sp>
      <p:sp>
        <p:nvSpPr>
          <p:cNvPr id="30" name="Text 27"/>
          <p:cNvSpPr/>
          <p:nvPr/>
        </p:nvSpPr>
        <p:spPr>
          <a:xfrm>
            <a:off x="4846320" y="3520440"/>
            <a:ext cx="365760" cy="201168"/>
          </a:xfrm>
          <a:prstGeom prst="rect">
            <a:avLst/>
          </a:prstGeom>
          <a:noFill/>
          <a:ln/>
        </p:spPr>
        <p:txBody>
          <a:bodyPr wrap="square" lIns="0" tIns="0" rIns="0" bIns="0" rtlCol="0" anchor="ctr"/>
          <a:lstStyle/>
          <a:p>
            <a:pPr indent="0" marL="0">
              <a:buNone/>
            </a:pPr>
            <a:r>
              <a:rPr lang="en-US" sz="1000" b="1" dirty="0">
                <a:solidFill>
                  <a:srgbClr val="C69214"/>
                </a:solidFill>
                <a:latin typeface="Calibri" pitchFamily="34" charset="0"/>
                <a:ea typeface="Calibri" pitchFamily="34" charset="-122"/>
                <a:cs typeface="Calibri" pitchFamily="34" charset="-120"/>
              </a:rPr>
              <a:t>02</a:t>
            </a:r>
            <a:endParaRPr lang="en-US" sz="1000" dirty="0"/>
          </a:p>
        </p:txBody>
      </p:sp>
      <p:sp>
        <p:nvSpPr>
          <p:cNvPr id="31" name="Text 28"/>
          <p:cNvSpPr/>
          <p:nvPr/>
        </p:nvSpPr>
        <p:spPr>
          <a:xfrm>
            <a:off x="6355080" y="3520440"/>
            <a:ext cx="274320" cy="201168"/>
          </a:xfrm>
          <a:prstGeom prst="rect">
            <a:avLst/>
          </a:prstGeom>
          <a:noFill/>
          <a:ln/>
        </p:spPr>
        <p:txBody>
          <a:bodyPr wrap="square" lIns="0" tIns="0" rIns="0" bIns="0" rtlCol="0" anchor="ctr"/>
          <a:lstStyle/>
          <a:p>
            <a:pPr algn="r" indent="0" marL="0">
              <a:buNone/>
            </a:pPr>
            <a:r>
              <a:rPr lang="en-US" sz="1000" dirty="0">
                <a:solidFill>
                  <a:srgbClr val="C69214"/>
                </a:solidFill>
                <a:latin typeface="Calibri" pitchFamily="34" charset="0"/>
                <a:ea typeface="Calibri" pitchFamily="34" charset="-122"/>
                <a:cs typeface="Calibri" pitchFamily="34" charset="-120"/>
              </a:rPr>
              <a:t>🏰</a:t>
            </a:r>
            <a:endParaRPr lang="en-US" sz="1000" dirty="0"/>
          </a:p>
        </p:txBody>
      </p:sp>
      <p:sp>
        <p:nvSpPr>
          <p:cNvPr id="32" name="Text 29"/>
          <p:cNvSpPr/>
          <p:nvPr/>
        </p:nvSpPr>
        <p:spPr>
          <a:xfrm>
            <a:off x="4846320" y="3739896"/>
            <a:ext cx="1783080" cy="2286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RAJASTHAN</a:t>
            </a:r>
            <a:endParaRPr lang="en-US" sz="1300" dirty="0"/>
          </a:p>
        </p:txBody>
      </p:sp>
      <p:sp>
        <p:nvSpPr>
          <p:cNvPr id="33" name="Text 30"/>
          <p:cNvSpPr/>
          <p:nvPr/>
        </p:nvSpPr>
        <p:spPr>
          <a:xfrm>
            <a:off x="4846320" y="3959352"/>
            <a:ext cx="1783080" cy="201168"/>
          </a:xfrm>
          <a:prstGeom prst="rect">
            <a:avLst/>
          </a:prstGeom>
          <a:noFill/>
          <a:ln/>
        </p:spPr>
        <p:txBody>
          <a:bodyPr wrap="square" lIns="0" tIns="0" rIns="0" bIns="0" rtlCol="0" anchor="ctr"/>
          <a:lstStyle/>
          <a:p>
            <a:pPr indent="0" marL="0">
              <a:buNone/>
            </a:pPr>
            <a:r>
              <a:rPr lang="en-US" sz="850" dirty="0">
                <a:solidFill>
                  <a:srgbClr val="8A8279"/>
                </a:solidFill>
                <a:latin typeface="Calibri" pitchFamily="34" charset="0"/>
                <a:ea typeface="Calibri" pitchFamily="34" charset="-122"/>
                <a:cs typeface="Calibri" pitchFamily="34" charset="-120"/>
              </a:rPr>
              <a:t>State monument cluster</a:t>
            </a:r>
            <a:endParaRPr lang="en-US" sz="850" dirty="0"/>
          </a:p>
        </p:txBody>
      </p:sp>
      <p:sp>
        <p:nvSpPr>
          <p:cNvPr id="34" name="Shape 31"/>
          <p:cNvSpPr/>
          <p:nvPr/>
        </p:nvSpPr>
        <p:spPr>
          <a:xfrm>
            <a:off x="4709160" y="4306824"/>
            <a:ext cx="2057400" cy="822960"/>
          </a:xfrm>
          <a:prstGeom prst="roundRect">
            <a:avLst>
              <a:gd name="adj" fmla="val 6667"/>
            </a:avLst>
          </a:prstGeom>
          <a:solidFill>
            <a:srgbClr val="1A1714"/>
          </a:solidFill>
          <a:ln w="12700">
            <a:solidFill>
              <a:srgbClr val="2E2A25"/>
            </a:solidFill>
            <a:prstDash val="solid"/>
          </a:ln>
        </p:spPr>
      </p:sp>
      <p:sp>
        <p:nvSpPr>
          <p:cNvPr id="35" name="Text 32"/>
          <p:cNvSpPr/>
          <p:nvPr/>
        </p:nvSpPr>
        <p:spPr>
          <a:xfrm>
            <a:off x="4846320" y="4416552"/>
            <a:ext cx="365760" cy="201168"/>
          </a:xfrm>
          <a:prstGeom prst="rect">
            <a:avLst/>
          </a:prstGeom>
          <a:noFill/>
          <a:ln/>
        </p:spPr>
        <p:txBody>
          <a:bodyPr wrap="square" lIns="0" tIns="0" rIns="0" bIns="0" rtlCol="0" anchor="ctr"/>
          <a:lstStyle/>
          <a:p>
            <a:pPr indent="0" marL="0">
              <a:buNone/>
            </a:pPr>
            <a:r>
              <a:rPr lang="en-US" sz="1000" b="1" dirty="0">
                <a:solidFill>
                  <a:srgbClr val="C69214"/>
                </a:solidFill>
                <a:latin typeface="Calibri" pitchFamily="34" charset="0"/>
                <a:ea typeface="Calibri" pitchFamily="34" charset="-122"/>
                <a:cs typeface="Calibri" pitchFamily="34" charset="-120"/>
              </a:rPr>
              <a:t>03</a:t>
            </a:r>
            <a:endParaRPr lang="en-US" sz="1000" dirty="0"/>
          </a:p>
        </p:txBody>
      </p:sp>
      <p:sp>
        <p:nvSpPr>
          <p:cNvPr id="36" name="Text 33"/>
          <p:cNvSpPr/>
          <p:nvPr/>
        </p:nvSpPr>
        <p:spPr>
          <a:xfrm>
            <a:off x="6355080" y="4416552"/>
            <a:ext cx="274320" cy="201168"/>
          </a:xfrm>
          <a:prstGeom prst="rect">
            <a:avLst/>
          </a:prstGeom>
          <a:noFill/>
          <a:ln/>
        </p:spPr>
        <p:txBody>
          <a:bodyPr wrap="square" lIns="0" tIns="0" rIns="0" bIns="0" rtlCol="0" anchor="ctr"/>
          <a:lstStyle/>
          <a:p>
            <a:pPr algn="r" indent="0" marL="0">
              <a:buNone/>
            </a:pPr>
            <a:r>
              <a:rPr lang="en-US" sz="1000" dirty="0">
                <a:solidFill>
                  <a:srgbClr val="C69214"/>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4846320" y="4636008"/>
            <a:ext cx="1783080" cy="2286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JAIPUR</a:t>
            </a:r>
            <a:endParaRPr lang="en-US" sz="1300" dirty="0"/>
          </a:p>
        </p:txBody>
      </p:sp>
      <p:sp>
        <p:nvSpPr>
          <p:cNvPr id="38" name="Text 35"/>
          <p:cNvSpPr/>
          <p:nvPr/>
        </p:nvSpPr>
        <p:spPr>
          <a:xfrm>
            <a:off x="4846320" y="4855464"/>
            <a:ext cx="1783080" cy="201168"/>
          </a:xfrm>
          <a:prstGeom prst="rect">
            <a:avLst/>
          </a:prstGeom>
          <a:noFill/>
          <a:ln/>
        </p:spPr>
        <p:txBody>
          <a:bodyPr wrap="square" lIns="0" tIns="0" rIns="0" bIns="0" rtlCol="0" anchor="ctr"/>
          <a:lstStyle/>
          <a:p>
            <a:pPr indent="0" marL="0">
              <a:buNone/>
            </a:pPr>
            <a:r>
              <a:rPr lang="en-US" sz="850" dirty="0">
                <a:solidFill>
                  <a:srgbClr val="8A8279"/>
                </a:solidFill>
                <a:latin typeface="Calibri" pitchFamily="34" charset="0"/>
                <a:ea typeface="Calibri" pitchFamily="34" charset="-122"/>
                <a:cs typeface="Calibri" pitchFamily="34" charset="-120"/>
              </a:rPr>
              <a:t>City grid &amp; GPS coords</a:t>
            </a:r>
            <a:endParaRPr lang="en-US" sz="850" dirty="0"/>
          </a:p>
        </p:txBody>
      </p:sp>
      <p:sp>
        <p:nvSpPr>
          <p:cNvPr id="39" name="Shape 36"/>
          <p:cNvSpPr/>
          <p:nvPr/>
        </p:nvSpPr>
        <p:spPr>
          <a:xfrm>
            <a:off x="4709160" y="5202936"/>
            <a:ext cx="2057400" cy="822960"/>
          </a:xfrm>
          <a:prstGeom prst="roundRect">
            <a:avLst>
              <a:gd name="adj" fmla="val 6667"/>
            </a:avLst>
          </a:prstGeom>
          <a:solidFill>
            <a:srgbClr val="221E19"/>
          </a:solidFill>
          <a:ln w="19050">
            <a:solidFill>
              <a:srgbClr val="C69214"/>
            </a:solidFill>
            <a:prstDash val="solid"/>
          </a:ln>
        </p:spPr>
      </p:sp>
      <p:sp>
        <p:nvSpPr>
          <p:cNvPr id="40" name="Text 37"/>
          <p:cNvSpPr/>
          <p:nvPr/>
        </p:nvSpPr>
        <p:spPr>
          <a:xfrm>
            <a:off x="4846320" y="5312664"/>
            <a:ext cx="365760" cy="201168"/>
          </a:xfrm>
          <a:prstGeom prst="rect">
            <a:avLst/>
          </a:prstGeom>
          <a:noFill/>
          <a:ln/>
        </p:spPr>
        <p:txBody>
          <a:bodyPr wrap="square" lIns="0" tIns="0" rIns="0" bIns="0" rtlCol="0" anchor="ctr"/>
          <a:lstStyle/>
          <a:p>
            <a:pPr indent="0" marL="0">
              <a:buNone/>
            </a:pPr>
            <a:r>
              <a:rPr lang="en-US" sz="1000" b="1" dirty="0">
                <a:solidFill>
                  <a:srgbClr val="C69214"/>
                </a:solidFill>
                <a:latin typeface="Calibri" pitchFamily="34" charset="0"/>
                <a:ea typeface="Calibri" pitchFamily="34" charset="-122"/>
                <a:cs typeface="Calibri" pitchFamily="34" charset="-120"/>
              </a:rPr>
              <a:t>04</a:t>
            </a:r>
            <a:endParaRPr lang="en-US" sz="1000" dirty="0"/>
          </a:p>
        </p:txBody>
      </p:sp>
      <p:sp>
        <p:nvSpPr>
          <p:cNvPr id="41" name="Text 38"/>
          <p:cNvSpPr/>
          <p:nvPr/>
        </p:nvSpPr>
        <p:spPr>
          <a:xfrm>
            <a:off x="6355080" y="5312664"/>
            <a:ext cx="274320" cy="201168"/>
          </a:xfrm>
          <a:prstGeom prst="rect">
            <a:avLst/>
          </a:prstGeom>
          <a:noFill/>
          <a:ln/>
        </p:spPr>
        <p:txBody>
          <a:bodyPr wrap="square" lIns="0" tIns="0" rIns="0" bIns="0" rtlCol="0" anchor="ctr"/>
          <a:lstStyle/>
          <a:p>
            <a:pPr algn="r" indent="0" marL="0">
              <a:buNone/>
            </a:pPr>
            <a:r>
              <a:rPr lang="en-US" sz="1000" dirty="0">
                <a:solidFill>
                  <a:srgbClr val="C69214"/>
                </a:solidFill>
                <a:latin typeface="Calibri" pitchFamily="34" charset="0"/>
                <a:ea typeface="Calibri" pitchFamily="34" charset="-122"/>
                <a:cs typeface="Calibri" pitchFamily="34" charset="-120"/>
              </a:rPr>
              <a:t>★</a:t>
            </a:r>
            <a:endParaRPr lang="en-US" sz="1000" dirty="0"/>
          </a:p>
        </p:txBody>
      </p:sp>
      <p:sp>
        <p:nvSpPr>
          <p:cNvPr id="42" name="Text 39"/>
          <p:cNvSpPr/>
          <p:nvPr/>
        </p:nvSpPr>
        <p:spPr>
          <a:xfrm>
            <a:off x="4846320" y="5532120"/>
            <a:ext cx="1783080" cy="2286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MONUMENT</a:t>
            </a:r>
            <a:endParaRPr lang="en-US" sz="1300" dirty="0"/>
          </a:p>
        </p:txBody>
      </p:sp>
      <p:sp>
        <p:nvSpPr>
          <p:cNvPr id="43" name="Text 40"/>
          <p:cNvSpPr/>
          <p:nvPr/>
        </p:nvSpPr>
        <p:spPr>
          <a:xfrm>
            <a:off x="4846320" y="5751576"/>
            <a:ext cx="1783080" cy="201168"/>
          </a:xfrm>
          <a:prstGeom prst="rect">
            <a:avLst/>
          </a:prstGeom>
          <a:noFill/>
          <a:ln/>
        </p:spPr>
        <p:txBody>
          <a:bodyPr wrap="square" lIns="0" tIns="0" rIns="0" bIns="0" rtlCol="0" anchor="ctr"/>
          <a:lstStyle/>
          <a:p>
            <a:pPr indent="0" marL="0">
              <a:buNone/>
            </a:pPr>
            <a:r>
              <a:rPr lang="en-US" sz="850" dirty="0">
                <a:solidFill>
                  <a:srgbClr val="8A8279"/>
                </a:solidFill>
                <a:latin typeface="Calibri" pitchFamily="34" charset="0"/>
                <a:ea typeface="Calibri" pitchFamily="34" charset="-122"/>
                <a:cs typeface="Calibri" pitchFamily="34" charset="-120"/>
              </a:rPr>
              <a:t>Amer Fort · IN-RJ-014</a:t>
            </a:r>
            <a:endParaRPr lang="en-US" sz="850" dirty="0"/>
          </a:p>
        </p:txBody>
      </p:sp>
      <p:sp>
        <p:nvSpPr>
          <p:cNvPr id="44" name="Shape 41"/>
          <p:cNvSpPr/>
          <p:nvPr/>
        </p:nvSpPr>
        <p:spPr>
          <a:xfrm>
            <a:off x="2221992" y="3611880"/>
            <a:ext cx="2487168" cy="274320"/>
          </a:xfrm>
          <a:prstGeom prst="line">
            <a:avLst/>
          </a:prstGeom>
          <a:noFill/>
          <a:ln w="12700">
            <a:solidFill>
              <a:srgbClr val="C69214"/>
            </a:solidFill>
            <a:prstDash val="dash"/>
          </a:ln>
        </p:spPr>
      </p:sp>
      <p:sp>
        <p:nvSpPr>
          <p:cNvPr id="45" name="Shape 42"/>
          <p:cNvSpPr/>
          <p:nvPr/>
        </p:nvSpPr>
        <p:spPr>
          <a:xfrm>
            <a:off x="6766560" y="5614416"/>
            <a:ext cx="457200" cy="182880"/>
          </a:xfrm>
          <a:prstGeom prst="line">
            <a:avLst/>
          </a:prstGeom>
          <a:noFill/>
          <a:ln w="15240">
            <a:solidFill>
              <a:srgbClr val="C69214"/>
            </a:solidFill>
            <a:prstDash val="dash"/>
          </a:ln>
        </p:spPr>
      </p:sp>
      <p:sp>
        <p:nvSpPr>
          <p:cNvPr id="46" name="Text 43"/>
          <p:cNvSpPr/>
          <p:nvPr/>
        </p:nvSpPr>
        <p:spPr>
          <a:xfrm>
            <a:off x="914400" y="6126480"/>
            <a:ext cx="5852160" cy="201168"/>
          </a:xfrm>
          <a:prstGeom prst="rect">
            <a:avLst/>
          </a:prstGeom>
          <a:noFill/>
          <a:ln/>
        </p:spPr>
        <p:txBody>
          <a:bodyPr wrap="square" lIns="0" tIns="0" rIns="0" bIns="0" rtlCol="0" anchor="ctr"/>
          <a:lstStyle/>
          <a:p>
            <a:pPr indent="0" marL="0">
              <a:buNone/>
            </a:pPr>
            <a:r>
              <a:rPr lang="en-US" sz="800" dirty="0">
                <a:solidFill>
                  <a:srgbClr val="8A8279"/>
                </a:solidFill>
                <a:latin typeface="Calibri" pitchFamily="34" charset="0"/>
                <a:ea typeface="Calibri" pitchFamily="34" charset="-122"/>
                <a:cs typeface="Calibri" pitchFamily="34" charset="-120"/>
              </a:rPr>
              <a:t>MONUMENT PINS  ·  SELECTED: AMER FORT (3,693 CATALOG COORDS)</a:t>
            </a:r>
            <a:endParaRPr lang="en-US" sz="800" dirty="0"/>
          </a:p>
        </p:txBody>
      </p:sp>
      <p:pic>
        <p:nvPicPr>
          <p:cNvPr id="47" name="Image 1" descr="/Users/krishnajangid/.gemini/antigravity/brain/0257ec97-0b88-48e3-abaf-ced68cd3ce48/amber_fort_crop_1789383125173.jpg">    </p:cNvPr>
          <p:cNvPicPr>
            <a:picLocks noChangeAspect="1"/>
          </p:cNvPicPr>
          <p:nvPr/>
        </p:nvPicPr>
        <p:blipFill>
          <a:blip r:embed="rId2"/>
          <a:srcRect l="0" r="0" t="0" b="0"/>
          <a:stretch/>
        </p:blipFill>
        <p:spPr>
          <a:xfrm>
            <a:off x="7223760" y="2057400"/>
            <a:ext cx="4236415" cy="1417320"/>
          </a:xfrm>
          <a:prstGeom prst="rect">
            <a:avLst/>
          </a:prstGeom>
        </p:spPr>
      </p:pic>
      <p:sp>
        <p:nvSpPr>
          <p:cNvPr id="48" name="Shape 44"/>
          <p:cNvSpPr/>
          <p:nvPr/>
        </p:nvSpPr>
        <p:spPr>
          <a:xfrm>
            <a:off x="7360920" y="3182112"/>
            <a:ext cx="777240" cy="201168"/>
          </a:xfrm>
          <a:prstGeom prst="roundRect">
            <a:avLst>
              <a:gd name="adj" fmla="val 18182"/>
            </a:avLst>
          </a:prstGeom>
          <a:solidFill>
            <a:srgbClr val="000000">
              <a:alpha val="60000"/>
            </a:srgbClr>
          </a:solidFill>
          <a:ln w="9525">
            <a:solidFill>
              <a:srgbClr val="D4A856"/>
            </a:solidFill>
            <a:prstDash val="solid"/>
          </a:ln>
        </p:spPr>
      </p:sp>
      <p:sp>
        <p:nvSpPr>
          <p:cNvPr id="49" name="Text 45"/>
          <p:cNvSpPr/>
          <p:nvPr/>
        </p:nvSpPr>
        <p:spPr>
          <a:xfrm>
            <a:off x="7360920" y="3182112"/>
            <a:ext cx="777240"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  +2 PHOTOS</a:t>
            </a:r>
            <a:endParaRPr lang="en-US" sz="700" dirty="0"/>
          </a:p>
        </p:txBody>
      </p:sp>
      <p:sp>
        <p:nvSpPr>
          <p:cNvPr id="50" name="Shape 46"/>
          <p:cNvSpPr/>
          <p:nvPr/>
        </p:nvSpPr>
        <p:spPr>
          <a:xfrm>
            <a:off x="10134295" y="3182112"/>
            <a:ext cx="1188720" cy="201168"/>
          </a:xfrm>
          <a:prstGeom prst="roundRect">
            <a:avLst>
              <a:gd name="adj" fmla="val 18182"/>
            </a:avLst>
          </a:prstGeom>
          <a:solidFill>
            <a:srgbClr val="000000">
              <a:alpha val="60000"/>
            </a:srgbClr>
          </a:solidFill>
          <a:ln w="9525">
            <a:solidFill>
              <a:srgbClr val="665F55"/>
            </a:solidFill>
            <a:prstDash val="solid"/>
          </a:ln>
        </p:spPr>
      </p:sp>
      <p:sp>
        <p:nvSpPr>
          <p:cNvPr id="51" name="Text 47"/>
          <p:cNvSpPr/>
          <p:nvPr/>
        </p:nvSpPr>
        <p:spPr>
          <a:xfrm>
            <a:off x="10134295" y="3182112"/>
            <a:ext cx="1188720" cy="201168"/>
          </a:xfrm>
          <a:prstGeom prst="rect">
            <a:avLst/>
          </a:prstGeom>
          <a:noFill/>
          <a:ln/>
        </p:spPr>
        <p:txBody>
          <a:bodyPr wrap="square" lIns="0" tIns="0" rIns="0" bIns="0" rtlCol="0" anchor="ctr"/>
          <a:lstStyle/>
          <a:p>
            <a:pPr algn="ctr" indent="0" marL="0">
              <a:buNone/>
            </a:pPr>
            <a:r>
              <a:rPr lang="en-US" sz="700" b="1" dirty="0">
                <a:solidFill>
                  <a:srgbClr val="E8E0D4"/>
                </a:solidFill>
                <a:latin typeface="Calibri" pitchFamily="34" charset="0"/>
                <a:ea typeface="Calibri" pitchFamily="34" charset="-122"/>
                <a:cs typeface="Calibri" pitchFamily="34" charset="-120"/>
              </a:rPr>
              <a:t>RECORD IN-RJ-014</a:t>
            </a:r>
            <a:endParaRPr lang="en-US" sz="700" dirty="0"/>
          </a:p>
        </p:txBody>
      </p:sp>
      <p:sp>
        <p:nvSpPr>
          <p:cNvPr id="52" name="Shape 48"/>
          <p:cNvSpPr/>
          <p:nvPr/>
        </p:nvSpPr>
        <p:spPr>
          <a:xfrm>
            <a:off x="7223760" y="3474720"/>
            <a:ext cx="4236415" cy="2926080"/>
          </a:xfrm>
          <a:prstGeom prst="roundRect">
            <a:avLst>
              <a:gd name="adj" fmla="val 1875"/>
            </a:avLst>
          </a:prstGeom>
          <a:solidFill>
            <a:srgbClr val="F5F0E8"/>
          </a:solidFill>
          <a:ln w="12700">
            <a:solidFill>
              <a:srgbClr val="D9D0C3"/>
            </a:solidFill>
            <a:prstDash val="solid"/>
          </a:ln>
        </p:spPr>
      </p:sp>
      <p:sp>
        <p:nvSpPr>
          <p:cNvPr id="53" name="Shape 49"/>
          <p:cNvSpPr/>
          <p:nvPr/>
        </p:nvSpPr>
        <p:spPr>
          <a:xfrm>
            <a:off x="7406640" y="3611880"/>
            <a:ext cx="2377440" cy="201168"/>
          </a:xfrm>
          <a:prstGeom prst="roundRect">
            <a:avLst>
              <a:gd name="adj" fmla="val 18182"/>
            </a:avLst>
          </a:prstGeom>
          <a:solidFill>
            <a:srgbClr val="E8E0D4"/>
          </a:solidFill>
          <a:ln w="9525">
            <a:solidFill>
              <a:srgbClr val="D9D0C3"/>
            </a:solidFill>
            <a:prstDash val="solid"/>
          </a:ln>
        </p:spPr>
      </p:sp>
      <p:sp>
        <p:nvSpPr>
          <p:cNvPr id="54" name="Text 50"/>
          <p:cNvSpPr/>
          <p:nvPr/>
        </p:nvSpPr>
        <p:spPr>
          <a:xfrm>
            <a:off x="7406640" y="3611880"/>
            <a:ext cx="2377440" cy="201168"/>
          </a:xfrm>
          <a:prstGeom prst="rect">
            <a:avLst/>
          </a:prstGeom>
          <a:noFill/>
          <a:ln/>
        </p:spPr>
        <p:txBody>
          <a:bodyPr wrap="square" lIns="0" tIns="0" rIns="0" bIns="0" rtlCol="0" anchor="ctr"/>
          <a:lstStyle/>
          <a:p>
            <a:pPr algn="ctr" indent="0" marL="0">
              <a:buNone/>
            </a:pPr>
            <a:r>
              <a:rPr lang="en-US" sz="750" b="1" dirty="0">
                <a:solidFill>
                  <a:srgbClr val="665F55"/>
                </a:solidFill>
                <a:latin typeface="Calibri" pitchFamily="34" charset="0"/>
                <a:ea typeface="Calibri" pitchFamily="34" charset="-122"/>
                <a:cs typeface="Calibri" pitchFamily="34" charset="-120"/>
              </a:rPr>
              <a:t>UNESCO  ·  HILL FORTS OF RAJASTHAN</a:t>
            </a:r>
            <a:endParaRPr lang="en-US" sz="750" dirty="0"/>
          </a:p>
        </p:txBody>
      </p:sp>
      <p:sp>
        <p:nvSpPr>
          <p:cNvPr id="55" name="Text 51"/>
          <p:cNvSpPr/>
          <p:nvPr/>
        </p:nvSpPr>
        <p:spPr>
          <a:xfrm>
            <a:off x="7406640" y="3858768"/>
            <a:ext cx="3870655" cy="320040"/>
          </a:xfrm>
          <a:prstGeom prst="rect">
            <a:avLst/>
          </a:prstGeom>
          <a:noFill/>
          <a:ln/>
        </p:spPr>
        <p:txBody>
          <a:bodyPr wrap="square" lIns="0" tIns="0" rIns="0" bIns="0" rtlCol="0" anchor="ctr"/>
          <a:lstStyle/>
          <a:p>
            <a:pPr indent="0" marL="0">
              <a:buNone/>
            </a:pPr>
            <a:r>
              <a:rPr lang="en-US" sz="2200" b="1" dirty="0">
                <a:solidFill>
                  <a:srgbClr val="111111"/>
                </a:solidFill>
                <a:latin typeface="Cambria" pitchFamily="34" charset="0"/>
                <a:ea typeface="Cambria" pitchFamily="34" charset="-122"/>
                <a:cs typeface="Cambria" pitchFamily="34" charset="-120"/>
              </a:rPr>
              <a:t>AMER FORT</a:t>
            </a:r>
            <a:endParaRPr lang="en-US" sz="2200" dirty="0"/>
          </a:p>
        </p:txBody>
      </p:sp>
      <p:sp>
        <p:nvSpPr>
          <p:cNvPr id="56" name="Text 52"/>
          <p:cNvSpPr/>
          <p:nvPr/>
        </p:nvSpPr>
        <p:spPr>
          <a:xfrm>
            <a:off x="7406640" y="4187952"/>
            <a:ext cx="3870655" cy="182880"/>
          </a:xfrm>
          <a:prstGeom prst="rect">
            <a:avLst/>
          </a:prstGeom>
          <a:noFill/>
          <a:ln/>
        </p:spPr>
        <p:txBody>
          <a:bodyPr wrap="square" lIns="0" tIns="0" rIns="0" bIns="0" rtlCol="0" anchor="ctr"/>
          <a:lstStyle/>
          <a:p>
            <a:pPr indent="0" marL="0">
              <a:buNone/>
            </a:pPr>
            <a:r>
              <a:rPr lang="en-US" sz="850" dirty="0">
                <a:solidFill>
                  <a:srgbClr val="665F55"/>
                </a:solidFill>
                <a:latin typeface="Calibri" pitchFamily="34" charset="0"/>
                <a:ea typeface="Calibri" pitchFamily="34" charset="-122"/>
                <a:cs typeface="Calibri" pitchFamily="34" charset="-120"/>
              </a:rPr>
              <a:t>AMER, JAIPUR  ·  RAJASTHAN   |   26.9855°N 75.8513°E</a:t>
            </a:r>
            <a:endParaRPr lang="en-US" sz="850" dirty="0"/>
          </a:p>
        </p:txBody>
      </p:sp>
      <p:sp>
        <p:nvSpPr>
          <p:cNvPr id="57" name="Text 53"/>
          <p:cNvSpPr/>
          <p:nvPr/>
        </p:nvSpPr>
        <p:spPr>
          <a:xfrm>
            <a:off x="7406640" y="4407408"/>
            <a:ext cx="3870655" cy="347472"/>
          </a:xfrm>
          <a:prstGeom prst="rect">
            <a:avLst/>
          </a:prstGeom>
          <a:noFill/>
          <a:ln/>
        </p:spPr>
        <p:txBody>
          <a:bodyPr wrap="square" lIns="0" tIns="0" rIns="0" bIns="0" rtlCol="0" anchor="ctr"/>
          <a:lstStyle/>
          <a:p>
            <a:pPr indent="0" marL="0">
              <a:buNone/>
            </a:pPr>
            <a:r>
              <a:rPr lang="en-US" sz="950" dirty="0">
                <a:solidFill>
                  <a:srgbClr val="333333"/>
                </a:solidFill>
                <a:latin typeface="Calibri" pitchFamily="34" charset="0"/>
                <a:ea typeface="Calibri" pitchFamily="34" charset="-122"/>
                <a:cs typeface="Calibri" pitchFamily="34" charset="-120"/>
              </a:rPr>
              <a:t>Hill fort above Maota Lake, begun in 1592 under Raja Man Singh I of Amer. Part of UNESCO Hill Forts.</a:t>
            </a:r>
            <a:endParaRPr lang="en-US" sz="950" dirty="0"/>
          </a:p>
        </p:txBody>
      </p:sp>
      <p:sp>
        <p:nvSpPr>
          <p:cNvPr id="58" name="Shape 54"/>
          <p:cNvSpPr/>
          <p:nvPr/>
        </p:nvSpPr>
        <p:spPr>
          <a:xfrm>
            <a:off x="7406640" y="4800600"/>
            <a:ext cx="3870655" cy="594360"/>
          </a:xfrm>
          <a:prstGeom prst="roundRect">
            <a:avLst>
              <a:gd name="adj" fmla="val 7692"/>
            </a:avLst>
          </a:prstGeom>
          <a:solidFill>
            <a:srgbClr val="1A1714"/>
          </a:solidFill>
          <a:ln w="12700">
            <a:solidFill>
              <a:srgbClr val="C69214"/>
            </a:solidFill>
            <a:prstDash val="solid"/>
          </a:ln>
        </p:spPr>
      </p:sp>
      <p:sp>
        <p:nvSpPr>
          <p:cNvPr id="59" name="Shape 55"/>
          <p:cNvSpPr/>
          <p:nvPr/>
        </p:nvSpPr>
        <p:spPr>
          <a:xfrm>
            <a:off x="7516368" y="4937760"/>
            <a:ext cx="320040" cy="320040"/>
          </a:xfrm>
          <a:prstGeom prst="ellipse">
            <a:avLst/>
          </a:prstGeom>
          <a:solidFill>
            <a:srgbClr val="C69214"/>
          </a:solidFill>
          <a:ln/>
        </p:spPr>
      </p:sp>
      <p:sp>
        <p:nvSpPr>
          <p:cNvPr id="60" name="Shape 56"/>
          <p:cNvSpPr/>
          <p:nvPr/>
        </p:nvSpPr>
        <p:spPr>
          <a:xfrm>
            <a:off x="7626096" y="5010912"/>
            <a:ext cx="128016" cy="164592"/>
          </a:xfrm>
          <a:prstGeom prst="rtTriangle">
            <a:avLst/>
          </a:prstGeom>
          <a:solidFill>
            <a:srgbClr val="111111"/>
          </a:solidFill>
          <a:ln w="12700">
            <a:solidFill>
              <a:srgbClr val="333333"/>
            </a:solidFill>
            <a:prstDash val="solid"/>
          </a:ln>
        </p:spPr>
      </p:sp>
      <p:sp>
        <p:nvSpPr>
          <p:cNvPr id="61" name="Text 57"/>
          <p:cNvSpPr/>
          <p:nvPr/>
        </p:nvSpPr>
        <p:spPr>
          <a:xfrm>
            <a:off x="7936992" y="4910328"/>
            <a:ext cx="1463040" cy="164592"/>
          </a:xfrm>
          <a:prstGeom prst="rect">
            <a:avLst/>
          </a:prstGeom>
          <a:noFill/>
          <a:ln/>
        </p:spPr>
        <p:txBody>
          <a:bodyPr wrap="square" lIns="0" tIns="0" rIns="0" bIns="0" rtlCol="0" anchor="ctr"/>
          <a:lstStyle/>
          <a:p>
            <a:pPr indent="0" marL="0">
              <a:buNone/>
            </a:pPr>
            <a:r>
              <a:rPr lang="en-US" sz="850" b="1" dirty="0">
                <a:solidFill>
                  <a:srgbClr val="C69214"/>
                </a:solidFill>
                <a:latin typeface="Calibri" pitchFamily="34" charset="0"/>
                <a:ea typeface="Calibri" pitchFamily="34" charset="-122"/>
                <a:cs typeface="Calibri" pitchFamily="34" charset="-120"/>
              </a:rPr>
              <a:t>PLAY AUDIO GUIDE</a:t>
            </a:r>
            <a:endParaRPr lang="en-US" sz="850" dirty="0"/>
          </a:p>
        </p:txBody>
      </p:sp>
      <p:sp>
        <p:nvSpPr>
          <p:cNvPr id="62" name="Shape 58"/>
          <p:cNvSpPr/>
          <p:nvPr/>
        </p:nvSpPr>
        <p:spPr>
          <a:xfrm>
            <a:off x="7936992" y="5175504"/>
            <a:ext cx="32004" cy="54864"/>
          </a:xfrm>
          <a:prstGeom prst="rect">
            <a:avLst/>
          </a:prstGeom>
          <a:solidFill>
            <a:srgbClr val="C69214"/>
          </a:solidFill>
          <a:ln w="12700">
            <a:solidFill>
              <a:srgbClr val="333333"/>
            </a:solidFill>
            <a:prstDash val="solid"/>
          </a:ln>
        </p:spPr>
      </p:sp>
      <p:sp>
        <p:nvSpPr>
          <p:cNvPr id="63" name="Shape 59"/>
          <p:cNvSpPr/>
          <p:nvPr/>
        </p:nvSpPr>
        <p:spPr>
          <a:xfrm>
            <a:off x="8013845" y="5148072"/>
            <a:ext cx="32004" cy="109728"/>
          </a:xfrm>
          <a:prstGeom prst="rect">
            <a:avLst/>
          </a:prstGeom>
          <a:solidFill>
            <a:srgbClr val="C69214"/>
          </a:solidFill>
          <a:ln w="12700">
            <a:solidFill>
              <a:srgbClr val="333333"/>
            </a:solidFill>
            <a:prstDash val="solid"/>
          </a:ln>
        </p:spPr>
      </p:sp>
      <p:sp>
        <p:nvSpPr>
          <p:cNvPr id="64" name="Shape 60"/>
          <p:cNvSpPr/>
          <p:nvPr/>
        </p:nvSpPr>
        <p:spPr>
          <a:xfrm>
            <a:off x="8090698" y="5120640"/>
            <a:ext cx="32004" cy="164592"/>
          </a:xfrm>
          <a:prstGeom prst="rect">
            <a:avLst/>
          </a:prstGeom>
          <a:solidFill>
            <a:srgbClr val="C69214"/>
          </a:solidFill>
          <a:ln w="12700">
            <a:solidFill>
              <a:srgbClr val="333333"/>
            </a:solidFill>
            <a:prstDash val="solid"/>
          </a:ln>
        </p:spPr>
      </p:sp>
      <p:sp>
        <p:nvSpPr>
          <p:cNvPr id="65" name="Shape 61"/>
          <p:cNvSpPr/>
          <p:nvPr/>
        </p:nvSpPr>
        <p:spPr>
          <a:xfrm>
            <a:off x="8167551" y="5157216"/>
            <a:ext cx="32004" cy="91440"/>
          </a:xfrm>
          <a:prstGeom prst="rect">
            <a:avLst/>
          </a:prstGeom>
          <a:solidFill>
            <a:srgbClr val="C69214"/>
          </a:solidFill>
          <a:ln w="12700">
            <a:solidFill>
              <a:srgbClr val="333333"/>
            </a:solidFill>
            <a:prstDash val="solid"/>
          </a:ln>
        </p:spPr>
      </p:sp>
      <p:sp>
        <p:nvSpPr>
          <p:cNvPr id="66" name="Shape 62"/>
          <p:cNvSpPr/>
          <p:nvPr/>
        </p:nvSpPr>
        <p:spPr>
          <a:xfrm>
            <a:off x="8244405" y="5102352"/>
            <a:ext cx="32004" cy="201168"/>
          </a:xfrm>
          <a:prstGeom prst="rect">
            <a:avLst/>
          </a:prstGeom>
          <a:solidFill>
            <a:srgbClr val="C69214"/>
          </a:solidFill>
          <a:ln w="12700">
            <a:solidFill>
              <a:srgbClr val="333333"/>
            </a:solidFill>
            <a:prstDash val="solid"/>
          </a:ln>
        </p:spPr>
      </p:sp>
      <p:sp>
        <p:nvSpPr>
          <p:cNvPr id="67" name="Shape 63"/>
          <p:cNvSpPr/>
          <p:nvPr/>
        </p:nvSpPr>
        <p:spPr>
          <a:xfrm>
            <a:off x="8321258" y="5129784"/>
            <a:ext cx="32004" cy="146304"/>
          </a:xfrm>
          <a:prstGeom prst="rect">
            <a:avLst/>
          </a:prstGeom>
          <a:solidFill>
            <a:srgbClr val="C69214"/>
          </a:solidFill>
          <a:ln w="12700">
            <a:solidFill>
              <a:srgbClr val="333333"/>
            </a:solidFill>
            <a:prstDash val="solid"/>
          </a:ln>
        </p:spPr>
      </p:sp>
      <p:sp>
        <p:nvSpPr>
          <p:cNvPr id="68" name="Shape 64"/>
          <p:cNvSpPr/>
          <p:nvPr/>
        </p:nvSpPr>
        <p:spPr>
          <a:xfrm>
            <a:off x="8398111" y="5166360"/>
            <a:ext cx="32004" cy="73152"/>
          </a:xfrm>
          <a:prstGeom prst="rect">
            <a:avLst/>
          </a:prstGeom>
          <a:solidFill>
            <a:srgbClr val="C69214"/>
          </a:solidFill>
          <a:ln w="12700">
            <a:solidFill>
              <a:srgbClr val="333333"/>
            </a:solidFill>
            <a:prstDash val="solid"/>
          </a:ln>
        </p:spPr>
      </p:sp>
      <p:sp>
        <p:nvSpPr>
          <p:cNvPr id="69" name="Shape 65"/>
          <p:cNvSpPr/>
          <p:nvPr/>
        </p:nvSpPr>
        <p:spPr>
          <a:xfrm>
            <a:off x="8474964" y="5138928"/>
            <a:ext cx="32004" cy="128016"/>
          </a:xfrm>
          <a:prstGeom prst="rect">
            <a:avLst/>
          </a:prstGeom>
          <a:solidFill>
            <a:srgbClr val="C69214"/>
          </a:solidFill>
          <a:ln w="12700">
            <a:solidFill>
              <a:srgbClr val="333333"/>
            </a:solidFill>
            <a:prstDash val="solid"/>
          </a:ln>
        </p:spPr>
      </p:sp>
      <p:sp>
        <p:nvSpPr>
          <p:cNvPr id="70" name="Shape 66"/>
          <p:cNvSpPr/>
          <p:nvPr/>
        </p:nvSpPr>
        <p:spPr>
          <a:xfrm>
            <a:off x="8551817" y="5111496"/>
            <a:ext cx="32004" cy="182880"/>
          </a:xfrm>
          <a:prstGeom prst="rect">
            <a:avLst/>
          </a:prstGeom>
          <a:solidFill>
            <a:srgbClr val="C69214"/>
          </a:solidFill>
          <a:ln w="12700">
            <a:solidFill>
              <a:srgbClr val="333333"/>
            </a:solidFill>
            <a:prstDash val="solid"/>
          </a:ln>
        </p:spPr>
      </p:sp>
      <p:sp>
        <p:nvSpPr>
          <p:cNvPr id="71" name="Shape 67"/>
          <p:cNvSpPr/>
          <p:nvPr/>
        </p:nvSpPr>
        <p:spPr>
          <a:xfrm>
            <a:off x="8628670" y="5093208"/>
            <a:ext cx="32004" cy="219456"/>
          </a:xfrm>
          <a:prstGeom prst="rect">
            <a:avLst/>
          </a:prstGeom>
          <a:solidFill>
            <a:srgbClr val="8A8279"/>
          </a:solidFill>
          <a:ln w="12700">
            <a:solidFill>
              <a:srgbClr val="333333"/>
            </a:solidFill>
            <a:prstDash val="solid"/>
          </a:ln>
        </p:spPr>
      </p:sp>
      <p:sp>
        <p:nvSpPr>
          <p:cNvPr id="72" name="Shape 68"/>
          <p:cNvSpPr/>
          <p:nvPr/>
        </p:nvSpPr>
        <p:spPr>
          <a:xfrm>
            <a:off x="8705523" y="5138928"/>
            <a:ext cx="32004" cy="128016"/>
          </a:xfrm>
          <a:prstGeom prst="rect">
            <a:avLst/>
          </a:prstGeom>
          <a:solidFill>
            <a:srgbClr val="8A8279"/>
          </a:solidFill>
          <a:ln w="12700">
            <a:solidFill>
              <a:srgbClr val="333333"/>
            </a:solidFill>
            <a:prstDash val="solid"/>
          </a:ln>
        </p:spPr>
      </p:sp>
      <p:sp>
        <p:nvSpPr>
          <p:cNvPr id="73" name="Shape 69"/>
          <p:cNvSpPr/>
          <p:nvPr/>
        </p:nvSpPr>
        <p:spPr>
          <a:xfrm>
            <a:off x="8782377" y="5120640"/>
            <a:ext cx="32004" cy="164592"/>
          </a:xfrm>
          <a:prstGeom prst="rect">
            <a:avLst/>
          </a:prstGeom>
          <a:solidFill>
            <a:srgbClr val="8A8279"/>
          </a:solidFill>
          <a:ln w="12700">
            <a:solidFill>
              <a:srgbClr val="333333"/>
            </a:solidFill>
            <a:prstDash val="solid"/>
          </a:ln>
        </p:spPr>
      </p:sp>
      <p:sp>
        <p:nvSpPr>
          <p:cNvPr id="74" name="Shape 70"/>
          <p:cNvSpPr/>
          <p:nvPr/>
        </p:nvSpPr>
        <p:spPr>
          <a:xfrm>
            <a:off x="8859230" y="5157216"/>
            <a:ext cx="32004" cy="91440"/>
          </a:xfrm>
          <a:prstGeom prst="rect">
            <a:avLst/>
          </a:prstGeom>
          <a:solidFill>
            <a:srgbClr val="8A8279"/>
          </a:solidFill>
          <a:ln w="12700">
            <a:solidFill>
              <a:srgbClr val="333333"/>
            </a:solidFill>
            <a:prstDash val="solid"/>
          </a:ln>
        </p:spPr>
      </p:sp>
      <p:sp>
        <p:nvSpPr>
          <p:cNvPr id="75" name="Shape 71"/>
          <p:cNvSpPr/>
          <p:nvPr/>
        </p:nvSpPr>
        <p:spPr>
          <a:xfrm>
            <a:off x="8936083" y="5134356"/>
            <a:ext cx="32004" cy="137160"/>
          </a:xfrm>
          <a:prstGeom prst="rect">
            <a:avLst/>
          </a:prstGeom>
          <a:solidFill>
            <a:srgbClr val="8A8279"/>
          </a:solidFill>
          <a:ln w="12700">
            <a:solidFill>
              <a:srgbClr val="333333"/>
            </a:solidFill>
            <a:prstDash val="solid"/>
          </a:ln>
        </p:spPr>
      </p:sp>
      <p:sp>
        <p:nvSpPr>
          <p:cNvPr id="76" name="Shape 72"/>
          <p:cNvSpPr/>
          <p:nvPr/>
        </p:nvSpPr>
        <p:spPr>
          <a:xfrm>
            <a:off x="9012936" y="5102352"/>
            <a:ext cx="32004" cy="201168"/>
          </a:xfrm>
          <a:prstGeom prst="rect">
            <a:avLst/>
          </a:prstGeom>
          <a:solidFill>
            <a:srgbClr val="8A8279"/>
          </a:solidFill>
          <a:ln w="12700">
            <a:solidFill>
              <a:srgbClr val="333333"/>
            </a:solidFill>
            <a:prstDash val="solid"/>
          </a:ln>
        </p:spPr>
      </p:sp>
      <p:sp>
        <p:nvSpPr>
          <p:cNvPr id="77" name="Shape 73"/>
          <p:cNvSpPr/>
          <p:nvPr/>
        </p:nvSpPr>
        <p:spPr>
          <a:xfrm>
            <a:off x="9089789" y="5161788"/>
            <a:ext cx="32004" cy="82296"/>
          </a:xfrm>
          <a:prstGeom prst="rect">
            <a:avLst/>
          </a:prstGeom>
          <a:solidFill>
            <a:srgbClr val="8A8279"/>
          </a:solidFill>
          <a:ln w="12700">
            <a:solidFill>
              <a:srgbClr val="333333"/>
            </a:solidFill>
            <a:prstDash val="solid"/>
          </a:ln>
        </p:spPr>
      </p:sp>
      <p:sp>
        <p:nvSpPr>
          <p:cNvPr id="78" name="Shape 74"/>
          <p:cNvSpPr/>
          <p:nvPr/>
        </p:nvSpPr>
        <p:spPr>
          <a:xfrm>
            <a:off x="9166642" y="5129784"/>
            <a:ext cx="32004" cy="146304"/>
          </a:xfrm>
          <a:prstGeom prst="rect">
            <a:avLst/>
          </a:prstGeom>
          <a:solidFill>
            <a:srgbClr val="8A8279"/>
          </a:solidFill>
          <a:ln w="12700">
            <a:solidFill>
              <a:srgbClr val="333333"/>
            </a:solidFill>
            <a:prstDash val="solid"/>
          </a:ln>
        </p:spPr>
      </p:sp>
      <p:sp>
        <p:nvSpPr>
          <p:cNvPr id="79" name="Shape 75"/>
          <p:cNvSpPr/>
          <p:nvPr/>
        </p:nvSpPr>
        <p:spPr>
          <a:xfrm>
            <a:off x="9243495" y="5148072"/>
            <a:ext cx="32004" cy="109728"/>
          </a:xfrm>
          <a:prstGeom prst="rect">
            <a:avLst/>
          </a:prstGeom>
          <a:solidFill>
            <a:srgbClr val="8A8279"/>
          </a:solidFill>
          <a:ln w="12700">
            <a:solidFill>
              <a:srgbClr val="333333"/>
            </a:solidFill>
            <a:prstDash val="solid"/>
          </a:ln>
        </p:spPr>
      </p:sp>
      <p:sp>
        <p:nvSpPr>
          <p:cNvPr id="80" name="Shape 76"/>
          <p:cNvSpPr/>
          <p:nvPr/>
        </p:nvSpPr>
        <p:spPr>
          <a:xfrm>
            <a:off x="9320349" y="5170932"/>
            <a:ext cx="32004" cy="64008"/>
          </a:xfrm>
          <a:prstGeom prst="rect">
            <a:avLst/>
          </a:prstGeom>
          <a:solidFill>
            <a:srgbClr val="8A8279"/>
          </a:solidFill>
          <a:ln w="12700">
            <a:solidFill>
              <a:srgbClr val="333333"/>
            </a:solidFill>
            <a:prstDash val="solid"/>
          </a:ln>
        </p:spPr>
      </p:sp>
      <p:sp>
        <p:nvSpPr>
          <p:cNvPr id="81" name="Shape 77"/>
          <p:cNvSpPr/>
          <p:nvPr/>
        </p:nvSpPr>
        <p:spPr>
          <a:xfrm>
            <a:off x="9397202" y="5120640"/>
            <a:ext cx="32004" cy="164592"/>
          </a:xfrm>
          <a:prstGeom prst="rect">
            <a:avLst/>
          </a:prstGeom>
          <a:solidFill>
            <a:srgbClr val="8A8279"/>
          </a:solidFill>
          <a:ln w="12700">
            <a:solidFill>
              <a:srgbClr val="333333"/>
            </a:solidFill>
            <a:prstDash val="solid"/>
          </a:ln>
        </p:spPr>
      </p:sp>
      <p:sp>
        <p:nvSpPr>
          <p:cNvPr id="82" name="Shape 78"/>
          <p:cNvSpPr/>
          <p:nvPr/>
        </p:nvSpPr>
        <p:spPr>
          <a:xfrm>
            <a:off x="9474055" y="5143500"/>
            <a:ext cx="32004" cy="118872"/>
          </a:xfrm>
          <a:prstGeom prst="rect">
            <a:avLst/>
          </a:prstGeom>
          <a:solidFill>
            <a:srgbClr val="8A8279"/>
          </a:solidFill>
          <a:ln w="12700">
            <a:solidFill>
              <a:srgbClr val="333333"/>
            </a:solidFill>
            <a:prstDash val="solid"/>
          </a:ln>
        </p:spPr>
      </p:sp>
      <p:sp>
        <p:nvSpPr>
          <p:cNvPr id="83" name="Shape 79"/>
          <p:cNvSpPr/>
          <p:nvPr/>
        </p:nvSpPr>
        <p:spPr>
          <a:xfrm>
            <a:off x="9550908" y="5166360"/>
            <a:ext cx="32004" cy="73152"/>
          </a:xfrm>
          <a:prstGeom prst="rect">
            <a:avLst/>
          </a:prstGeom>
          <a:solidFill>
            <a:srgbClr val="8A8279"/>
          </a:solidFill>
          <a:ln w="12700">
            <a:solidFill>
              <a:srgbClr val="333333"/>
            </a:solidFill>
            <a:prstDash val="solid"/>
          </a:ln>
        </p:spPr>
      </p:sp>
      <p:sp>
        <p:nvSpPr>
          <p:cNvPr id="84" name="Text 80"/>
          <p:cNvSpPr/>
          <p:nvPr/>
        </p:nvSpPr>
        <p:spPr>
          <a:xfrm>
            <a:off x="9951415" y="4937760"/>
            <a:ext cx="1234440" cy="320040"/>
          </a:xfrm>
          <a:prstGeom prst="rect">
            <a:avLst/>
          </a:prstGeom>
          <a:noFill/>
          <a:ln/>
        </p:spPr>
        <p:txBody>
          <a:bodyPr wrap="square" lIns="0" tIns="0" rIns="0" bIns="0" rtlCol="0" anchor="ctr"/>
          <a:lstStyle/>
          <a:p>
            <a:pPr algn="r" indent="0" marL="0">
              <a:buNone/>
            </a:pPr>
            <a:r>
              <a:rPr lang="en-US" sz="750" b="1" dirty="0">
                <a:solidFill>
                  <a:srgbClr val="E8E0D4"/>
                </a:solidFill>
                <a:latin typeface="Calibri" pitchFamily="34" charset="0"/>
                <a:ea typeface="Calibri" pitchFamily="34" charset="-122"/>
                <a:cs typeface="Calibri" pitchFamily="34" charset="-120"/>
              </a:rPr>
              <a:t>00:42 / 02:14</a:t>
            </a:r>
            <a:endParaRPr lang="en-US" sz="750" dirty="0"/>
          </a:p>
          <a:p>
            <a:pPr algn="r" indent="0" marL="0">
              <a:buNone/>
            </a:pPr>
            <a:r>
              <a:rPr lang="en-US" sz="750" b="1" dirty="0">
                <a:solidFill>
                  <a:srgbClr val="E8E0D4"/>
                </a:solidFill>
                <a:latin typeface="Calibri" pitchFamily="34" charset="0"/>
                <a:ea typeface="Calibri" pitchFamily="34" charset="-122"/>
                <a:cs typeface="Calibri" pitchFamily="34" charset="-120"/>
              </a:rPr>
              <a:t>BROWSER TTS</a:t>
            </a:r>
            <a:endParaRPr lang="en-US" sz="750" dirty="0"/>
          </a:p>
        </p:txBody>
      </p:sp>
      <p:sp>
        <p:nvSpPr>
          <p:cNvPr id="85" name="Text 81"/>
          <p:cNvSpPr/>
          <p:nvPr/>
        </p:nvSpPr>
        <p:spPr>
          <a:xfrm>
            <a:off x="7406640" y="5468112"/>
            <a:ext cx="1935328" cy="228600"/>
          </a:xfrm>
          <a:prstGeom prst="rect">
            <a:avLst/>
          </a:prstGeom>
          <a:noFill/>
          <a:ln/>
        </p:spPr>
        <p:txBody>
          <a:bodyPr wrap="square" lIns="0" tIns="0" rIns="0" bIns="0" rtlCol="0" anchor="ctr"/>
          <a:lstStyle/>
          <a:p>
            <a:pPr indent="0" marL="0">
              <a:buNone/>
            </a:pPr>
            <a:r>
              <a:rPr lang="en-US" sz="850" b="1" dirty="0">
                <a:solidFill>
                  <a:srgbClr val="665F55"/>
                </a:solidFill>
                <a:latin typeface="Calibri" pitchFamily="34" charset="0"/>
                <a:ea typeface="Calibri" pitchFamily="34" charset="-122"/>
                <a:cs typeface="Calibri" pitchFamily="34" charset="-120"/>
              </a:rPr>
              <a:t>TIMINGS: </a:t>
            </a:r>
            <a:pPr indent="0" marL="0">
              <a:buNone/>
            </a:pPr>
            <a:r>
              <a:rPr lang="en-US" sz="1050" b="1" dirty="0">
                <a:solidFill>
                  <a:srgbClr val="111111"/>
                </a:solidFill>
                <a:latin typeface="Calibri" pitchFamily="34" charset="0"/>
                <a:ea typeface="Calibri" pitchFamily="34" charset="-122"/>
                <a:cs typeface="Calibri" pitchFamily="34" charset="-120"/>
              </a:rPr>
              <a:t>08:00 — 18:00</a:t>
            </a:r>
            <a:endParaRPr lang="en-US" sz="850" dirty="0"/>
          </a:p>
        </p:txBody>
      </p:sp>
      <p:sp>
        <p:nvSpPr>
          <p:cNvPr id="86" name="Text 82"/>
          <p:cNvSpPr/>
          <p:nvPr/>
        </p:nvSpPr>
        <p:spPr>
          <a:xfrm>
            <a:off x="9341968" y="5468112"/>
            <a:ext cx="1935328" cy="228600"/>
          </a:xfrm>
          <a:prstGeom prst="rect">
            <a:avLst/>
          </a:prstGeom>
          <a:noFill/>
          <a:ln/>
        </p:spPr>
        <p:txBody>
          <a:bodyPr wrap="square" lIns="0" tIns="0" rIns="0" bIns="0" rtlCol="0" anchor="ctr"/>
          <a:lstStyle/>
          <a:p>
            <a:pPr algn="r" indent="0" marL="0">
              <a:buNone/>
            </a:pPr>
            <a:r>
              <a:rPr lang="en-US" sz="850" b="1" dirty="0">
                <a:solidFill>
                  <a:srgbClr val="665F55"/>
                </a:solidFill>
                <a:latin typeface="Calibri" pitchFamily="34" charset="0"/>
                <a:ea typeface="Calibri" pitchFamily="34" charset="-122"/>
                <a:cs typeface="Calibri" pitchFamily="34" charset="-120"/>
              </a:rPr>
              <a:t>ENTRY FEE: </a:t>
            </a:r>
            <a:pPr algn="r" indent="0" marL="0">
              <a:buNone/>
            </a:pPr>
            <a:r>
              <a:rPr lang="en-US" sz="1050" b="1" dirty="0">
                <a:solidFill>
                  <a:srgbClr val="111111"/>
                </a:solidFill>
                <a:latin typeface="Calibri" pitchFamily="34" charset="0"/>
                <a:ea typeface="Calibri" pitchFamily="34" charset="-122"/>
                <a:cs typeface="Calibri" pitchFamily="34" charset="-120"/>
              </a:rPr>
              <a:t>₹200 IND / ₹1,000 INTL</a:t>
            </a:r>
            <a:endParaRPr lang="en-US" sz="850" dirty="0"/>
          </a:p>
        </p:txBody>
      </p:sp>
      <p:sp>
        <p:nvSpPr>
          <p:cNvPr id="87" name="Shape 83"/>
          <p:cNvSpPr/>
          <p:nvPr/>
        </p:nvSpPr>
        <p:spPr>
          <a:xfrm>
            <a:off x="7406640" y="5779008"/>
            <a:ext cx="1866748" cy="347472"/>
          </a:xfrm>
          <a:prstGeom prst="roundRect">
            <a:avLst>
              <a:gd name="adj" fmla="val 13158"/>
            </a:avLst>
          </a:prstGeom>
          <a:solidFill>
            <a:srgbClr val="1A1714"/>
          </a:solidFill>
          <a:ln w="12700">
            <a:solidFill>
              <a:srgbClr val="2E2A25"/>
            </a:solidFill>
            <a:prstDash val="solid"/>
          </a:ln>
        </p:spPr>
      </p:sp>
      <p:sp>
        <p:nvSpPr>
          <p:cNvPr id="88" name="Text 84"/>
          <p:cNvSpPr/>
          <p:nvPr/>
        </p:nvSpPr>
        <p:spPr>
          <a:xfrm>
            <a:off x="7406640" y="5779008"/>
            <a:ext cx="1866748"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VIEW TICKETS</a:t>
            </a:r>
            <a:endParaRPr lang="en-US" sz="850" dirty="0"/>
          </a:p>
        </p:txBody>
      </p:sp>
      <p:sp>
        <p:nvSpPr>
          <p:cNvPr id="89" name="Shape 85"/>
          <p:cNvSpPr/>
          <p:nvPr/>
        </p:nvSpPr>
        <p:spPr>
          <a:xfrm>
            <a:off x="9410548" y="5779008"/>
            <a:ext cx="1866748" cy="347472"/>
          </a:xfrm>
          <a:prstGeom prst="roundRect">
            <a:avLst>
              <a:gd name="adj" fmla="val 13158"/>
            </a:avLst>
          </a:prstGeom>
          <a:solidFill>
            <a:srgbClr val="FFFFFF"/>
          </a:solidFill>
          <a:ln w="12700">
            <a:solidFill>
              <a:srgbClr val="665F55"/>
            </a:solidFill>
            <a:prstDash val="solid"/>
          </a:ln>
        </p:spPr>
      </p:sp>
      <p:sp>
        <p:nvSpPr>
          <p:cNvPr id="90" name="Text 86"/>
          <p:cNvSpPr/>
          <p:nvPr/>
        </p:nvSpPr>
        <p:spPr>
          <a:xfrm>
            <a:off x="9410548" y="5779008"/>
            <a:ext cx="1866748" cy="347472"/>
          </a:xfrm>
          <a:prstGeom prst="rect">
            <a:avLst/>
          </a:prstGeom>
          <a:noFill/>
          <a:ln/>
        </p:spPr>
        <p:txBody>
          <a:bodyPr wrap="square" lIns="0" tIns="0" rIns="0" bIns="0" rtlCol="0" anchor="ctr"/>
          <a:lstStyle/>
          <a:p>
            <a:pPr algn="ctr" indent="0" marL="0">
              <a:buNone/>
            </a:pPr>
            <a:r>
              <a:rPr lang="en-US" sz="850" b="1" dirty="0">
                <a:solidFill>
                  <a:srgbClr val="111111"/>
                </a:solidFill>
                <a:latin typeface="Calibri" pitchFamily="34" charset="0"/>
                <a:ea typeface="Calibri" pitchFamily="34" charset="-122"/>
                <a:cs typeface="Calibri" pitchFamily="34" charset="-120"/>
              </a:rPr>
              <a:t>GET DIRECTIONS ›</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9"/>
        </a:solidFill>
      </p:bgPr>
    </p:bg>
    <p:spTree>
      <p:nvGrpSpPr>
        <p:cNvPr id="1" name=""/>
        <p:cNvGrpSpPr/>
        <p:nvPr/>
      </p:nvGrpSpPr>
      <p:grpSpPr>
        <a:xfrm>
          <a:off x="0" y="0"/>
          <a:ext cx="0" cy="0"/>
          <a:chOff x="0" y="0"/>
          <a:chExt cx="0" cy="0"/>
        </a:xfrm>
      </p:grpSpPr>
      <p:sp>
        <p:nvSpPr>
          <p:cNvPr id="2" name="Shape 0"/>
          <p:cNvSpPr/>
          <p:nvPr/>
        </p:nvSpPr>
        <p:spPr>
          <a:xfrm>
            <a:off x="2377440" y="457200"/>
            <a:ext cx="0" cy="5760720"/>
          </a:xfrm>
          <a:prstGeom prst="line">
            <a:avLst/>
          </a:prstGeom>
          <a:noFill/>
          <a:ln w="6350">
            <a:solidFill>
              <a:srgbClr val="1C1916"/>
            </a:solidFill>
            <a:prstDash val="solid"/>
          </a:ln>
        </p:spPr>
      </p:sp>
      <p:sp>
        <p:nvSpPr>
          <p:cNvPr id="3" name="Shape 1"/>
          <p:cNvSpPr/>
          <p:nvPr/>
        </p:nvSpPr>
        <p:spPr>
          <a:xfrm>
            <a:off x="4023360" y="457200"/>
            <a:ext cx="0" cy="5760720"/>
          </a:xfrm>
          <a:prstGeom prst="line">
            <a:avLst/>
          </a:prstGeom>
          <a:noFill/>
          <a:ln w="6350">
            <a:solidFill>
              <a:srgbClr val="1C1916"/>
            </a:solidFill>
            <a:prstDash val="solid"/>
          </a:ln>
        </p:spPr>
      </p:sp>
      <p:sp>
        <p:nvSpPr>
          <p:cNvPr id="4" name="Shape 2"/>
          <p:cNvSpPr/>
          <p:nvPr/>
        </p:nvSpPr>
        <p:spPr>
          <a:xfrm>
            <a:off x="5669280" y="457200"/>
            <a:ext cx="0" cy="5760720"/>
          </a:xfrm>
          <a:prstGeom prst="line">
            <a:avLst/>
          </a:prstGeom>
          <a:noFill/>
          <a:ln w="6350">
            <a:solidFill>
              <a:srgbClr val="1C1916"/>
            </a:solidFill>
            <a:prstDash val="solid"/>
          </a:ln>
        </p:spPr>
      </p:sp>
      <p:sp>
        <p:nvSpPr>
          <p:cNvPr id="5" name="Shape 3"/>
          <p:cNvSpPr/>
          <p:nvPr/>
        </p:nvSpPr>
        <p:spPr>
          <a:xfrm>
            <a:off x="7315200" y="457200"/>
            <a:ext cx="0" cy="5760720"/>
          </a:xfrm>
          <a:prstGeom prst="line">
            <a:avLst/>
          </a:prstGeom>
          <a:noFill/>
          <a:ln w="6350">
            <a:solidFill>
              <a:srgbClr val="1C1916"/>
            </a:solidFill>
            <a:prstDash val="solid"/>
          </a:ln>
        </p:spPr>
      </p:sp>
      <p:sp>
        <p:nvSpPr>
          <p:cNvPr id="6" name="Shape 4"/>
          <p:cNvSpPr/>
          <p:nvPr/>
        </p:nvSpPr>
        <p:spPr>
          <a:xfrm>
            <a:off x="8961120" y="457200"/>
            <a:ext cx="0" cy="5760720"/>
          </a:xfrm>
          <a:prstGeom prst="line">
            <a:avLst/>
          </a:prstGeom>
          <a:noFill/>
          <a:ln w="6350">
            <a:solidFill>
              <a:srgbClr val="1C1916"/>
            </a:solidFill>
            <a:prstDash val="solid"/>
          </a:ln>
        </p:spPr>
      </p:sp>
      <p:sp>
        <p:nvSpPr>
          <p:cNvPr id="7" name="Shape 5"/>
          <p:cNvSpPr/>
          <p:nvPr/>
        </p:nvSpPr>
        <p:spPr>
          <a:xfrm>
            <a:off x="10607040" y="457200"/>
            <a:ext cx="0" cy="5760720"/>
          </a:xfrm>
          <a:prstGeom prst="line">
            <a:avLst/>
          </a:prstGeom>
          <a:noFill/>
          <a:ln w="6350">
            <a:solidFill>
              <a:srgbClr val="1C1916"/>
            </a:solidFill>
            <a:prstDash val="solid"/>
          </a:ln>
        </p:spPr>
      </p:sp>
      <p:sp>
        <p:nvSpPr>
          <p:cNvPr id="8" name="Shape 6"/>
          <p:cNvSpPr/>
          <p:nvPr/>
        </p:nvSpPr>
        <p:spPr>
          <a:xfrm>
            <a:off x="731520" y="2103120"/>
            <a:ext cx="10728655" cy="0"/>
          </a:xfrm>
          <a:prstGeom prst="line">
            <a:avLst/>
          </a:prstGeom>
          <a:noFill/>
          <a:ln w="6350">
            <a:solidFill>
              <a:srgbClr val="1C1916"/>
            </a:solidFill>
            <a:prstDash val="solid"/>
          </a:ln>
        </p:spPr>
      </p:sp>
      <p:sp>
        <p:nvSpPr>
          <p:cNvPr id="9" name="Shape 7"/>
          <p:cNvSpPr/>
          <p:nvPr/>
        </p:nvSpPr>
        <p:spPr>
          <a:xfrm>
            <a:off x="731520" y="3474720"/>
            <a:ext cx="10728655" cy="0"/>
          </a:xfrm>
          <a:prstGeom prst="line">
            <a:avLst/>
          </a:prstGeom>
          <a:noFill/>
          <a:ln w="6350">
            <a:solidFill>
              <a:srgbClr val="1C1916"/>
            </a:solidFill>
            <a:prstDash val="solid"/>
          </a:ln>
        </p:spPr>
      </p:sp>
      <p:sp>
        <p:nvSpPr>
          <p:cNvPr id="10" name="Shape 8"/>
          <p:cNvSpPr/>
          <p:nvPr/>
        </p:nvSpPr>
        <p:spPr>
          <a:xfrm>
            <a:off x="731520" y="4846320"/>
            <a:ext cx="10728655" cy="0"/>
          </a:xfrm>
          <a:prstGeom prst="line">
            <a:avLst/>
          </a:prstGeom>
          <a:noFill/>
          <a:ln w="6350">
            <a:solidFill>
              <a:srgbClr val="1C1916"/>
            </a:solidFill>
            <a:prstDash val="solid"/>
          </a:ln>
        </p:spPr>
      </p:sp>
      <p:sp>
        <p:nvSpPr>
          <p:cNvPr id="11" name="Shape 9"/>
          <p:cNvSpPr/>
          <p:nvPr/>
        </p:nvSpPr>
        <p:spPr>
          <a:xfrm>
            <a:off x="731520" y="6217920"/>
            <a:ext cx="10728655" cy="0"/>
          </a:xfrm>
          <a:prstGeom prst="line">
            <a:avLst/>
          </a:prstGeom>
          <a:noFill/>
          <a:ln w="6350">
            <a:solidFill>
              <a:srgbClr val="1C1916"/>
            </a:solidFill>
            <a:prstDash val="solid"/>
          </a:ln>
        </p:spPr>
      </p:sp>
      <p:sp>
        <p:nvSpPr>
          <p:cNvPr id="12" name="Text 10"/>
          <p:cNvSpPr/>
          <p:nvPr/>
        </p:nvSpPr>
        <p:spPr>
          <a:xfrm>
            <a:off x="731520" y="457200"/>
            <a:ext cx="4389120" cy="219456"/>
          </a:xfrm>
          <a:prstGeom prst="rect">
            <a:avLst/>
          </a:prstGeom>
          <a:noFill/>
          <a:ln/>
        </p:spPr>
        <p:txBody>
          <a:bodyPr wrap="square" lIns="0" tIns="0" rIns="0" bIns="0" rtlCol="0" anchor="ctr"/>
          <a:lstStyle/>
          <a:p>
            <a:pPr indent="0" marL="0">
              <a:buNone/>
            </a:pPr>
            <a:r>
              <a:rPr lang="en-US" sz="1000" b="1" spc="300" kern="0" dirty="0">
                <a:solidFill>
                  <a:srgbClr val="C69214"/>
                </a:solidFill>
                <a:latin typeface="Calibri" pitchFamily="34" charset="0"/>
                <a:ea typeface="Calibri" pitchFamily="34" charset="-122"/>
                <a:cs typeface="Calibri" pitchFamily="34" charset="-120"/>
              </a:rPr>
              <a:t>04  —  PRODUCT EXPERIENCE</a:t>
            </a:r>
            <a:endParaRPr lang="en-US" sz="1000" dirty="0"/>
          </a:p>
        </p:txBody>
      </p:sp>
      <p:sp>
        <p:nvSpPr>
          <p:cNvPr id="13" name="Text 11"/>
          <p:cNvSpPr/>
          <p:nvPr/>
        </p:nvSpPr>
        <p:spPr>
          <a:xfrm>
            <a:off x="6858000" y="457200"/>
            <a:ext cx="4602175" cy="219456"/>
          </a:xfrm>
          <a:prstGeom prst="rect">
            <a:avLst/>
          </a:prstGeom>
          <a:noFill/>
          <a:ln/>
        </p:spPr>
        <p:txBody>
          <a:bodyPr wrap="square" lIns="0" tIns="0" rIns="0" bIns="0" rtlCol="0" anchor="ctr"/>
          <a:lstStyle/>
          <a:p>
            <a:pPr algn="r" indent="0" marL="0">
              <a:buNone/>
            </a:pPr>
            <a:r>
              <a:rPr lang="en-US" sz="900" spc="200" kern="0" dirty="0">
                <a:solidFill>
                  <a:srgbClr val="8A8279"/>
                </a:solidFill>
                <a:latin typeface="Calibri" pitchFamily="34" charset="0"/>
                <a:ea typeface="Calibri" pitchFamily="34" charset="-122"/>
                <a:cs typeface="Calibri" pitchFamily="34" charset="-120"/>
              </a:rPr>
              <a:t>26.9855° N  ·  75.8513° E  AMER, RAJASTHAN</a:t>
            </a:r>
            <a:endParaRPr lang="en-US" sz="900" dirty="0"/>
          </a:p>
        </p:txBody>
      </p:sp>
      <p:sp>
        <p:nvSpPr>
          <p:cNvPr id="14" name="Text 12"/>
          <p:cNvSpPr/>
          <p:nvPr/>
        </p:nvSpPr>
        <p:spPr>
          <a:xfrm>
            <a:off x="731520" y="713232"/>
            <a:ext cx="6583680" cy="8686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FROM MAP TO MONUMENT
</a:t>
            </a:r>
            <a:pPr indent="0" marL="0">
              <a:lnSpc>
                <a:spcPct val="105000"/>
              </a:lnSpc>
              <a:buNone/>
            </a:pPr>
            <a:r>
              <a:rPr lang="en-US" sz="3200" b="1" dirty="0">
                <a:solidFill>
                  <a:srgbClr val="C69214"/>
                </a:solidFill>
                <a:latin typeface="Cambria" pitchFamily="34" charset="0"/>
                <a:ea typeface="Cambria" pitchFamily="34" charset="-122"/>
                <a:cs typeface="Cambria" pitchFamily="34" charset="-120"/>
              </a:rPr>
              <a:t>IN SECONDS.</a:t>
            </a:r>
            <a:endParaRPr lang="en-US" sz="3200" dirty="0"/>
          </a:p>
        </p:txBody>
      </p:sp>
      <p:sp>
        <p:nvSpPr>
          <p:cNvPr id="15" name="Text 13"/>
          <p:cNvSpPr/>
          <p:nvPr/>
        </p:nvSpPr>
        <p:spPr>
          <a:xfrm>
            <a:off x="731520" y="1627632"/>
            <a:ext cx="6400800" cy="256032"/>
          </a:xfrm>
          <a:prstGeom prst="rect">
            <a:avLst/>
          </a:prstGeom>
          <a:noFill/>
          <a:ln/>
        </p:spPr>
        <p:txBody>
          <a:bodyPr wrap="square" lIns="0" tIns="0" rIns="0" bIns="0" rtlCol="0" anchor="ctr"/>
          <a:lstStyle/>
          <a:p>
            <a:pPr indent="0" marL="0">
              <a:buNone/>
            </a:pPr>
            <a:r>
              <a:rPr lang="en-US" sz="1200" dirty="0">
                <a:solidFill>
                  <a:srgbClr val="E8E0D4"/>
                </a:solidFill>
                <a:latin typeface="Calibri" pitchFamily="34" charset="0"/>
                <a:ea typeface="Calibri" pitchFamily="34" charset="-122"/>
                <a:cs typeface="Calibri" pitchFamily="34" charset="-120"/>
              </a:rPr>
              <a:t>A seamless, zero-friction web flow taking travelers from national discovery to on-site audio. (Presentation &amp; Clarity)</a:t>
            </a:r>
            <a:endParaRPr lang="en-US" sz="1200" dirty="0"/>
          </a:p>
        </p:txBody>
      </p:sp>
      <p:sp>
        <p:nvSpPr>
          <p:cNvPr id="16" name="Shape 14"/>
          <p:cNvSpPr/>
          <p:nvPr/>
        </p:nvSpPr>
        <p:spPr>
          <a:xfrm>
            <a:off x="731520" y="1554480"/>
            <a:ext cx="7040880" cy="4800600"/>
          </a:xfrm>
          <a:prstGeom prst="roundRect">
            <a:avLst>
              <a:gd name="adj" fmla="val 1524"/>
            </a:avLst>
          </a:prstGeom>
          <a:solidFill>
            <a:srgbClr val="141210"/>
          </a:solidFill>
          <a:ln w="12700">
            <a:solidFill>
              <a:srgbClr val="2E2A25"/>
            </a:solidFill>
            <a:prstDash val="solid"/>
          </a:ln>
        </p:spPr>
      </p:sp>
      <p:sp>
        <p:nvSpPr>
          <p:cNvPr id="17" name="Shape 15"/>
          <p:cNvSpPr/>
          <p:nvPr/>
        </p:nvSpPr>
        <p:spPr>
          <a:xfrm>
            <a:off x="914400" y="1691640"/>
            <a:ext cx="91440" cy="91440"/>
          </a:xfrm>
          <a:prstGeom prst="ellipse">
            <a:avLst/>
          </a:prstGeom>
          <a:solidFill>
            <a:srgbClr val="FF5F56"/>
          </a:solidFill>
          <a:ln/>
        </p:spPr>
      </p:sp>
      <p:sp>
        <p:nvSpPr>
          <p:cNvPr id="18" name="Shape 16"/>
          <p:cNvSpPr/>
          <p:nvPr/>
        </p:nvSpPr>
        <p:spPr>
          <a:xfrm>
            <a:off x="1051560" y="1691640"/>
            <a:ext cx="91440" cy="91440"/>
          </a:xfrm>
          <a:prstGeom prst="ellipse">
            <a:avLst/>
          </a:prstGeom>
          <a:solidFill>
            <a:srgbClr val="FFBD2E"/>
          </a:solidFill>
          <a:ln/>
        </p:spPr>
      </p:sp>
      <p:sp>
        <p:nvSpPr>
          <p:cNvPr id="19" name="Shape 17"/>
          <p:cNvSpPr/>
          <p:nvPr/>
        </p:nvSpPr>
        <p:spPr>
          <a:xfrm>
            <a:off x="1188720" y="1691640"/>
            <a:ext cx="91440" cy="91440"/>
          </a:xfrm>
          <a:prstGeom prst="ellipse">
            <a:avLst/>
          </a:prstGeom>
          <a:solidFill>
            <a:srgbClr val="27C93F"/>
          </a:solidFill>
          <a:ln/>
        </p:spPr>
      </p:sp>
      <p:sp>
        <p:nvSpPr>
          <p:cNvPr id="20" name="Shape 18"/>
          <p:cNvSpPr/>
          <p:nvPr/>
        </p:nvSpPr>
        <p:spPr>
          <a:xfrm>
            <a:off x="2834640" y="1645920"/>
            <a:ext cx="2926080" cy="201168"/>
          </a:xfrm>
          <a:prstGeom prst="roundRect">
            <a:avLst>
              <a:gd name="adj" fmla="val 18182"/>
            </a:avLst>
          </a:prstGeom>
          <a:solidFill>
            <a:srgbClr val="1F1C18"/>
          </a:solidFill>
          <a:ln w="9525">
            <a:solidFill>
              <a:srgbClr val="2E2A25"/>
            </a:solidFill>
            <a:prstDash val="solid"/>
          </a:ln>
        </p:spPr>
      </p:sp>
      <p:sp>
        <p:nvSpPr>
          <p:cNvPr id="21" name="Text 19"/>
          <p:cNvSpPr/>
          <p:nvPr/>
        </p:nvSpPr>
        <p:spPr>
          <a:xfrm>
            <a:off x="2834640" y="1645920"/>
            <a:ext cx="2926080" cy="201168"/>
          </a:xfrm>
          <a:prstGeom prst="rect">
            <a:avLst/>
          </a:prstGeom>
          <a:noFill/>
          <a:ln/>
        </p:spPr>
        <p:txBody>
          <a:bodyPr wrap="square" lIns="0" tIns="0" rIns="0" bIns="0" rtlCol="0" anchor="ctr"/>
          <a:lstStyle/>
          <a:p>
            <a:pPr algn="ctr" indent="0" marL="0">
              <a:buNone/>
            </a:pPr>
            <a:r>
              <a:rPr lang="en-US" sz="850" dirty="0">
                <a:solidFill>
                  <a:srgbClr val="8A8279"/>
                </a:solidFill>
                <a:latin typeface="Calibri" pitchFamily="34" charset="0"/>
                <a:ea typeface="Calibri" pitchFamily="34" charset="-122"/>
                <a:cs typeface="Calibri" pitchFamily="34" charset="-120"/>
              </a:rPr>
              <a:t>herodotus.app/explore</a:t>
            </a:r>
            <a:endParaRPr lang="en-US" sz="850" dirty="0"/>
          </a:p>
        </p:txBody>
      </p:sp>
      <p:sp>
        <p:nvSpPr>
          <p:cNvPr id="22" name="Text 20"/>
          <p:cNvSpPr/>
          <p:nvPr/>
        </p:nvSpPr>
        <p:spPr>
          <a:xfrm>
            <a:off x="914400" y="1920240"/>
            <a:ext cx="1371600" cy="22860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HERODOTUS</a:t>
            </a:r>
            <a:endParaRPr lang="en-US" sz="1150" dirty="0"/>
          </a:p>
        </p:txBody>
      </p:sp>
      <p:sp>
        <p:nvSpPr>
          <p:cNvPr id="23" name="Shape 21"/>
          <p:cNvSpPr/>
          <p:nvPr/>
        </p:nvSpPr>
        <p:spPr>
          <a:xfrm>
            <a:off x="2377440" y="1901952"/>
            <a:ext cx="1828800" cy="228600"/>
          </a:xfrm>
          <a:prstGeom prst="roundRect">
            <a:avLst>
              <a:gd name="adj" fmla="val 16000"/>
            </a:avLst>
          </a:prstGeom>
          <a:solidFill>
            <a:srgbClr val="1A1714"/>
          </a:solidFill>
          <a:ln w="9525">
            <a:solidFill>
              <a:srgbClr val="2E2A25"/>
            </a:solidFill>
            <a:prstDash val="solid"/>
          </a:ln>
        </p:spPr>
      </p:sp>
      <p:sp>
        <p:nvSpPr>
          <p:cNvPr id="24" name="Text 22"/>
          <p:cNvSpPr/>
          <p:nvPr/>
        </p:nvSpPr>
        <p:spPr>
          <a:xfrm>
            <a:off x="2423160" y="1901952"/>
            <a:ext cx="1737360" cy="228600"/>
          </a:xfrm>
          <a:prstGeom prst="rect">
            <a:avLst/>
          </a:prstGeom>
          <a:noFill/>
          <a:ln/>
        </p:spPr>
        <p:txBody>
          <a:bodyPr wrap="square" lIns="0" tIns="0" rIns="0" bIns="0" rtlCol="0" anchor="ctr"/>
          <a:lstStyle/>
          <a:p>
            <a:pPr indent="0" marL="0">
              <a:buNone/>
            </a:pPr>
            <a:r>
              <a:rPr lang="en-US" sz="750" dirty="0">
                <a:solidFill>
                  <a:srgbClr val="8A8279"/>
                </a:solidFill>
                <a:latin typeface="Calibri" pitchFamily="34" charset="0"/>
                <a:ea typeface="Calibri" pitchFamily="34" charset="-122"/>
                <a:cs typeface="Calibri" pitchFamily="34" charset="-120"/>
              </a:rPr>
              <a:t>🔍 Search a monument, city or state</a:t>
            </a:r>
            <a:endParaRPr lang="en-US" sz="750" dirty="0"/>
          </a:p>
        </p:txBody>
      </p:sp>
      <p:sp>
        <p:nvSpPr>
          <p:cNvPr id="25" name="Shape 23"/>
          <p:cNvSpPr/>
          <p:nvPr/>
        </p:nvSpPr>
        <p:spPr>
          <a:xfrm>
            <a:off x="4343400" y="1901952"/>
            <a:ext cx="621792" cy="228600"/>
          </a:xfrm>
          <a:prstGeom prst="roundRect">
            <a:avLst>
              <a:gd name="adj" fmla="val 16000"/>
            </a:avLst>
          </a:prstGeom>
          <a:solidFill>
            <a:srgbClr val="262016"/>
          </a:solidFill>
          <a:ln w="9525">
            <a:solidFill>
              <a:srgbClr val="C69214"/>
            </a:solidFill>
            <a:prstDash val="solid"/>
          </a:ln>
        </p:spPr>
      </p:sp>
      <p:sp>
        <p:nvSpPr>
          <p:cNvPr id="26" name="Text 24"/>
          <p:cNvSpPr/>
          <p:nvPr/>
        </p:nvSpPr>
        <p:spPr>
          <a:xfrm>
            <a:off x="4343400" y="1901952"/>
            <a:ext cx="621792" cy="228600"/>
          </a:xfrm>
          <a:prstGeom prst="rect">
            <a:avLst/>
          </a:prstGeom>
          <a:noFill/>
          <a:ln/>
        </p:spPr>
        <p:txBody>
          <a:bodyPr wrap="square" lIns="0" tIns="0" rIns="0" bIns="0" rtlCol="0" anchor="ctr"/>
          <a:lstStyle/>
          <a:p>
            <a:pPr algn="ctr" indent="0" marL="0">
              <a:buNone/>
            </a:pPr>
            <a:r>
              <a:rPr lang="en-US" sz="700" b="1" dirty="0">
                <a:solidFill>
                  <a:srgbClr val="C69214"/>
                </a:solidFill>
                <a:latin typeface="Calibri" pitchFamily="34" charset="0"/>
                <a:ea typeface="Calibri" pitchFamily="34" charset="-122"/>
                <a:cs typeface="Calibri" pitchFamily="34" charset="-120"/>
              </a:rPr>
              <a:t>ALL ERAS</a:t>
            </a:r>
            <a:endParaRPr lang="en-US" sz="700" dirty="0"/>
          </a:p>
        </p:txBody>
      </p:sp>
      <p:sp>
        <p:nvSpPr>
          <p:cNvPr id="27" name="Shape 25"/>
          <p:cNvSpPr/>
          <p:nvPr/>
        </p:nvSpPr>
        <p:spPr>
          <a:xfrm>
            <a:off x="5029200" y="1901952"/>
            <a:ext cx="621792" cy="228600"/>
          </a:xfrm>
          <a:prstGeom prst="roundRect">
            <a:avLst>
              <a:gd name="adj" fmla="val 16000"/>
            </a:avLst>
          </a:prstGeom>
          <a:solidFill>
            <a:srgbClr val="1A1714"/>
          </a:solidFill>
          <a:ln w="9525">
            <a:solidFill>
              <a:srgbClr val="2E2A25"/>
            </a:solidFill>
            <a:prstDash val="solid"/>
          </a:ln>
        </p:spPr>
      </p:sp>
      <p:sp>
        <p:nvSpPr>
          <p:cNvPr id="28" name="Text 26"/>
          <p:cNvSpPr/>
          <p:nvPr/>
        </p:nvSpPr>
        <p:spPr>
          <a:xfrm>
            <a:off x="5029200" y="1901952"/>
            <a:ext cx="621792" cy="228600"/>
          </a:xfrm>
          <a:prstGeom prst="rect">
            <a:avLst/>
          </a:prstGeom>
          <a:noFill/>
          <a:ln/>
        </p:spPr>
        <p:txBody>
          <a:bodyPr wrap="square" lIns="0" tIns="0" rIns="0" bIns="0" rtlCol="0" anchor="ctr"/>
          <a:lstStyle/>
          <a:p>
            <a:pPr algn="ctr" indent="0" marL="0">
              <a:buNone/>
            </a:pPr>
            <a:r>
              <a:rPr lang="en-US" sz="700" b="1" dirty="0">
                <a:solidFill>
                  <a:srgbClr val="8A8279"/>
                </a:solidFill>
                <a:latin typeface="Calibri" pitchFamily="34" charset="0"/>
                <a:ea typeface="Calibri" pitchFamily="34" charset="-122"/>
                <a:cs typeface="Calibri" pitchFamily="34" charset="-120"/>
              </a:rPr>
              <a:t>FORTS</a:t>
            </a:r>
            <a:endParaRPr lang="en-US" sz="700" dirty="0"/>
          </a:p>
        </p:txBody>
      </p:sp>
      <p:sp>
        <p:nvSpPr>
          <p:cNvPr id="29" name="Shape 27"/>
          <p:cNvSpPr/>
          <p:nvPr/>
        </p:nvSpPr>
        <p:spPr>
          <a:xfrm>
            <a:off x="5715000" y="1901952"/>
            <a:ext cx="621792" cy="228600"/>
          </a:xfrm>
          <a:prstGeom prst="roundRect">
            <a:avLst>
              <a:gd name="adj" fmla="val 16000"/>
            </a:avLst>
          </a:prstGeom>
          <a:solidFill>
            <a:srgbClr val="1A1714"/>
          </a:solidFill>
          <a:ln w="9525">
            <a:solidFill>
              <a:srgbClr val="2E2A25"/>
            </a:solidFill>
            <a:prstDash val="solid"/>
          </a:ln>
        </p:spPr>
      </p:sp>
      <p:sp>
        <p:nvSpPr>
          <p:cNvPr id="30" name="Text 28"/>
          <p:cNvSpPr/>
          <p:nvPr/>
        </p:nvSpPr>
        <p:spPr>
          <a:xfrm>
            <a:off x="5715000" y="1901952"/>
            <a:ext cx="621792" cy="228600"/>
          </a:xfrm>
          <a:prstGeom prst="rect">
            <a:avLst/>
          </a:prstGeom>
          <a:noFill/>
          <a:ln/>
        </p:spPr>
        <p:txBody>
          <a:bodyPr wrap="square" lIns="0" tIns="0" rIns="0" bIns="0" rtlCol="0" anchor="ctr"/>
          <a:lstStyle/>
          <a:p>
            <a:pPr algn="ctr" indent="0" marL="0">
              <a:buNone/>
            </a:pPr>
            <a:r>
              <a:rPr lang="en-US" sz="700" b="1" dirty="0">
                <a:solidFill>
                  <a:srgbClr val="8A8279"/>
                </a:solidFill>
                <a:latin typeface="Calibri" pitchFamily="34" charset="0"/>
                <a:ea typeface="Calibri" pitchFamily="34" charset="-122"/>
                <a:cs typeface="Calibri" pitchFamily="34" charset="-120"/>
              </a:rPr>
              <a:t>TEMPLES</a:t>
            </a:r>
            <a:endParaRPr lang="en-US" sz="700" dirty="0"/>
          </a:p>
        </p:txBody>
      </p:sp>
      <p:sp>
        <p:nvSpPr>
          <p:cNvPr id="31" name="Text 29"/>
          <p:cNvSpPr/>
          <p:nvPr/>
        </p:nvSpPr>
        <p:spPr>
          <a:xfrm>
            <a:off x="6675120" y="1920240"/>
            <a:ext cx="960120" cy="201168"/>
          </a:xfrm>
          <a:prstGeom prst="rect">
            <a:avLst/>
          </a:prstGeom>
          <a:noFill/>
          <a:ln/>
        </p:spPr>
        <p:txBody>
          <a:bodyPr wrap="square" lIns="0" tIns="0" rIns="0" bIns="0" rtlCol="0" anchor="ctr"/>
          <a:lstStyle/>
          <a:p>
            <a:pPr algn="r" indent="0" marL="0">
              <a:buNone/>
            </a:pPr>
            <a:r>
              <a:rPr lang="en-US" sz="750" dirty="0">
                <a:solidFill>
                  <a:srgbClr val="8A8279"/>
                </a:solidFill>
                <a:latin typeface="Calibri" pitchFamily="34" charset="0"/>
                <a:ea typeface="Calibri" pitchFamily="34" charset="-122"/>
                <a:cs typeface="Calibri" pitchFamily="34" charset="-120"/>
              </a:rPr>
              <a:t>36 RECORDS</a:t>
            </a:r>
            <a:endParaRPr lang="en-US" sz="750" dirty="0"/>
          </a:p>
        </p:txBody>
      </p:sp>
      <p:pic>
        <p:nvPicPr>
          <p:cNvPr id="32" name="Image 0" descr="/Users/krishnajangid/.gemini/antigravity/brain/0257ec97-0b88-48e3-abaf-ced68cd3ce48/india_heritage_map_1789407014836.jpg">    </p:cNvPr>
          <p:cNvPicPr>
            <a:picLocks noChangeAspect="1"/>
          </p:cNvPicPr>
          <p:nvPr/>
        </p:nvPicPr>
        <p:blipFill>
          <a:blip r:embed="rId1"/>
          <a:stretch>
            <a:fillRect/>
          </a:stretch>
        </p:blipFill>
        <p:spPr>
          <a:xfrm>
            <a:off x="868680" y="2240280"/>
            <a:ext cx="3291840" cy="3931920"/>
          </a:xfrm>
          <a:prstGeom prst="rect">
            <a:avLst/>
          </a:prstGeom>
        </p:spPr>
      </p:pic>
      <p:sp>
        <p:nvSpPr>
          <p:cNvPr id="33" name="Text 30"/>
          <p:cNvSpPr/>
          <p:nvPr/>
        </p:nvSpPr>
        <p:spPr>
          <a:xfrm>
            <a:off x="960120" y="2331720"/>
            <a:ext cx="2286000" cy="182880"/>
          </a:xfrm>
          <a:prstGeom prst="rect">
            <a:avLst/>
          </a:prstGeom>
          <a:noFill/>
          <a:ln/>
        </p:spPr>
        <p:txBody>
          <a:bodyPr wrap="square" lIns="0" tIns="0" rIns="0" bIns="0" rtlCol="0" anchor="ctr"/>
          <a:lstStyle/>
          <a:p>
            <a:pPr indent="0" marL="0">
              <a:buNone/>
            </a:pPr>
            <a:r>
              <a:rPr lang="en-US" sz="750" dirty="0">
                <a:solidFill>
                  <a:srgbClr val="8A8279"/>
                </a:solidFill>
                <a:latin typeface="Calibri" pitchFamily="34" charset="0"/>
                <a:ea typeface="Calibri" pitchFamily="34" charset="-122"/>
                <a:cs typeface="Calibri" pitchFamily="34" charset="-120"/>
              </a:rPr>
              <a:t>NATIONAL VIEW  ·  ZOOM LV 05</a:t>
            </a:r>
            <a:endParaRPr lang="en-US" sz="750" dirty="0"/>
          </a:p>
        </p:txBody>
      </p:sp>
      <p:sp>
        <p:nvSpPr>
          <p:cNvPr id="34" name="Shape 31"/>
          <p:cNvSpPr/>
          <p:nvPr/>
        </p:nvSpPr>
        <p:spPr>
          <a:xfrm>
            <a:off x="2093976" y="3419856"/>
            <a:ext cx="292608" cy="292608"/>
          </a:xfrm>
          <a:prstGeom prst="ellipse">
            <a:avLst/>
          </a:prstGeom>
          <a:solidFill>
            <a:srgbClr val="C69214">
              <a:alpha val="15000"/>
            </a:srgbClr>
          </a:solidFill>
          <a:ln w="12700">
            <a:solidFill>
              <a:srgbClr val="C69214"/>
            </a:solidFill>
            <a:prstDash val="dash"/>
          </a:ln>
        </p:spPr>
      </p:sp>
      <p:sp>
        <p:nvSpPr>
          <p:cNvPr id="35" name="Shape 32"/>
          <p:cNvSpPr/>
          <p:nvPr/>
        </p:nvSpPr>
        <p:spPr>
          <a:xfrm>
            <a:off x="2167128" y="3493008"/>
            <a:ext cx="146304" cy="146304"/>
          </a:xfrm>
          <a:prstGeom prst="ellipse">
            <a:avLst/>
          </a:prstGeom>
          <a:noFill/>
          <a:ln w="19050">
            <a:solidFill>
              <a:srgbClr val="C69214"/>
            </a:solidFill>
            <a:prstDash val="solid"/>
          </a:ln>
        </p:spPr>
      </p:sp>
      <p:sp>
        <p:nvSpPr>
          <p:cNvPr id="36" name="Shape 33"/>
          <p:cNvSpPr/>
          <p:nvPr/>
        </p:nvSpPr>
        <p:spPr>
          <a:xfrm>
            <a:off x="2208276" y="3534156"/>
            <a:ext cx="64008" cy="64008"/>
          </a:xfrm>
          <a:prstGeom prst="ellipse">
            <a:avLst/>
          </a:prstGeom>
          <a:solidFill>
            <a:srgbClr val="C69214"/>
          </a:solidFill>
          <a:ln/>
        </p:spPr>
      </p:sp>
      <p:sp>
        <p:nvSpPr>
          <p:cNvPr id="37" name="Shape 34"/>
          <p:cNvSpPr/>
          <p:nvPr/>
        </p:nvSpPr>
        <p:spPr>
          <a:xfrm>
            <a:off x="960120" y="5669280"/>
            <a:ext cx="228600" cy="228600"/>
          </a:xfrm>
          <a:prstGeom prst="roundRect">
            <a:avLst>
              <a:gd name="adj" fmla="val 12000"/>
            </a:avLst>
          </a:prstGeom>
          <a:solidFill>
            <a:srgbClr val="1A1714"/>
          </a:solidFill>
          <a:ln w="9525">
            <a:solidFill>
              <a:srgbClr val="2E2A25"/>
            </a:solidFill>
            <a:prstDash val="solid"/>
          </a:ln>
        </p:spPr>
      </p:sp>
      <p:sp>
        <p:nvSpPr>
          <p:cNvPr id="38" name="Text 35"/>
          <p:cNvSpPr/>
          <p:nvPr/>
        </p:nvSpPr>
        <p:spPr>
          <a:xfrm>
            <a:off x="960120" y="5669280"/>
            <a:ext cx="22860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9" name="Shape 36"/>
          <p:cNvSpPr/>
          <p:nvPr/>
        </p:nvSpPr>
        <p:spPr>
          <a:xfrm>
            <a:off x="960120" y="5943600"/>
            <a:ext cx="228600" cy="228600"/>
          </a:xfrm>
          <a:prstGeom prst="roundRect">
            <a:avLst>
              <a:gd name="adj" fmla="val 12000"/>
            </a:avLst>
          </a:prstGeom>
          <a:solidFill>
            <a:srgbClr val="1A1714"/>
          </a:solidFill>
          <a:ln w="9525">
            <a:solidFill>
              <a:srgbClr val="2E2A25"/>
            </a:solidFill>
            <a:prstDash val="solid"/>
          </a:ln>
        </p:spPr>
      </p:sp>
      <p:sp>
        <p:nvSpPr>
          <p:cNvPr id="40" name="Text 37"/>
          <p:cNvSpPr/>
          <p:nvPr/>
        </p:nvSpPr>
        <p:spPr>
          <a:xfrm>
            <a:off x="960120" y="5943600"/>
            <a:ext cx="228600"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41" name="Text 38"/>
          <p:cNvSpPr/>
          <p:nvPr/>
        </p:nvSpPr>
        <p:spPr>
          <a:xfrm>
            <a:off x="1280160" y="5971032"/>
            <a:ext cx="914400" cy="182880"/>
          </a:xfrm>
          <a:prstGeom prst="rect">
            <a:avLst/>
          </a:prstGeom>
          <a:noFill/>
          <a:ln/>
        </p:spPr>
        <p:txBody>
          <a:bodyPr wrap="square" lIns="0" tIns="0" rIns="0" bIns="0" rtlCol="0" anchor="ctr"/>
          <a:lstStyle/>
          <a:p>
            <a:pPr indent="0" marL="0">
              <a:buNone/>
            </a:pPr>
            <a:r>
              <a:rPr lang="en-US" sz="700" dirty="0">
                <a:solidFill>
                  <a:srgbClr val="8A8279"/>
                </a:solidFill>
                <a:latin typeface="Calibri" pitchFamily="34" charset="0"/>
                <a:ea typeface="Calibri" pitchFamily="34" charset="-122"/>
                <a:cs typeface="Calibri" pitchFamily="34" charset="-120"/>
              </a:rPr>
              <a:t>500 KM ├───┤</a:t>
            </a:r>
            <a:endParaRPr lang="en-US" sz="700" dirty="0"/>
          </a:p>
        </p:txBody>
      </p:sp>
      <p:pic>
        <p:nvPicPr>
          <p:cNvPr id="42" name="Image 1" descr="/Users/krishnajangid/.gemini/antigravity/brain/0257ec97-0b88-48e3-abaf-ced68cd3ce48/amber_fort_crop_1789383125173.jpg">    </p:cNvPr>
          <p:cNvPicPr>
            <a:picLocks noChangeAspect="1"/>
          </p:cNvPicPr>
          <p:nvPr/>
        </p:nvPicPr>
        <p:blipFill>
          <a:blip r:embed="rId2"/>
          <a:srcRect l="0" r="0" t="0" b="0"/>
          <a:stretch/>
        </p:blipFill>
        <p:spPr>
          <a:xfrm>
            <a:off x="4069080" y="2331720"/>
            <a:ext cx="3520440" cy="1188720"/>
          </a:xfrm>
          <a:prstGeom prst="rect">
            <a:avLst/>
          </a:prstGeom>
        </p:spPr>
      </p:pic>
      <p:sp>
        <p:nvSpPr>
          <p:cNvPr id="43" name="Shape 39"/>
          <p:cNvSpPr/>
          <p:nvPr/>
        </p:nvSpPr>
        <p:spPr>
          <a:xfrm>
            <a:off x="4206240" y="3227832"/>
            <a:ext cx="777240" cy="201168"/>
          </a:xfrm>
          <a:prstGeom prst="roundRect">
            <a:avLst>
              <a:gd name="adj" fmla="val 18182"/>
            </a:avLst>
          </a:prstGeom>
          <a:solidFill>
            <a:srgbClr val="000000">
              <a:alpha val="60000"/>
            </a:srgbClr>
          </a:solidFill>
          <a:ln w="9525">
            <a:solidFill>
              <a:srgbClr val="D4A856"/>
            </a:solidFill>
            <a:prstDash val="solid"/>
          </a:ln>
        </p:spPr>
      </p:sp>
      <p:sp>
        <p:nvSpPr>
          <p:cNvPr id="44" name="Text 40"/>
          <p:cNvSpPr/>
          <p:nvPr/>
        </p:nvSpPr>
        <p:spPr>
          <a:xfrm>
            <a:off x="4206240" y="3227832"/>
            <a:ext cx="777240"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  +2 PHOTOS</a:t>
            </a:r>
            <a:endParaRPr lang="en-US" sz="700" dirty="0"/>
          </a:p>
        </p:txBody>
      </p:sp>
      <p:sp>
        <p:nvSpPr>
          <p:cNvPr id="45" name="Shape 41"/>
          <p:cNvSpPr/>
          <p:nvPr/>
        </p:nvSpPr>
        <p:spPr>
          <a:xfrm>
            <a:off x="6263640" y="3227832"/>
            <a:ext cx="1188720" cy="201168"/>
          </a:xfrm>
          <a:prstGeom prst="roundRect">
            <a:avLst>
              <a:gd name="adj" fmla="val 18182"/>
            </a:avLst>
          </a:prstGeom>
          <a:solidFill>
            <a:srgbClr val="000000">
              <a:alpha val="60000"/>
            </a:srgbClr>
          </a:solidFill>
          <a:ln w="9525">
            <a:solidFill>
              <a:srgbClr val="665F55"/>
            </a:solidFill>
            <a:prstDash val="solid"/>
          </a:ln>
        </p:spPr>
      </p:sp>
      <p:sp>
        <p:nvSpPr>
          <p:cNvPr id="46" name="Text 42"/>
          <p:cNvSpPr/>
          <p:nvPr/>
        </p:nvSpPr>
        <p:spPr>
          <a:xfrm>
            <a:off x="6263640" y="3227832"/>
            <a:ext cx="1188720" cy="201168"/>
          </a:xfrm>
          <a:prstGeom prst="rect">
            <a:avLst/>
          </a:prstGeom>
          <a:noFill/>
          <a:ln/>
        </p:spPr>
        <p:txBody>
          <a:bodyPr wrap="square" lIns="0" tIns="0" rIns="0" bIns="0" rtlCol="0" anchor="ctr"/>
          <a:lstStyle/>
          <a:p>
            <a:pPr algn="ctr" indent="0" marL="0">
              <a:buNone/>
            </a:pPr>
            <a:r>
              <a:rPr lang="en-US" sz="700" b="1" dirty="0">
                <a:solidFill>
                  <a:srgbClr val="E8E0D4"/>
                </a:solidFill>
                <a:latin typeface="Calibri" pitchFamily="34" charset="0"/>
                <a:ea typeface="Calibri" pitchFamily="34" charset="-122"/>
                <a:cs typeface="Calibri" pitchFamily="34" charset="-120"/>
              </a:rPr>
              <a:t>RECORD IN-RJ-014</a:t>
            </a:r>
            <a:endParaRPr lang="en-US" sz="700" dirty="0"/>
          </a:p>
        </p:txBody>
      </p:sp>
      <p:sp>
        <p:nvSpPr>
          <p:cNvPr id="47" name="Shape 43"/>
          <p:cNvSpPr/>
          <p:nvPr/>
        </p:nvSpPr>
        <p:spPr>
          <a:xfrm>
            <a:off x="4069080" y="3520440"/>
            <a:ext cx="3520440" cy="2651760"/>
          </a:xfrm>
          <a:prstGeom prst="roundRect">
            <a:avLst>
              <a:gd name="adj" fmla="val 2069"/>
            </a:avLst>
          </a:prstGeom>
          <a:solidFill>
            <a:srgbClr val="F5F0E8"/>
          </a:solidFill>
          <a:ln w="12700">
            <a:solidFill>
              <a:srgbClr val="D9D0C3"/>
            </a:solidFill>
            <a:prstDash val="solid"/>
          </a:ln>
        </p:spPr>
      </p:sp>
      <p:sp>
        <p:nvSpPr>
          <p:cNvPr id="48" name="Shape 44"/>
          <p:cNvSpPr/>
          <p:nvPr/>
        </p:nvSpPr>
        <p:spPr>
          <a:xfrm>
            <a:off x="4251960" y="3657600"/>
            <a:ext cx="2377440" cy="201168"/>
          </a:xfrm>
          <a:prstGeom prst="roundRect">
            <a:avLst>
              <a:gd name="adj" fmla="val 18182"/>
            </a:avLst>
          </a:prstGeom>
          <a:solidFill>
            <a:srgbClr val="E8E0D4"/>
          </a:solidFill>
          <a:ln w="9525">
            <a:solidFill>
              <a:srgbClr val="D9D0C3"/>
            </a:solidFill>
            <a:prstDash val="solid"/>
          </a:ln>
        </p:spPr>
      </p:sp>
      <p:sp>
        <p:nvSpPr>
          <p:cNvPr id="49" name="Text 45"/>
          <p:cNvSpPr/>
          <p:nvPr/>
        </p:nvSpPr>
        <p:spPr>
          <a:xfrm>
            <a:off x="4251960" y="3657600"/>
            <a:ext cx="2377440" cy="201168"/>
          </a:xfrm>
          <a:prstGeom prst="rect">
            <a:avLst/>
          </a:prstGeom>
          <a:noFill/>
          <a:ln/>
        </p:spPr>
        <p:txBody>
          <a:bodyPr wrap="square" lIns="0" tIns="0" rIns="0" bIns="0" rtlCol="0" anchor="ctr"/>
          <a:lstStyle/>
          <a:p>
            <a:pPr algn="ctr" indent="0" marL="0">
              <a:buNone/>
            </a:pPr>
            <a:r>
              <a:rPr lang="en-US" sz="750" b="1" dirty="0">
                <a:solidFill>
                  <a:srgbClr val="665F55"/>
                </a:solidFill>
                <a:latin typeface="Calibri" pitchFamily="34" charset="0"/>
                <a:ea typeface="Calibri" pitchFamily="34" charset="-122"/>
                <a:cs typeface="Calibri" pitchFamily="34" charset="-120"/>
              </a:rPr>
              <a:t>UNESCO  ·  HILL FORTS OF RAJASTHAN</a:t>
            </a:r>
            <a:endParaRPr lang="en-US" sz="750" dirty="0"/>
          </a:p>
        </p:txBody>
      </p:sp>
      <p:sp>
        <p:nvSpPr>
          <p:cNvPr id="50" name="Text 46"/>
          <p:cNvSpPr/>
          <p:nvPr/>
        </p:nvSpPr>
        <p:spPr>
          <a:xfrm>
            <a:off x="4251960" y="3904488"/>
            <a:ext cx="3154680" cy="320040"/>
          </a:xfrm>
          <a:prstGeom prst="rect">
            <a:avLst/>
          </a:prstGeom>
          <a:noFill/>
          <a:ln/>
        </p:spPr>
        <p:txBody>
          <a:bodyPr wrap="square" lIns="0" tIns="0" rIns="0" bIns="0" rtlCol="0" anchor="ctr"/>
          <a:lstStyle/>
          <a:p>
            <a:pPr indent="0" marL="0">
              <a:buNone/>
            </a:pPr>
            <a:r>
              <a:rPr lang="en-US" sz="2200" b="1" dirty="0">
                <a:solidFill>
                  <a:srgbClr val="111111"/>
                </a:solidFill>
                <a:latin typeface="Cambria" pitchFamily="34" charset="0"/>
                <a:ea typeface="Cambria" pitchFamily="34" charset="-122"/>
                <a:cs typeface="Cambria" pitchFamily="34" charset="-120"/>
              </a:rPr>
              <a:t>AMER FORT</a:t>
            </a:r>
            <a:endParaRPr lang="en-US" sz="2200" dirty="0"/>
          </a:p>
        </p:txBody>
      </p:sp>
      <p:sp>
        <p:nvSpPr>
          <p:cNvPr id="51" name="Text 47"/>
          <p:cNvSpPr/>
          <p:nvPr/>
        </p:nvSpPr>
        <p:spPr>
          <a:xfrm>
            <a:off x="4251960" y="4233672"/>
            <a:ext cx="3154680" cy="182880"/>
          </a:xfrm>
          <a:prstGeom prst="rect">
            <a:avLst/>
          </a:prstGeom>
          <a:noFill/>
          <a:ln/>
        </p:spPr>
        <p:txBody>
          <a:bodyPr wrap="square" lIns="0" tIns="0" rIns="0" bIns="0" rtlCol="0" anchor="ctr"/>
          <a:lstStyle/>
          <a:p>
            <a:pPr indent="0" marL="0">
              <a:buNone/>
            </a:pPr>
            <a:r>
              <a:rPr lang="en-US" sz="850" dirty="0">
                <a:solidFill>
                  <a:srgbClr val="665F55"/>
                </a:solidFill>
                <a:latin typeface="Calibri" pitchFamily="34" charset="0"/>
                <a:ea typeface="Calibri" pitchFamily="34" charset="-122"/>
                <a:cs typeface="Calibri" pitchFamily="34" charset="-120"/>
              </a:rPr>
              <a:t>AMER, JAIPUR  ·  RAJASTHAN   |   26.9855°N 75.8513°E</a:t>
            </a:r>
            <a:endParaRPr lang="en-US" sz="850" dirty="0"/>
          </a:p>
        </p:txBody>
      </p:sp>
      <p:sp>
        <p:nvSpPr>
          <p:cNvPr id="52" name="Text 48"/>
          <p:cNvSpPr/>
          <p:nvPr/>
        </p:nvSpPr>
        <p:spPr>
          <a:xfrm>
            <a:off x="4251960" y="4453128"/>
            <a:ext cx="3154680" cy="347472"/>
          </a:xfrm>
          <a:prstGeom prst="rect">
            <a:avLst/>
          </a:prstGeom>
          <a:noFill/>
          <a:ln/>
        </p:spPr>
        <p:txBody>
          <a:bodyPr wrap="square" lIns="0" tIns="0" rIns="0" bIns="0" rtlCol="0" anchor="ctr"/>
          <a:lstStyle/>
          <a:p>
            <a:pPr indent="0" marL="0">
              <a:buNone/>
            </a:pPr>
            <a:r>
              <a:rPr lang="en-US" sz="950" dirty="0">
                <a:solidFill>
                  <a:srgbClr val="333333"/>
                </a:solidFill>
                <a:latin typeface="Calibri" pitchFamily="34" charset="0"/>
                <a:ea typeface="Calibri" pitchFamily="34" charset="-122"/>
                <a:cs typeface="Calibri" pitchFamily="34" charset="-120"/>
              </a:rPr>
              <a:t>Hill fort above Maota Lake, begun in 1592 under Raja Man Singh I of Amer. Part of UNESCO Hill Forts.</a:t>
            </a:r>
            <a:endParaRPr lang="en-US" sz="950" dirty="0"/>
          </a:p>
        </p:txBody>
      </p:sp>
      <p:sp>
        <p:nvSpPr>
          <p:cNvPr id="53" name="Shape 49"/>
          <p:cNvSpPr/>
          <p:nvPr/>
        </p:nvSpPr>
        <p:spPr>
          <a:xfrm>
            <a:off x="4251960" y="4846320"/>
            <a:ext cx="3154680" cy="594360"/>
          </a:xfrm>
          <a:prstGeom prst="roundRect">
            <a:avLst>
              <a:gd name="adj" fmla="val 7692"/>
            </a:avLst>
          </a:prstGeom>
          <a:solidFill>
            <a:srgbClr val="1A1714"/>
          </a:solidFill>
          <a:ln w="12700">
            <a:solidFill>
              <a:srgbClr val="C69214"/>
            </a:solidFill>
            <a:prstDash val="solid"/>
          </a:ln>
        </p:spPr>
      </p:sp>
      <p:sp>
        <p:nvSpPr>
          <p:cNvPr id="54" name="Shape 50"/>
          <p:cNvSpPr/>
          <p:nvPr/>
        </p:nvSpPr>
        <p:spPr>
          <a:xfrm>
            <a:off x="4361688" y="4983480"/>
            <a:ext cx="320040" cy="320040"/>
          </a:xfrm>
          <a:prstGeom prst="ellipse">
            <a:avLst/>
          </a:prstGeom>
          <a:solidFill>
            <a:srgbClr val="C69214"/>
          </a:solidFill>
          <a:ln/>
        </p:spPr>
      </p:sp>
      <p:sp>
        <p:nvSpPr>
          <p:cNvPr id="55" name="Shape 51"/>
          <p:cNvSpPr/>
          <p:nvPr/>
        </p:nvSpPr>
        <p:spPr>
          <a:xfrm>
            <a:off x="4471416" y="5056632"/>
            <a:ext cx="128016" cy="164592"/>
          </a:xfrm>
          <a:prstGeom prst="rtTriangle">
            <a:avLst/>
          </a:prstGeom>
          <a:solidFill>
            <a:srgbClr val="111111"/>
          </a:solidFill>
          <a:ln w="12700">
            <a:solidFill>
              <a:srgbClr val="333333"/>
            </a:solidFill>
            <a:prstDash val="solid"/>
          </a:ln>
        </p:spPr>
      </p:sp>
      <p:sp>
        <p:nvSpPr>
          <p:cNvPr id="56" name="Text 52"/>
          <p:cNvSpPr/>
          <p:nvPr/>
        </p:nvSpPr>
        <p:spPr>
          <a:xfrm>
            <a:off x="4782312" y="4956048"/>
            <a:ext cx="1463040" cy="164592"/>
          </a:xfrm>
          <a:prstGeom prst="rect">
            <a:avLst/>
          </a:prstGeom>
          <a:noFill/>
          <a:ln/>
        </p:spPr>
        <p:txBody>
          <a:bodyPr wrap="square" lIns="0" tIns="0" rIns="0" bIns="0" rtlCol="0" anchor="ctr"/>
          <a:lstStyle/>
          <a:p>
            <a:pPr indent="0" marL="0">
              <a:buNone/>
            </a:pPr>
            <a:r>
              <a:rPr lang="en-US" sz="850" b="1" dirty="0">
                <a:solidFill>
                  <a:srgbClr val="C69214"/>
                </a:solidFill>
                <a:latin typeface="Calibri" pitchFamily="34" charset="0"/>
                <a:ea typeface="Calibri" pitchFamily="34" charset="-122"/>
                <a:cs typeface="Calibri" pitchFamily="34" charset="-120"/>
              </a:rPr>
              <a:t>PLAY AUDIO GUIDE</a:t>
            </a:r>
            <a:endParaRPr lang="en-US" sz="850" dirty="0"/>
          </a:p>
        </p:txBody>
      </p:sp>
      <p:sp>
        <p:nvSpPr>
          <p:cNvPr id="57" name="Shape 53"/>
          <p:cNvSpPr/>
          <p:nvPr/>
        </p:nvSpPr>
        <p:spPr>
          <a:xfrm>
            <a:off x="4782312" y="5221224"/>
            <a:ext cx="32004" cy="54864"/>
          </a:xfrm>
          <a:prstGeom prst="rect">
            <a:avLst/>
          </a:prstGeom>
          <a:solidFill>
            <a:srgbClr val="C69214"/>
          </a:solidFill>
          <a:ln w="12700">
            <a:solidFill>
              <a:srgbClr val="333333"/>
            </a:solidFill>
            <a:prstDash val="solid"/>
          </a:ln>
        </p:spPr>
      </p:sp>
      <p:sp>
        <p:nvSpPr>
          <p:cNvPr id="58" name="Shape 54"/>
          <p:cNvSpPr/>
          <p:nvPr/>
        </p:nvSpPr>
        <p:spPr>
          <a:xfrm>
            <a:off x="4859165" y="5193792"/>
            <a:ext cx="32004" cy="109728"/>
          </a:xfrm>
          <a:prstGeom prst="rect">
            <a:avLst/>
          </a:prstGeom>
          <a:solidFill>
            <a:srgbClr val="C69214"/>
          </a:solidFill>
          <a:ln w="12700">
            <a:solidFill>
              <a:srgbClr val="333333"/>
            </a:solidFill>
            <a:prstDash val="solid"/>
          </a:ln>
        </p:spPr>
      </p:sp>
      <p:sp>
        <p:nvSpPr>
          <p:cNvPr id="59" name="Shape 55"/>
          <p:cNvSpPr/>
          <p:nvPr/>
        </p:nvSpPr>
        <p:spPr>
          <a:xfrm>
            <a:off x="4936018" y="5166360"/>
            <a:ext cx="32004" cy="164592"/>
          </a:xfrm>
          <a:prstGeom prst="rect">
            <a:avLst/>
          </a:prstGeom>
          <a:solidFill>
            <a:srgbClr val="C69214"/>
          </a:solidFill>
          <a:ln w="12700">
            <a:solidFill>
              <a:srgbClr val="333333"/>
            </a:solidFill>
            <a:prstDash val="solid"/>
          </a:ln>
        </p:spPr>
      </p:sp>
      <p:sp>
        <p:nvSpPr>
          <p:cNvPr id="60" name="Shape 56"/>
          <p:cNvSpPr/>
          <p:nvPr/>
        </p:nvSpPr>
        <p:spPr>
          <a:xfrm>
            <a:off x="5012871" y="5202936"/>
            <a:ext cx="32004" cy="91440"/>
          </a:xfrm>
          <a:prstGeom prst="rect">
            <a:avLst/>
          </a:prstGeom>
          <a:solidFill>
            <a:srgbClr val="C69214"/>
          </a:solidFill>
          <a:ln w="12700">
            <a:solidFill>
              <a:srgbClr val="333333"/>
            </a:solidFill>
            <a:prstDash val="solid"/>
          </a:ln>
        </p:spPr>
      </p:sp>
      <p:sp>
        <p:nvSpPr>
          <p:cNvPr id="61" name="Shape 57"/>
          <p:cNvSpPr/>
          <p:nvPr/>
        </p:nvSpPr>
        <p:spPr>
          <a:xfrm>
            <a:off x="5089725" y="5148072"/>
            <a:ext cx="32004" cy="201168"/>
          </a:xfrm>
          <a:prstGeom prst="rect">
            <a:avLst/>
          </a:prstGeom>
          <a:solidFill>
            <a:srgbClr val="C69214"/>
          </a:solidFill>
          <a:ln w="12700">
            <a:solidFill>
              <a:srgbClr val="333333"/>
            </a:solidFill>
            <a:prstDash val="solid"/>
          </a:ln>
        </p:spPr>
      </p:sp>
      <p:sp>
        <p:nvSpPr>
          <p:cNvPr id="62" name="Shape 58"/>
          <p:cNvSpPr/>
          <p:nvPr/>
        </p:nvSpPr>
        <p:spPr>
          <a:xfrm>
            <a:off x="5166578" y="5175504"/>
            <a:ext cx="32004" cy="146304"/>
          </a:xfrm>
          <a:prstGeom prst="rect">
            <a:avLst/>
          </a:prstGeom>
          <a:solidFill>
            <a:srgbClr val="C69214"/>
          </a:solidFill>
          <a:ln w="12700">
            <a:solidFill>
              <a:srgbClr val="333333"/>
            </a:solidFill>
            <a:prstDash val="solid"/>
          </a:ln>
        </p:spPr>
      </p:sp>
      <p:sp>
        <p:nvSpPr>
          <p:cNvPr id="63" name="Shape 59"/>
          <p:cNvSpPr/>
          <p:nvPr/>
        </p:nvSpPr>
        <p:spPr>
          <a:xfrm>
            <a:off x="5243431" y="5212080"/>
            <a:ext cx="32004" cy="73152"/>
          </a:xfrm>
          <a:prstGeom prst="rect">
            <a:avLst/>
          </a:prstGeom>
          <a:solidFill>
            <a:srgbClr val="C69214"/>
          </a:solidFill>
          <a:ln w="12700">
            <a:solidFill>
              <a:srgbClr val="333333"/>
            </a:solidFill>
            <a:prstDash val="solid"/>
          </a:ln>
        </p:spPr>
      </p:sp>
      <p:sp>
        <p:nvSpPr>
          <p:cNvPr id="64" name="Shape 60"/>
          <p:cNvSpPr/>
          <p:nvPr/>
        </p:nvSpPr>
        <p:spPr>
          <a:xfrm>
            <a:off x="5320284" y="5184648"/>
            <a:ext cx="32004" cy="128016"/>
          </a:xfrm>
          <a:prstGeom prst="rect">
            <a:avLst/>
          </a:prstGeom>
          <a:solidFill>
            <a:srgbClr val="C69214"/>
          </a:solidFill>
          <a:ln w="12700">
            <a:solidFill>
              <a:srgbClr val="333333"/>
            </a:solidFill>
            <a:prstDash val="solid"/>
          </a:ln>
        </p:spPr>
      </p:sp>
      <p:sp>
        <p:nvSpPr>
          <p:cNvPr id="65" name="Shape 61"/>
          <p:cNvSpPr/>
          <p:nvPr/>
        </p:nvSpPr>
        <p:spPr>
          <a:xfrm>
            <a:off x="5397137" y="5157216"/>
            <a:ext cx="32004" cy="182880"/>
          </a:xfrm>
          <a:prstGeom prst="rect">
            <a:avLst/>
          </a:prstGeom>
          <a:solidFill>
            <a:srgbClr val="C69214"/>
          </a:solidFill>
          <a:ln w="12700">
            <a:solidFill>
              <a:srgbClr val="333333"/>
            </a:solidFill>
            <a:prstDash val="solid"/>
          </a:ln>
        </p:spPr>
      </p:sp>
      <p:sp>
        <p:nvSpPr>
          <p:cNvPr id="66" name="Shape 62"/>
          <p:cNvSpPr/>
          <p:nvPr/>
        </p:nvSpPr>
        <p:spPr>
          <a:xfrm>
            <a:off x="5473990" y="5138928"/>
            <a:ext cx="32004" cy="219456"/>
          </a:xfrm>
          <a:prstGeom prst="rect">
            <a:avLst/>
          </a:prstGeom>
          <a:solidFill>
            <a:srgbClr val="8A8279"/>
          </a:solidFill>
          <a:ln w="12700">
            <a:solidFill>
              <a:srgbClr val="333333"/>
            </a:solidFill>
            <a:prstDash val="solid"/>
          </a:ln>
        </p:spPr>
      </p:sp>
      <p:sp>
        <p:nvSpPr>
          <p:cNvPr id="67" name="Shape 63"/>
          <p:cNvSpPr/>
          <p:nvPr/>
        </p:nvSpPr>
        <p:spPr>
          <a:xfrm>
            <a:off x="5550843" y="5184648"/>
            <a:ext cx="32004" cy="128016"/>
          </a:xfrm>
          <a:prstGeom prst="rect">
            <a:avLst/>
          </a:prstGeom>
          <a:solidFill>
            <a:srgbClr val="8A8279"/>
          </a:solidFill>
          <a:ln w="12700">
            <a:solidFill>
              <a:srgbClr val="333333"/>
            </a:solidFill>
            <a:prstDash val="solid"/>
          </a:ln>
        </p:spPr>
      </p:sp>
      <p:sp>
        <p:nvSpPr>
          <p:cNvPr id="68" name="Shape 64"/>
          <p:cNvSpPr/>
          <p:nvPr/>
        </p:nvSpPr>
        <p:spPr>
          <a:xfrm>
            <a:off x="5627697" y="5166360"/>
            <a:ext cx="32004" cy="164592"/>
          </a:xfrm>
          <a:prstGeom prst="rect">
            <a:avLst/>
          </a:prstGeom>
          <a:solidFill>
            <a:srgbClr val="8A8279"/>
          </a:solidFill>
          <a:ln w="12700">
            <a:solidFill>
              <a:srgbClr val="333333"/>
            </a:solidFill>
            <a:prstDash val="solid"/>
          </a:ln>
        </p:spPr>
      </p:sp>
      <p:sp>
        <p:nvSpPr>
          <p:cNvPr id="69" name="Shape 65"/>
          <p:cNvSpPr/>
          <p:nvPr/>
        </p:nvSpPr>
        <p:spPr>
          <a:xfrm>
            <a:off x="5704550" y="5202936"/>
            <a:ext cx="32004" cy="91440"/>
          </a:xfrm>
          <a:prstGeom prst="rect">
            <a:avLst/>
          </a:prstGeom>
          <a:solidFill>
            <a:srgbClr val="8A8279"/>
          </a:solidFill>
          <a:ln w="12700">
            <a:solidFill>
              <a:srgbClr val="333333"/>
            </a:solidFill>
            <a:prstDash val="solid"/>
          </a:ln>
        </p:spPr>
      </p:sp>
      <p:sp>
        <p:nvSpPr>
          <p:cNvPr id="70" name="Shape 66"/>
          <p:cNvSpPr/>
          <p:nvPr/>
        </p:nvSpPr>
        <p:spPr>
          <a:xfrm>
            <a:off x="5781403" y="5180076"/>
            <a:ext cx="32004" cy="137160"/>
          </a:xfrm>
          <a:prstGeom prst="rect">
            <a:avLst/>
          </a:prstGeom>
          <a:solidFill>
            <a:srgbClr val="8A8279"/>
          </a:solidFill>
          <a:ln w="12700">
            <a:solidFill>
              <a:srgbClr val="333333"/>
            </a:solidFill>
            <a:prstDash val="solid"/>
          </a:ln>
        </p:spPr>
      </p:sp>
      <p:sp>
        <p:nvSpPr>
          <p:cNvPr id="71" name="Shape 67"/>
          <p:cNvSpPr/>
          <p:nvPr/>
        </p:nvSpPr>
        <p:spPr>
          <a:xfrm>
            <a:off x="5858256" y="5148072"/>
            <a:ext cx="32004" cy="201168"/>
          </a:xfrm>
          <a:prstGeom prst="rect">
            <a:avLst/>
          </a:prstGeom>
          <a:solidFill>
            <a:srgbClr val="8A8279"/>
          </a:solidFill>
          <a:ln w="12700">
            <a:solidFill>
              <a:srgbClr val="333333"/>
            </a:solidFill>
            <a:prstDash val="solid"/>
          </a:ln>
        </p:spPr>
      </p:sp>
      <p:sp>
        <p:nvSpPr>
          <p:cNvPr id="72" name="Shape 68"/>
          <p:cNvSpPr/>
          <p:nvPr/>
        </p:nvSpPr>
        <p:spPr>
          <a:xfrm>
            <a:off x="5935109" y="5207508"/>
            <a:ext cx="32004" cy="82296"/>
          </a:xfrm>
          <a:prstGeom prst="rect">
            <a:avLst/>
          </a:prstGeom>
          <a:solidFill>
            <a:srgbClr val="8A8279"/>
          </a:solidFill>
          <a:ln w="12700">
            <a:solidFill>
              <a:srgbClr val="333333"/>
            </a:solidFill>
            <a:prstDash val="solid"/>
          </a:ln>
        </p:spPr>
      </p:sp>
      <p:sp>
        <p:nvSpPr>
          <p:cNvPr id="73" name="Shape 69"/>
          <p:cNvSpPr/>
          <p:nvPr/>
        </p:nvSpPr>
        <p:spPr>
          <a:xfrm>
            <a:off x="6011962" y="5175504"/>
            <a:ext cx="32004" cy="146304"/>
          </a:xfrm>
          <a:prstGeom prst="rect">
            <a:avLst/>
          </a:prstGeom>
          <a:solidFill>
            <a:srgbClr val="8A8279"/>
          </a:solidFill>
          <a:ln w="12700">
            <a:solidFill>
              <a:srgbClr val="333333"/>
            </a:solidFill>
            <a:prstDash val="solid"/>
          </a:ln>
        </p:spPr>
      </p:sp>
      <p:sp>
        <p:nvSpPr>
          <p:cNvPr id="74" name="Shape 70"/>
          <p:cNvSpPr/>
          <p:nvPr/>
        </p:nvSpPr>
        <p:spPr>
          <a:xfrm>
            <a:off x="6088815" y="5193792"/>
            <a:ext cx="32004" cy="109728"/>
          </a:xfrm>
          <a:prstGeom prst="rect">
            <a:avLst/>
          </a:prstGeom>
          <a:solidFill>
            <a:srgbClr val="8A8279"/>
          </a:solidFill>
          <a:ln w="12700">
            <a:solidFill>
              <a:srgbClr val="333333"/>
            </a:solidFill>
            <a:prstDash val="solid"/>
          </a:ln>
        </p:spPr>
      </p:sp>
      <p:sp>
        <p:nvSpPr>
          <p:cNvPr id="75" name="Shape 71"/>
          <p:cNvSpPr/>
          <p:nvPr/>
        </p:nvSpPr>
        <p:spPr>
          <a:xfrm>
            <a:off x="6165669" y="5216652"/>
            <a:ext cx="32004" cy="64008"/>
          </a:xfrm>
          <a:prstGeom prst="rect">
            <a:avLst/>
          </a:prstGeom>
          <a:solidFill>
            <a:srgbClr val="8A8279"/>
          </a:solidFill>
          <a:ln w="12700">
            <a:solidFill>
              <a:srgbClr val="333333"/>
            </a:solidFill>
            <a:prstDash val="solid"/>
          </a:ln>
        </p:spPr>
      </p:sp>
      <p:sp>
        <p:nvSpPr>
          <p:cNvPr id="76" name="Shape 72"/>
          <p:cNvSpPr/>
          <p:nvPr/>
        </p:nvSpPr>
        <p:spPr>
          <a:xfrm>
            <a:off x="6242522" y="5166360"/>
            <a:ext cx="32004" cy="164592"/>
          </a:xfrm>
          <a:prstGeom prst="rect">
            <a:avLst/>
          </a:prstGeom>
          <a:solidFill>
            <a:srgbClr val="8A8279"/>
          </a:solidFill>
          <a:ln w="12700">
            <a:solidFill>
              <a:srgbClr val="333333"/>
            </a:solidFill>
            <a:prstDash val="solid"/>
          </a:ln>
        </p:spPr>
      </p:sp>
      <p:sp>
        <p:nvSpPr>
          <p:cNvPr id="77" name="Shape 73"/>
          <p:cNvSpPr/>
          <p:nvPr/>
        </p:nvSpPr>
        <p:spPr>
          <a:xfrm>
            <a:off x="6319375" y="5189220"/>
            <a:ext cx="32004" cy="118872"/>
          </a:xfrm>
          <a:prstGeom prst="rect">
            <a:avLst/>
          </a:prstGeom>
          <a:solidFill>
            <a:srgbClr val="8A8279"/>
          </a:solidFill>
          <a:ln w="12700">
            <a:solidFill>
              <a:srgbClr val="333333"/>
            </a:solidFill>
            <a:prstDash val="solid"/>
          </a:ln>
        </p:spPr>
      </p:sp>
      <p:sp>
        <p:nvSpPr>
          <p:cNvPr id="78" name="Shape 74"/>
          <p:cNvSpPr/>
          <p:nvPr/>
        </p:nvSpPr>
        <p:spPr>
          <a:xfrm>
            <a:off x="6396228" y="5212080"/>
            <a:ext cx="32004" cy="73152"/>
          </a:xfrm>
          <a:prstGeom prst="rect">
            <a:avLst/>
          </a:prstGeom>
          <a:solidFill>
            <a:srgbClr val="8A8279"/>
          </a:solidFill>
          <a:ln w="12700">
            <a:solidFill>
              <a:srgbClr val="333333"/>
            </a:solidFill>
            <a:prstDash val="solid"/>
          </a:ln>
        </p:spPr>
      </p:sp>
      <p:sp>
        <p:nvSpPr>
          <p:cNvPr id="79" name="Text 75"/>
          <p:cNvSpPr/>
          <p:nvPr/>
        </p:nvSpPr>
        <p:spPr>
          <a:xfrm>
            <a:off x="6080760" y="4983480"/>
            <a:ext cx="1234440" cy="320040"/>
          </a:xfrm>
          <a:prstGeom prst="rect">
            <a:avLst/>
          </a:prstGeom>
          <a:noFill/>
          <a:ln/>
        </p:spPr>
        <p:txBody>
          <a:bodyPr wrap="square" lIns="0" tIns="0" rIns="0" bIns="0" rtlCol="0" anchor="ctr"/>
          <a:lstStyle/>
          <a:p>
            <a:pPr algn="r" indent="0" marL="0">
              <a:buNone/>
            </a:pPr>
            <a:r>
              <a:rPr lang="en-US" sz="750" b="1" dirty="0">
                <a:solidFill>
                  <a:srgbClr val="E8E0D4"/>
                </a:solidFill>
                <a:latin typeface="Calibri" pitchFamily="34" charset="0"/>
                <a:ea typeface="Calibri" pitchFamily="34" charset="-122"/>
                <a:cs typeface="Calibri" pitchFamily="34" charset="-120"/>
              </a:rPr>
              <a:t>00:42 / 02:14</a:t>
            </a:r>
            <a:endParaRPr lang="en-US" sz="750" dirty="0"/>
          </a:p>
          <a:p>
            <a:pPr algn="r" indent="0" marL="0">
              <a:buNone/>
            </a:pPr>
            <a:r>
              <a:rPr lang="en-US" sz="750" b="1" dirty="0">
                <a:solidFill>
                  <a:srgbClr val="E8E0D4"/>
                </a:solidFill>
                <a:latin typeface="Calibri" pitchFamily="34" charset="0"/>
                <a:ea typeface="Calibri" pitchFamily="34" charset="-122"/>
                <a:cs typeface="Calibri" pitchFamily="34" charset="-120"/>
              </a:rPr>
              <a:t>BROWSER TTS</a:t>
            </a:r>
            <a:endParaRPr lang="en-US" sz="750" dirty="0"/>
          </a:p>
        </p:txBody>
      </p:sp>
      <p:sp>
        <p:nvSpPr>
          <p:cNvPr id="80" name="Text 76"/>
          <p:cNvSpPr/>
          <p:nvPr/>
        </p:nvSpPr>
        <p:spPr>
          <a:xfrm>
            <a:off x="4251960" y="5513832"/>
            <a:ext cx="1577340" cy="228600"/>
          </a:xfrm>
          <a:prstGeom prst="rect">
            <a:avLst/>
          </a:prstGeom>
          <a:noFill/>
          <a:ln/>
        </p:spPr>
        <p:txBody>
          <a:bodyPr wrap="square" lIns="0" tIns="0" rIns="0" bIns="0" rtlCol="0" anchor="ctr"/>
          <a:lstStyle/>
          <a:p>
            <a:pPr indent="0" marL="0">
              <a:buNone/>
            </a:pPr>
            <a:r>
              <a:rPr lang="en-US" sz="850" b="1" dirty="0">
                <a:solidFill>
                  <a:srgbClr val="665F55"/>
                </a:solidFill>
                <a:latin typeface="Calibri" pitchFamily="34" charset="0"/>
                <a:ea typeface="Calibri" pitchFamily="34" charset="-122"/>
                <a:cs typeface="Calibri" pitchFamily="34" charset="-120"/>
              </a:rPr>
              <a:t>TIMINGS: </a:t>
            </a:r>
            <a:pPr indent="0" marL="0">
              <a:buNone/>
            </a:pPr>
            <a:r>
              <a:rPr lang="en-US" sz="1050" b="1" dirty="0">
                <a:solidFill>
                  <a:srgbClr val="111111"/>
                </a:solidFill>
                <a:latin typeface="Calibri" pitchFamily="34" charset="0"/>
                <a:ea typeface="Calibri" pitchFamily="34" charset="-122"/>
                <a:cs typeface="Calibri" pitchFamily="34" charset="-120"/>
              </a:rPr>
              <a:t>08:00 — 18:00</a:t>
            </a:r>
            <a:endParaRPr lang="en-US" sz="850" dirty="0"/>
          </a:p>
        </p:txBody>
      </p:sp>
      <p:sp>
        <p:nvSpPr>
          <p:cNvPr id="81" name="Text 77"/>
          <p:cNvSpPr/>
          <p:nvPr/>
        </p:nvSpPr>
        <p:spPr>
          <a:xfrm>
            <a:off x="5829300" y="5513832"/>
            <a:ext cx="1577340" cy="228600"/>
          </a:xfrm>
          <a:prstGeom prst="rect">
            <a:avLst/>
          </a:prstGeom>
          <a:noFill/>
          <a:ln/>
        </p:spPr>
        <p:txBody>
          <a:bodyPr wrap="square" lIns="0" tIns="0" rIns="0" bIns="0" rtlCol="0" anchor="ctr"/>
          <a:lstStyle/>
          <a:p>
            <a:pPr algn="r" indent="0" marL="0">
              <a:buNone/>
            </a:pPr>
            <a:r>
              <a:rPr lang="en-US" sz="850" b="1" dirty="0">
                <a:solidFill>
                  <a:srgbClr val="665F55"/>
                </a:solidFill>
                <a:latin typeface="Calibri" pitchFamily="34" charset="0"/>
                <a:ea typeface="Calibri" pitchFamily="34" charset="-122"/>
                <a:cs typeface="Calibri" pitchFamily="34" charset="-120"/>
              </a:rPr>
              <a:t>ENTRY FEE: </a:t>
            </a:r>
            <a:pPr algn="r" indent="0" marL="0">
              <a:buNone/>
            </a:pPr>
            <a:r>
              <a:rPr lang="en-US" sz="1050" b="1" dirty="0">
                <a:solidFill>
                  <a:srgbClr val="111111"/>
                </a:solidFill>
                <a:latin typeface="Calibri" pitchFamily="34" charset="0"/>
                <a:ea typeface="Calibri" pitchFamily="34" charset="-122"/>
                <a:cs typeface="Calibri" pitchFamily="34" charset="-120"/>
              </a:rPr>
              <a:t>₹200 IND / ₹1,000 INTL</a:t>
            </a:r>
            <a:endParaRPr lang="en-US" sz="850" dirty="0"/>
          </a:p>
        </p:txBody>
      </p:sp>
      <p:sp>
        <p:nvSpPr>
          <p:cNvPr id="82" name="Shape 78"/>
          <p:cNvSpPr/>
          <p:nvPr/>
        </p:nvSpPr>
        <p:spPr>
          <a:xfrm>
            <a:off x="4251960" y="5824728"/>
            <a:ext cx="1508760" cy="347472"/>
          </a:xfrm>
          <a:prstGeom prst="roundRect">
            <a:avLst>
              <a:gd name="adj" fmla="val 13158"/>
            </a:avLst>
          </a:prstGeom>
          <a:solidFill>
            <a:srgbClr val="1A1714"/>
          </a:solidFill>
          <a:ln w="12700">
            <a:solidFill>
              <a:srgbClr val="2E2A25"/>
            </a:solidFill>
            <a:prstDash val="solid"/>
          </a:ln>
        </p:spPr>
      </p:sp>
      <p:sp>
        <p:nvSpPr>
          <p:cNvPr id="83" name="Text 79"/>
          <p:cNvSpPr/>
          <p:nvPr/>
        </p:nvSpPr>
        <p:spPr>
          <a:xfrm>
            <a:off x="4251960" y="5824728"/>
            <a:ext cx="15087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VIEW TICKETS</a:t>
            </a:r>
            <a:endParaRPr lang="en-US" sz="850" dirty="0"/>
          </a:p>
        </p:txBody>
      </p:sp>
      <p:sp>
        <p:nvSpPr>
          <p:cNvPr id="84" name="Shape 80"/>
          <p:cNvSpPr/>
          <p:nvPr/>
        </p:nvSpPr>
        <p:spPr>
          <a:xfrm>
            <a:off x="5897880" y="5824728"/>
            <a:ext cx="1508760" cy="347472"/>
          </a:xfrm>
          <a:prstGeom prst="roundRect">
            <a:avLst>
              <a:gd name="adj" fmla="val 13158"/>
            </a:avLst>
          </a:prstGeom>
          <a:solidFill>
            <a:srgbClr val="FFFFFF"/>
          </a:solidFill>
          <a:ln w="12700">
            <a:solidFill>
              <a:srgbClr val="665F55"/>
            </a:solidFill>
            <a:prstDash val="solid"/>
          </a:ln>
        </p:spPr>
      </p:sp>
      <p:sp>
        <p:nvSpPr>
          <p:cNvPr id="85" name="Text 81"/>
          <p:cNvSpPr/>
          <p:nvPr/>
        </p:nvSpPr>
        <p:spPr>
          <a:xfrm>
            <a:off x="5897880" y="5824728"/>
            <a:ext cx="1508760" cy="347472"/>
          </a:xfrm>
          <a:prstGeom prst="rect">
            <a:avLst/>
          </a:prstGeom>
          <a:noFill/>
          <a:ln/>
        </p:spPr>
        <p:txBody>
          <a:bodyPr wrap="square" lIns="0" tIns="0" rIns="0" bIns="0" rtlCol="0" anchor="ctr"/>
          <a:lstStyle/>
          <a:p>
            <a:pPr algn="ctr" indent="0" marL="0">
              <a:buNone/>
            </a:pPr>
            <a:r>
              <a:rPr lang="en-US" sz="850" b="1" dirty="0">
                <a:solidFill>
                  <a:srgbClr val="111111"/>
                </a:solidFill>
                <a:latin typeface="Calibri" pitchFamily="34" charset="0"/>
                <a:ea typeface="Calibri" pitchFamily="34" charset="-122"/>
                <a:cs typeface="Calibri" pitchFamily="34" charset="-120"/>
              </a:rPr>
              <a:t>GET DIRECTIONS ›</a:t>
            </a:r>
            <a:endParaRPr lang="en-US" sz="850" dirty="0"/>
          </a:p>
        </p:txBody>
      </p:sp>
      <p:sp>
        <p:nvSpPr>
          <p:cNvPr id="86" name="Shape 82"/>
          <p:cNvSpPr/>
          <p:nvPr/>
        </p:nvSpPr>
        <p:spPr>
          <a:xfrm>
            <a:off x="2386584" y="3566160"/>
            <a:ext cx="1682496" cy="-182880"/>
          </a:xfrm>
          <a:prstGeom prst="line">
            <a:avLst/>
          </a:prstGeom>
          <a:noFill/>
          <a:ln w="12700">
            <a:solidFill>
              <a:srgbClr val="C69214"/>
            </a:solidFill>
            <a:prstDash val="dash"/>
          </a:ln>
        </p:spPr>
      </p:sp>
      <p:sp>
        <p:nvSpPr>
          <p:cNvPr id="87" name="Shape 83"/>
          <p:cNvSpPr/>
          <p:nvPr/>
        </p:nvSpPr>
        <p:spPr>
          <a:xfrm>
            <a:off x="8092440" y="1783080"/>
            <a:ext cx="0" cy="2468880"/>
          </a:xfrm>
          <a:prstGeom prst="line">
            <a:avLst/>
          </a:prstGeom>
          <a:noFill/>
          <a:ln w="12700">
            <a:solidFill>
              <a:srgbClr val="C69214"/>
            </a:solidFill>
            <a:prstDash val="dash"/>
          </a:ln>
        </p:spPr>
      </p:sp>
      <p:sp>
        <p:nvSpPr>
          <p:cNvPr id="88" name="Shape 84"/>
          <p:cNvSpPr/>
          <p:nvPr/>
        </p:nvSpPr>
        <p:spPr>
          <a:xfrm>
            <a:off x="8019288" y="1645920"/>
            <a:ext cx="146304" cy="146304"/>
          </a:xfrm>
          <a:prstGeom prst="ellipse">
            <a:avLst/>
          </a:prstGeom>
          <a:solidFill>
            <a:srgbClr val="C69214"/>
          </a:solidFill>
          <a:ln/>
        </p:spPr>
      </p:sp>
      <p:sp>
        <p:nvSpPr>
          <p:cNvPr id="89" name="Text 85"/>
          <p:cNvSpPr/>
          <p:nvPr/>
        </p:nvSpPr>
        <p:spPr>
          <a:xfrm>
            <a:off x="8275320" y="1554480"/>
            <a:ext cx="2819095" cy="228600"/>
          </a:xfrm>
          <a:prstGeom prst="rect">
            <a:avLst/>
          </a:prstGeom>
          <a:noFill/>
          <a:ln/>
        </p:spPr>
        <p:txBody>
          <a:bodyPr wrap="square" lIns="0" tIns="0" rIns="0" bIns="0" rtlCol="0" anchor="ctr"/>
          <a:lstStyle/>
          <a:p>
            <a:pPr indent="0" marL="0">
              <a:buNone/>
            </a:pPr>
            <a:r>
              <a:rPr lang="en-US" sz="1400" b="1" dirty="0">
                <a:solidFill>
                  <a:srgbClr val="C69214"/>
                </a:solidFill>
                <a:latin typeface="Calibri" pitchFamily="34" charset="0"/>
                <a:ea typeface="Calibri" pitchFamily="34" charset="-122"/>
                <a:cs typeface="Calibri" pitchFamily="34" charset="-120"/>
              </a:rPr>
              <a:t>01  </a:t>
            </a:r>
            <a:pPr indent="0" marL="0">
              <a:buNone/>
            </a:pPr>
            <a:r>
              <a:rPr lang="en-US" sz="1400" b="1" dirty="0">
                <a:solidFill>
                  <a:srgbClr val="FFFFFF"/>
                </a:solidFill>
                <a:latin typeface="Calibri" pitchFamily="34" charset="0"/>
                <a:ea typeface="Calibri" pitchFamily="34" charset="-122"/>
                <a:cs typeface="Calibri" pitchFamily="34" charset="-120"/>
              </a:rPr>
              <a:t>ZOOM</a:t>
            </a:r>
            <a:endParaRPr lang="en-US" sz="1400" dirty="0"/>
          </a:p>
        </p:txBody>
      </p:sp>
      <p:sp>
        <p:nvSpPr>
          <p:cNvPr id="90" name="Text 86"/>
          <p:cNvSpPr/>
          <p:nvPr/>
        </p:nvSpPr>
        <p:spPr>
          <a:xfrm>
            <a:off x="11094415" y="1554480"/>
            <a:ext cx="320040" cy="228600"/>
          </a:xfrm>
          <a:prstGeom prst="rect">
            <a:avLst/>
          </a:prstGeom>
          <a:noFill/>
          <a:ln/>
        </p:spPr>
        <p:txBody>
          <a:bodyPr wrap="square" lIns="0" tIns="0" rIns="0" bIns="0" rtlCol="0" anchor="ctr"/>
          <a:lstStyle/>
          <a:p>
            <a:pPr algn="r" indent="0" marL="0">
              <a:buNone/>
            </a:pPr>
            <a:r>
              <a:rPr lang="en-US" sz="1200" dirty="0">
                <a:solidFill>
                  <a:srgbClr val="C69214"/>
                </a:solidFill>
                <a:latin typeface="Calibri" pitchFamily="34" charset="0"/>
                <a:ea typeface="Calibri" pitchFamily="34" charset="-122"/>
                <a:cs typeface="Calibri" pitchFamily="34" charset="-120"/>
              </a:rPr>
              <a:t>🔍</a:t>
            </a:r>
            <a:endParaRPr lang="en-US" sz="1200" dirty="0"/>
          </a:p>
        </p:txBody>
      </p:sp>
      <p:sp>
        <p:nvSpPr>
          <p:cNvPr id="91" name="Text 87"/>
          <p:cNvSpPr/>
          <p:nvPr/>
        </p:nvSpPr>
        <p:spPr>
          <a:xfrm>
            <a:off x="8275320" y="1810512"/>
            <a:ext cx="3139135" cy="457200"/>
          </a:xfrm>
          <a:prstGeom prst="rect">
            <a:avLst/>
          </a:prstGeom>
          <a:noFill/>
          <a:ln/>
        </p:spPr>
        <p:txBody>
          <a:bodyPr wrap="square" lIns="0" tIns="0" rIns="0" bIns="0" rtlCol="0" anchor="ctr"/>
          <a:lstStyle/>
          <a:p>
            <a:pPr indent="0" marL="0">
              <a:buNone/>
            </a:pPr>
            <a:r>
              <a:rPr lang="en-US" sz="1000" dirty="0">
                <a:solidFill>
                  <a:srgbClr val="E8E0D4"/>
                </a:solidFill>
                <a:latin typeface="Calibri" pitchFamily="34" charset="0"/>
                <a:ea typeface="Calibri" pitchFamily="34" charset="-122"/>
                <a:cs typeface="Calibri" pitchFamily="34" charset="-120"/>
              </a:rPr>
              <a:t>Explore India and locate a monument on the interactive 60 FPS vector map.</a:t>
            </a:r>
            <a:endParaRPr lang="en-US" sz="1000" dirty="0"/>
          </a:p>
        </p:txBody>
      </p:sp>
      <p:sp>
        <p:nvSpPr>
          <p:cNvPr id="92" name="Shape 88"/>
          <p:cNvSpPr/>
          <p:nvPr/>
        </p:nvSpPr>
        <p:spPr>
          <a:xfrm>
            <a:off x="8019288" y="2468880"/>
            <a:ext cx="146304" cy="146304"/>
          </a:xfrm>
          <a:prstGeom prst="ellipse">
            <a:avLst/>
          </a:prstGeom>
          <a:solidFill>
            <a:srgbClr val="C69214"/>
          </a:solidFill>
          <a:ln/>
        </p:spPr>
      </p:sp>
      <p:sp>
        <p:nvSpPr>
          <p:cNvPr id="93" name="Text 89"/>
          <p:cNvSpPr/>
          <p:nvPr/>
        </p:nvSpPr>
        <p:spPr>
          <a:xfrm>
            <a:off x="8275320" y="2377440"/>
            <a:ext cx="2819095" cy="228600"/>
          </a:xfrm>
          <a:prstGeom prst="rect">
            <a:avLst/>
          </a:prstGeom>
          <a:noFill/>
          <a:ln/>
        </p:spPr>
        <p:txBody>
          <a:bodyPr wrap="square" lIns="0" tIns="0" rIns="0" bIns="0" rtlCol="0" anchor="ctr"/>
          <a:lstStyle/>
          <a:p>
            <a:pPr indent="0" marL="0">
              <a:buNone/>
            </a:pPr>
            <a:r>
              <a:rPr lang="en-US" sz="1400" b="1" dirty="0">
                <a:solidFill>
                  <a:srgbClr val="C69214"/>
                </a:solidFill>
                <a:latin typeface="Calibri" pitchFamily="34" charset="0"/>
                <a:ea typeface="Calibri" pitchFamily="34" charset="-122"/>
                <a:cs typeface="Calibri" pitchFamily="34" charset="-120"/>
              </a:rPr>
              <a:t>02  </a:t>
            </a:r>
            <a:pPr indent="0" marL="0">
              <a:buNone/>
            </a:pPr>
            <a:r>
              <a:rPr lang="en-US" sz="1400" b="1" dirty="0">
                <a:solidFill>
                  <a:srgbClr val="FFFFFF"/>
                </a:solidFill>
                <a:latin typeface="Calibri" pitchFamily="34" charset="0"/>
                <a:ea typeface="Calibri" pitchFamily="34" charset="-122"/>
                <a:cs typeface="Calibri" pitchFamily="34" charset="-120"/>
              </a:rPr>
              <a:t>TAP</a:t>
            </a:r>
            <a:endParaRPr lang="en-US" sz="1400" dirty="0"/>
          </a:p>
        </p:txBody>
      </p:sp>
      <p:sp>
        <p:nvSpPr>
          <p:cNvPr id="94" name="Text 90"/>
          <p:cNvSpPr/>
          <p:nvPr/>
        </p:nvSpPr>
        <p:spPr>
          <a:xfrm>
            <a:off x="11094415" y="2377440"/>
            <a:ext cx="320040" cy="228600"/>
          </a:xfrm>
          <a:prstGeom prst="rect">
            <a:avLst/>
          </a:prstGeom>
          <a:noFill/>
          <a:ln/>
        </p:spPr>
        <p:txBody>
          <a:bodyPr wrap="square" lIns="0" tIns="0" rIns="0" bIns="0" rtlCol="0" anchor="ctr"/>
          <a:lstStyle/>
          <a:p>
            <a:pPr algn="r" indent="0" marL="0">
              <a:buNone/>
            </a:pPr>
            <a:r>
              <a:rPr lang="en-US" sz="1200" dirty="0">
                <a:solidFill>
                  <a:srgbClr val="C69214"/>
                </a:solidFill>
                <a:latin typeface="Calibri" pitchFamily="34" charset="0"/>
                <a:ea typeface="Calibri" pitchFamily="34" charset="-122"/>
                <a:cs typeface="Calibri" pitchFamily="34" charset="-120"/>
              </a:rPr>
              <a:t>📍</a:t>
            </a:r>
            <a:endParaRPr lang="en-US" sz="1200" dirty="0"/>
          </a:p>
        </p:txBody>
      </p:sp>
      <p:sp>
        <p:nvSpPr>
          <p:cNvPr id="95" name="Text 91"/>
          <p:cNvSpPr/>
          <p:nvPr/>
        </p:nvSpPr>
        <p:spPr>
          <a:xfrm>
            <a:off x="8275320" y="2633472"/>
            <a:ext cx="3139135" cy="457200"/>
          </a:xfrm>
          <a:prstGeom prst="rect">
            <a:avLst/>
          </a:prstGeom>
          <a:noFill/>
          <a:ln/>
        </p:spPr>
        <p:txBody>
          <a:bodyPr wrap="square" lIns="0" tIns="0" rIns="0" bIns="0" rtlCol="0" anchor="ctr"/>
          <a:lstStyle/>
          <a:p>
            <a:pPr indent="0" marL="0">
              <a:buNone/>
            </a:pPr>
            <a:r>
              <a:rPr lang="en-US" sz="1000" dirty="0">
                <a:solidFill>
                  <a:srgbClr val="E8E0D4"/>
                </a:solidFill>
                <a:latin typeface="Calibri" pitchFamily="34" charset="0"/>
                <a:ea typeface="Calibri" pitchFamily="34" charset="-122"/>
                <a:cs typeface="Calibri" pitchFamily="34" charset="-120"/>
              </a:rPr>
              <a:t>Open its story, photos and verified ASI visitor information with zero latency.</a:t>
            </a:r>
            <a:endParaRPr lang="en-US" sz="1000" dirty="0"/>
          </a:p>
        </p:txBody>
      </p:sp>
      <p:sp>
        <p:nvSpPr>
          <p:cNvPr id="96" name="Shape 92"/>
          <p:cNvSpPr/>
          <p:nvPr/>
        </p:nvSpPr>
        <p:spPr>
          <a:xfrm>
            <a:off x="7772400" y="2542032"/>
            <a:ext cx="246888" cy="0"/>
          </a:xfrm>
          <a:prstGeom prst="line">
            <a:avLst/>
          </a:prstGeom>
          <a:noFill/>
          <a:ln w="12700">
            <a:solidFill>
              <a:srgbClr val="C69214"/>
            </a:solidFill>
            <a:prstDash val="dash"/>
          </a:ln>
        </p:spPr>
      </p:sp>
      <p:sp>
        <p:nvSpPr>
          <p:cNvPr id="97" name="Shape 93"/>
          <p:cNvSpPr/>
          <p:nvPr/>
        </p:nvSpPr>
        <p:spPr>
          <a:xfrm>
            <a:off x="8019288" y="3291840"/>
            <a:ext cx="146304" cy="146304"/>
          </a:xfrm>
          <a:prstGeom prst="ellipse">
            <a:avLst/>
          </a:prstGeom>
          <a:solidFill>
            <a:srgbClr val="C69214"/>
          </a:solidFill>
          <a:ln/>
        </p:spPr>
      </p:sp>
      <p:sp>
        <p:nvSpPr>
          <p:cNvPr id="98" name="Text 94"/>
          <p:cNvSpPr/>
          <p:nvPr/>
        </p:nvSpPr>
        <p:spPr>
          <a:xfrm>
            <a:off x="8275320" y="3200400"/>
            <a:ext cx="2819095" cy="228600"/>
          </a:xfrm>
          <a:prstGeom prst="rect">
            <a:avLst/>
          </a:prstGeom>
          <a:noFill/>
          <a:ln/>
        </p:spPr>
        <p:txBody>
          <a:bodyPr wrap="square" lIns="0" tIns="0" rIns="0" bIns="0" rtlCol="0" anchor="ctr"/>
          <a:lstStyle/>
          <a:p>
            <a:pPr indent="0" marL="0">
              <a:buNone/>
            </a:pPr>
            <a:r>
              <a:rPr lang="en-US" sz="1400" b="1" dirty="0">
                <a:solidFill>
                  <a:srgbClr val="C69214"/>
                </a:solidFill>
                <a:latin typeface="Calibri" pitchFamily="34" charset="0"/>
                <a:ea typeface="Calibri" pitchFamily="34" charset="-122"/>
                <a:cs typeface="Calibri" pitchFamily="34" charset="-120"/>
              </a:rPr>
              <a:t>03  </a:t>
            </a:r>
            <a:pPr indent="0" marL="0">
              <a:buNone/>
            </a:pPr>
            <a:r>
              <a:rPr lang="en-US" sz="1400" b="1" dirty="0">
                <a:solidFill>
                  <a:srgbClr val="FFFFFF"/>
                </a:solidFill>
                <a:latin typeface="Calibri" pitchFamily="34" charset="0"/>
                <a:ea typeface="Calibri" pitchFamily="34" charset="-122"/>
                <a:cs typeface="Calibri" pitchFamily="34" charset="-120"/>
              </a:rPr>
              <a:t>LISTEN</a:t>
            </a:r>
            <a:endParaRPr lang="en-US" sz="1400" dirty="0"/>
          </a:p>
        </p:txBody>
      </p:sp>
      <p:sp>
        <p:nvSpPr>
          <p:cNvPr id="99" name="Text 95"/>
          <p:cNvSpPr/>
          <p:nvPr/>
        </p:nvSpPr>
        <p:spPr>
          <a:xfrm>
            <a:off x="11094415" y="3200400"/>
            <a:ext cx="320040" cy="228600"/>
          </a:xfrm>
          <a:prstGeom prst="rect">
            <a:avLst/>
          </a:prstGeom>
          <a:noFill/>
          <a:ln/>
        </p:spPr>
        <p:txBody>
          <a:bodyPr wrap="square" lIns="0" tIns="0" rIns="0" bIns="0" rtlCol="0" anchor="ctr"/>
          <a:lstStyle/>
          <a:p>
            <a:pPr algn="r" indent="0" marL="0">
              <a:buNone/>
            </a:pPr>
            <a:r>
              <a:rPr lang="en-US" sz="1200" dirty="0">
                <a:solidFill>
                  <a:srgbClr val="C69214"/>
                </a:solidFill>
                <a:latin typeface="Calibri" pitchFamily="34" charset="0"/>
                <a:ea typeface="Calibri" pitchFamily="34" charset="-122"/>
                <a:cs typeface="Calibri" pitchFamily="34" charset="-120"/>
              </a:rPr>
              <a:t>ılı</a:t>
            </a:r>
            <a:endParaRPr lang="en-US" sz="1200" dirty="0"/>
          </a:p>
        </p:txBody>
      </p:sp>
      <p:sp>
        <p:nvSpPr>
          <p:cNvPr id="100" name="Text 96"/>
          <p:cNvSpPr/>
          <p:nvPr/>
        </p:nvSpPr>
        <p:spPr>
          <a:xfrm>
            <a:off x="8275320" y="3456432"/>
            <a:ext cx="3139135" cy="457200"/>
          </a:xfrm>
          <a:prstGeom prst="rect">
            <a:avLst/>
          </a:prstGeom>
          <a:noFill/>
          <a:ln/>
        </p:spPr>
        <p:txBody>
          <a:bodyPr wrap="square" lIns="0" tIns="0" rIns="0" bIns="0" rtlCol="0" anchor="ctr"/>
          <a:lstStyle/>
          <a:p>
            <a:pPr indent="0" marL="0">
              <a:buNone/>
            </a:pPr>
            <a:r>
              <a:rPr lang="en-US" sz="1000" dirty="0">
                <a:solidFill>
                  <a:srgbClr val="E8E0D4"/>
                </a:solidFill>
                <a:latin typeface="Calibri" pitchFamily="34" charset="0"/>
                <a:ea typeface="Calibri" pitchFamily="34" charset="-122"/>
                <a:cs typeface="Calibri" pitchFamily="34" charset="-120"/>
              </a:rPr>
              <a:t>Hear its history through browser-based narration in mother-tongue audio.</a:t>
            </a:r>
            <a:endParaRPr lang="en-US" sz="1000" dirty="0"/>
          </a:p>
        </p:txBody>
      </p:sp>
      <p:sp>
        <p:nvSpPr>
          <p:cNvPr id="101" name="Shape 97"/>
          <p:cNvSpPr/>
          <p:nvPr/>
        </p:nvSpPr>
        <p:spPr>
          <a:xfrm>
            <a:off x="8019288" y="4114800"/>
            <a:ext cx="146304" cy="146304"/>
          </a:xfrm>
          <a:prstGeom prst="ellipse">
            <a:avLst/>
          </a:prstGeom>
          <a:solidFill>
            <a:srgbClr val="C69214"/>
          </a:solidFill>
          <a:ln/>
        </p:spPr>
      </p:sp>
      <p:sp>
        <p:nvSpPr>
          <p:cNvPr id="102" name="Text 98"/>
          <p:cNvSpPr/>
          <p:nvPr/>
        </p:nvSpPr>
        <p:spPr>
          <a:xfrm>
            <a:off x="8275320" y="4023360"/>
            <a:ext cx="2819095" cy="228600"/>
          </a:xfrm>
          <a:prstGeom prst="rect">
            <a:avLst/>
          </a:prstGeom>
          <a:noFill/>
          <a:ln/>
        </p:spPr>
        <p:txBody>
          <a:bodyPr wrap="square" lIns="0" tIns="0" rIns="0" bIns="0" rtlCol="0" anchor="ctr"/>
          <a:lstStyle/>
          <a:p>
            <a:pPr indent="0" marL="0">
              <a:buNone/>
            </a:pPr>
            <a:r>
              <a:rPr lang="en-US" sz="1400" b="1" dirty="0">
                <a:solidFill>
                  <a:srgbClr val="C69214"/>
                </a:solidFill>
                <a:latin typeface="Calibri" pitchFamily="34" charset="0"/>
                <a:ea typeface="Calibri" pitchFamily="34" charset="-122"/>
                <a:cs typeface="Calibri" pitchFamily="34" charset="-120"/>
              </a:rPr>
              <a:t>04  </a:t>
            </a:r>
            <a:pPr indent="0" marL="0">
              <a:buNone/>
            </a:pPr>
            <a:r>
              <a:rPr lang="en-US" sz="1400" b="1" dirty="0">
                <a:solidFill>
                  <a:srgbClr val="FFFFFF"/>
                </a:solidFill>
                <a:latin typeface="Calibri" pitchFamily="34" charset="0"/>
                <a:ea typeface="Calibri" pitchFamily="34" charset="-122"/>
                <a:cs typeface="Calibri" pitchFamily="34" charset="-120"/>
              </a:rPr>
              <a:t>PLAN</a:t>
            </a:r>
            <a:endParaRPr lang="en-US" sz="1400" dirty="0"/>
          </a:p>
        </p:txBody>
      </p:sp>
      <p:sp>
        <p:nvSpPr>
          <p:cNvPr id="103" name="Text 99"/>
          <p:cNvSpPr/>
          <p:nvPr/>
        </p:nvSpPr>
        <p:spPr>
          <a:xfrm>
            <a:off x="11094415" y="4023360"/>
            <a:ext cx="320040" cy="228600"/>
          </a:xfrm>
          <a:prstGeom prst="rect">
            <a:avLst/>
          </a:prstGeom>
          <a:noFill/>
          <a:ln/>
        </p:spPr>
        <p:txBody>
          <a:bodyPr wrap="square" lIns="0" tIns="0" rIns="0" bIns="0" rtlCol="0" anchor="ctr"/>
          <a:lstStyle/>
          <a:p>
            <a:pPr algn="r" indent="0" marL="0">
              <a:buNone/>
            </a:pPr>
            <a:r>
              <a:rPr lang="en-US" sz="1200" dirty="0">
                <a:solidFill>
                  <a:srgbClr val="C69214"/>
                </a:solidFill>
                <a:latin typeface="Calibri" pitchFamily="34" charset="0"/>
                <a:ea typeface="Calibri" pitchFamily="34" charset="-122"/>
                <a:cs typeface="Calibri" pitchFamily="34" charset="-120"/>
              </a:rPr>
              <a:t>🎟</a:t>
            </a:r>
            <a:endParaRPr lang="en-US" sz="1200" dirty="0"/>
          </a:p>
        </p:txBody>
      </p:sp>
      <p:sp>
        <p:nvSpPr>
          <p:cNvPr id="104" name="Text 100"/>
          <p:cNvSpPr/>
          <p:nvPr/>
        </p:nvSpPr>
        <p:spPr>
          <a:xfrm>
            <a:off x="8275320" y="4279392"/>
            <a:ext cx="3139135" cy="457200"/>
          </a:xfrm>
          <a:prstGeom prst="rect">
            <a:avLst/>
          </a:prstGeom>
          <a:noFill/>
          <a:ln/>
        </p:spPr>
        <p:txBody>
          <a:bodyPr wrap="square" lIns="0" tIns="0" rIns="0" bIns="0" rtlCol="0" anchor="ctr"/>
          <a:lstStyle/>
          <a:p>
            <a:pPr indent="0" marL="0">
              <a:buNone/>
            </a:pPr>
            <a:r>
              <a:rPr lang="en-US" sz="1000" dirty="0">
                <a:solidFill>
                  <a:srgbClr val="E8E0D4"/>
                </a:solidFill>
                <a:latin typeface="Calibri" pitchFamily="34" charset="0"/>
                <a:ea typeface="Calibri" pitchFamily="34" charset="-122"/>
                <a:cs typeface="Calibri" pitchFamily="34" charset="-120"/>
              </a:rPr>
              <a:t>Check timings, fees, tickets and directions for complete trip autonomy.</a:t>
            </a:r>
            <a:endParaRPr lang="en-US" sz="1000" dirty="0"/>
          </a:p>
        </p:txBody>
      </p:sp>
      <p:sp>
        <p:nvSpPr>
          <p:cNvPr id="105" name="Shape 101"/>
          <p:cNvSpPr/>
          <p:nvPr/>
        </p:nvSpPr>
        <p:spPr>
          <a:xfrm>
            <a:off x="8092440" y="4937760"/>
            <a:ext cx="3367735" cy="1417320"/>
          </a:xfrm>
          <a:prstGeom prst="roundRect">
            <a:avLst>
              <a:gd name="adj" fmla="val 5161"/>
            </a:avLst>
          </a:prstGeom>
          <a:solidFill>
            <a:srgbClr val="1A1714"/>
          </a:solidFill>
          <a:ln w="12700">
            <a:solidFill>
              <a:srgbClr val="C69214"/>
            </a:solidFill>
            <a:prstDash val="dash"/>
          </a:ln>
        </p:spPr>
      </p:sp>
      <p:sp>
        <p:nvSpPr>
          <p:cNvPr id="106" name="Text 102"/>
          <p:cNvSpPr/>
          <p:nvPr/>
        </p:nvSpPr>
        <p:spPr>
          <a:xfrm>
            <a:off x="8275320" y="5074920"/>
            <a:ext cx="2727655" cy="182880"/>
          </a:xfrm>
          <a:prstGeom prst="rect">
            <a:avLst/>
          </a:prstGeom>
          <a:noFill/>
          <a:ln/>
        </p:spPr>
        <p:txBody>
          <a:bodyPr wrap="square" lIns="0" tIns="0" rIns="0" bIns="0" rtlCol="0" anchor="ctr"/>
          <a:lstStyle/>
          <a:p>
            <a:pPr indent="0" marL="0">
              <a:buNone/>
            </a:pPr>
            <a:r>
              <a:rPr lang="en-US" sz="850" b="1" spc="200" kern="0" dirty="0">
                <a:solidFill>
                  <a:srgbClr val="C69214"/>
                </a:solidFill>
                <a:latin typeface="Calibri" pitchFamily="34" charset="0"/>
                <a:ea typeface="Calibri" pitchFamily="34" charset="-122"/>
                <a:cs typeface="Calibri" pitchFamily="34" charset="-120"/>
              </a:rPr>
              <a:t>RESERVED   /   LIVE PROTOTYPE</a:t>
            </a:r>
            <a:endParaRPr lang="en-US" sz="850" dirty="0"/>
          </a:p>
        </p:txBody>
      </p:sp>
      <p:sp>
        <p:nvSpPr>
          <p:cNvPr id="107" name="Text 103"/>
          <p:cNvSpPr/>
          <p:nvPr/>
        </p:nvSpPr>
        <p:spPr>
          <a:xfrm>
            <a:off x="11048695" y="5074920"/>
            <a:ext cx="274320" cy="182880"/>
          </a:xfrm>
          <a:prstGeom prst="rect">
            <a:avLst/>
          </a:prstGeom>
          <a:noFill/>
          <a:ln/>
        </p:spPr>
        <p:txBody>
          <a:bodyPr wrap="square" lIns="0" tIns="0" rIns="0" bIns="0" rtlCol="0" anchor="ctr"/>
          <a:lstStyle/>
          <a:p>
            <a:pPr algn="r" indent="0" marL="0">
              <a:buNone/>
            </a:pPr>
            <a:r>
              <a:rPr lang="en-US" sz="1000" dirty="0">
                <a:solidFill>
                  <a:srgbClr val="C69214"/>
                </a:solidFill>
                <a:latin typeface="Calibri" pitchFamily="34" charset="0"/>
                <a:ea typeface="Calibri" pitchFamily="34" charset="-122"/>
                <a:cs typeface="Calibri" pitchFamily="34" charset="-120"/>
              </a:rPr>
              <a:t>🖼</a:t>
            </a:r>
            <a:endParaRPr lang="en-US" sz="1000" dirty="0"/>
          </a:p>
        </p:txBody>
      </p:sp>
      <p:sp>
        <p:nvSpPr>
          <p:cNvPr id="108" name="Text 104"/>
          <p:cNvSpPr/>
          <p:nvPr/>
        </p:nvSpPr>
        <p:spPr>
          <a:xfrm>
            <a:off x="8275320" y="5285232"/>
            <a:ext cx="3001975" cy="411480"/>
          </a:xfrm>
          <a:prstGeom prst="rect">
            <a:avLst/>
          </a:prstGeom>
          <a:noFill/>
          <a:ln/>
        </p:spPr>
        <p:txBody>
          <a:bodyPr wrap="square" lIns="0" tIns="0" rIns="0" bIns="0" rtlCol="0" anchor="ctr"/>
          <a:lstStyle/>
          <a:p>
            <a:pPr indent="0" marL="0">
              <a:lnSpc>
                <a:spcPct val="105000"/>
              </a:lnSpc>
              <a:buNone/>
            </a:pPr>
            <a:r>
              <a:rPr lang="en-US" sz="1300" b="1" dirty="0">
                <a:solidFill>
                  <a:srgbClr val="FFFFFF"/>
                </a:solidFill>
                <a:latin typeface="Calibri" pitchFamily="34" charset="0"/>
                <a:ea typeface="Calibri" pitchFamily="34" charset="-122"/>
                <a:cs typeface="Calibri" pitchFamily="34" charset="-120"/>
              </a:rPr>
              <a:t>ACTUAL HERODOTUS</a:t>
            </a:r>
            <a:endParaRPr lang="en-US" sz="1300" dirty="0"/>
          </a:p>
          <a:p>
            <a:pPr indent="0" marL="0">
              <a:lnSpc>
                <a:spcPct val="105000"/>
              </a:lnSpc>
              <a:buNone/>
            </a:pPr>
            <a:r>
              <a:rPr lang="en-US" sz="1300" b="1" dirty="0">
                <a:solidFill>
                  <a:srgbClr val="FFFFFF"/>
                </a:solidFill>
                <a:latin typeface="Calibri" pitchFamily="34" charset="0"/>
                <a:ea typeface="Calibri" pitchFamily="34" charset="-122"/>
                <a:cs typeface="Calibri" pitchFamily="34" charset="-120"/>
              </a:rPr>
              <a:t>APP SCREENSHOT</a:t>
            </a:r>
            <a:endParaRPr lang="en-US" sz="1300" dirty="0"/>
          </a:p>
        </p:txBody>
      </p:sp>
      <p:sp>
        <p:nvSpPr>
          <p:cNvPr id="109" name="Text 105"/>
          <p:cNvSpPr/>
          <p:nvPr/>
        </p:nvSpPr>
        <p:spPr>
          <a:xfrm>
            <a:off x="8275320" y="5742432"/>
            <a:ext cx="3001975" cy="502920"/>
          </a:xfrm>
          <a:prstGeom prst="rect">
            <a:avLst/>
          </a:prstGeom>
          <a:noFill/>
          <a:ln/>
        </p:spPr>
        <p:txBody>
          <a:bodyPr wrap="square" lIns="0" tIns="0" rIns="0" bIns="0" rtlCol="0" anchor="ctr"/>
          <a:lstStyle/>
          <a:p>
            <a:pPr indent="0" marL="0">
              <a:buNone/>
            </a:pPr>
            <a:r>
              <a:rPr lang="en-US" sz="900" dirty="0">
                <a:solidFill>
                  <a:srgbClr val="8A8279"/>
                </a:solidFill>
                <a:latin typeface="Calibri" pitchFamily="34" charset="0"/>
                <a:ea typeface="Calibri" pitchFamily="34" charset="-122"/>
                <a:cs typeface="Calibri" pitchFamily="34" charset="-120"/>
              </a:rPr>
              <a:t>The interface on the left is an interactive design mockup. Verified official ASI e-ticket portal, offline audio cached in IndexedDB. Testable live at herodotus-guide.vercel.app.</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9"/>
        </a:solidFill>
      </p:bgPr>
    </p:bg>
    <p:spTree>
      <p:nvGrpSpPr>
        <p:cNvPr id="1" name=""/>
        <p:cNvGrpSpPr/>
        <p:nvPr/>
      </p:nvGrpSpPr>
      <p:grpSpPr>
        <a:xfrm>
          <a:off x="0" y="0"/>
          <a:ext cx="0" cy="0"/>
          <a:chOff x="0" y="0"/>
          <a:chExt cx="0" cy="0"/>
        </a:xfrm>
      </p:grpSpPr>
      <p:sp>
        <p:nvSpPr>
          <p:cNvPr id="2" name="Shape 0"/>
          <p:cNvSpPr/>
          <p:nvPr/>
        </p:nvSpPr>
        <p:spPr>
          <a:xfrm>
            <a:off x="2377440" y="457200"/>
            <a:ext cx="0" cy="5760720"/>
          </a:xfrm>
          <a:prstGeom prst="line">
            <a:avLst/>
          </a:prstGeom>
          <a:noFill/>
          <a:ln w="6350">
            <a:solidFill>
              <a:srgbClr val="1C1916"/>
            </a:solidFill>
            <a:prstDash val="solid"/>
          </a:ln>
        </p:spPr>
      </p:sp>
      <p:sp>
        <p:nvSpPr>
          <p:cNvPr id="3" name="Shape 1"/>
          <p:cNvSpPr/>
          <p:nvPr/>
        </p:nvSpPr>
        <p:spPr>
          <a:xfrm>
            <a:off x="4023360" y="457200"/>
            <a:ext cx="0" cy="5760720"/>
          </a:xfrm>
          <a:prstGeom prst="line">
            <a:avLst/>
          </a:prstGeom>
          <a:noFill/>
          <a:ln w="6350">
            <a:solidFill>
              <a:srgbClr val="1C1916"/>
            </a:solidFill>
            <a:prstDash val="solid"/>
          </a:ln>
        </p:spPr>
      </p:sp>
      <p:sp>
        <p:nvSpPr>
          <p:cNvPr id="4" name="Shape 2"/>
          <p:cNvSpPr/>
          <p:nvPr/>
        </p:nvSpPr>
        <p:spPr>
          <a:xfrm>
            <a:off x="5669280" y="457200"/>
            <a:ext cx="0" cy="5760720"/>
          </a:xfrm>
          <a:prstGeom prst="line">
            <a:avLst/>
          </a:prstGeom>
          <a:noFill/>
          <a:ln w="6350">
            <a:solidFill>
              <a:srgbClr val="1C1916"/>
            </a:solidFill>
            <a:prstDash val="solid"/>
          </a:ln>
        </p:spPr>
      </p:sp>
      <p:sp>
        <p:nvSpPr>
          <p:cNvPr id="5" name="Shape 3"/>
          <p:cNvSpPr/>
          <p:nvPr/>
        </p:nvSpPr>
        <p:spPr>
          <a:xfrm>
            <a:off x="7315200" y="457200"/>
            <a:ext cx="0" cy="5760720"/>
          </a:xfrm>
          <a:prstGeom prst="line">
            <a:avLst/>
          </a:prstGeom>
          <a:noFill/>
          <a:ln w="6350">
            <a:solidFill>
              <a:srgbClr val="1C1916"/>
            </a:solidFill>
            <a:prstDash val="solid"/>
          </a:ln>
        </p:spPr>
      </p:sp>
      <p:sp>
        <p:nvSpPr>
          <p:cNvPr id="6" name="Shape 4"/>
          <p:cNvSpPr/>
          <p:nvPr/>
        </p:nvSpPr>
        <p:spPr>
          <a:xfrm>
            <a:off x="8961120" y="457200"/>
            <a:ext cx="0" cy="5760720"/>
          </a:xfrm>
          <a:prstGeom prst="line">
            <a:avLst/>
          </a:prstGeom>
          <a:noFill/>
          <a:ln w="6350">
            <a:solidFill>
              <a:srgbClr val="1C1916"/>
            </a:solidFill>
            <a:prstDash val="solid"/>
          </a:ln>
        </p:spPr>
      </p:sp>
      <p:sp>
        <p:nvSpPr>
          <p:cNvPr id="7" name="Shape 5"/>
          <p:cNvSpPr/>
          <p:nvPr/>
        </p:nvSpPr>
        <p:spPr>
          <a:xfrm>
            <a:off x="10607040" y="457200"/>
            <a:ext cx="0" cy="5760720"/>
          </a:xfrm>
          <a:prstGeom prst="line">
            <a:avLst/>
          </a:prstGeom>
          <a:noFill/>
          <a:ln w="6350">
            <a:solidFill>
              <a:srgbClr val="1C1916"/>
            </a:solidFill>
            <a:prstDash val="solid"/>
          </a:ln>
        </p:spPr>
      </p:sp>
      <p:sp>
        <p:nvSpPr>
          <p:cNvPr id="8" name="Shape 6"/>
          <p:cNvSpPr/>
          <p:nvPr/>
        </p:nvSpPr>
        <p:spPr>
          <a:xfrm>
            <a:off x="731520" y="2103120"/>
            <a:ext cx="10728655" cy="0"/>
          </a:xfrm>
          <a:prstGeom prst="line">
            <a:avLst/>
          </a:prstGeom>
          <a:noFill/>
          <a:ln w="6350">
            <a:solidFill>
              <a:srgbClr val="1C1916"/>
            </a:solidFill>
            <a:prstDash val="solid"/>
          </a:ln>
        </p:spPr>
      </p:sp>
      <p:sp>
        <p:nvSpPr>
          <p:cNvPr id="9" name="Shape 7"/>
          <p:cNvSpPr/>
          <p:nvPr/>
        </p:nvSpPr>
        <p:spPr>
          <a:xfrm>
            <a:off x="731520" y="3474720"/>
            <a:ext cx="10728655" cy="0"/>
          </a:xfrm>
          <a:prstGeom prst="line">
            <a:avLst/>
          </a:prstGeom>
          <a:noFill/>
          <a:ln w="6350">
            <a:solidFill>
              <a:srgbClr val="1C1916"/>
            </a:solidFill>
            <a:prstDash val="solid"/>
          </a:ln>
        </p:spPr>
      </p:sp>
      <p:sp>
        <p:nvSpPr>
          <p:cNvPr id="10" name="Shape 8"/>
          <p:cNvSpPr/>
          <p:nvPr/>
        </p:nvSpPr>
        <p:spPr>
          <a:xfrm>
            <a:off x="731520" y="4846320"/>
            <a:ext cx="10728655" cy="0"/>
          </a:xfrm>
          <a:prstGeom prst="line">
            <a:avLst/>
          </a:prstGeom>
          <a:noFill/>
          <a:ln w="6350">
            <a:solidFill>
              <a:srgbClr val="1C1916"/>
            </a:solidFill>
            <a:prstDash val="solid"/>
          </a:ln>
        </p:spPr>
      </p:sp>
      <p:sp>
        <p:nvSpPr>
          <p:cNvPr id="11" name="Shape 9"/>
          <p:cNvSpPr/>
          <p:nvPr/>
        </p:nvSpPr>
        <p:spPr>
          <a:xfrm>
            <a:off x="731520" y="6217920"/>
            <a:ext cx="10728655" cy="0"/>
          </a:xfrm>
          <a:prstGeom prst="line">
            <a:avLst/>
          </a:prstGeom>
          <a:noFill/>
          <a:ln w="6350">
            <a:solidFill>
              <a:srgbClr val="1C1916"/>
            </a:solidFill>
            <a:prstDash val="solid"/>
          </a:ln>
        </p:spPr>
      </p:sp>
      <p:pic>
        <p:nvPicPr>
          <p:cNvPr id="12" name="Image 0" descr="/Users/krishnajangid/.gemini/antigravity/brain/0257ec97-0b88-48e3-abaf-ced68cd3ce48/tech_architecture_warm_1789436115529.jpg">    </p:cNvPr>
          <p:cNvPicPr>
            <a:picLocks noChangeAspect="1"/>
          </p:cNvPicPr>
          <p:nvPr/>
        </p:nvPicPr>
        <p:blipFill>
          <a:blip r:embed="rId1">
            <a:alphaModFix amt="10000"/>
          </a:blip>
          <a:stretch>
            <a:fillRect/>
          </a:stretch>
        </p:blipFill>
        <p:spPr>
          <a:xfrm>
            <a:off x="6217920" y="457200"/>
            <a:ext cx="5242255" cy="5760720"/>
          </a:xfrm>
          <a:prstGeom prst="rect">
            <a:avLst/>
          </a:prstGeom>
        </p:spPr>
      </p:pic>
      <p:sp>
        <p:nvSpPr>
          <p:cNvPr id="13" name="Text 10"/>
          <p:cNvSpPr/>
          <p:nvPr/>
        </p:nvSpPr>
        <p:spPr>
          <a:xfrm>
            <a:off x="731520" y="457200"/>
            <a:ext cx="4389120" cy="219456"/>
          </a:xfrm>
          <a:prstGeom prst="rect">
            <a:avLst/>
          </a:prstGeom>
          <a:noFill/>
          <a:ln/>
        </p:spPr>
        <p:txBody>
          <a:bodyPr wrap="square" lIns="0" tIns="0" rIns="0" bIns="0" rtlCol="0" anchor="ctr"/>
          <a:lstStyle/>
          <a:p>
            <a:pPr indent="0" marL="0">
              <a:buNone/>
            </a:pPr>
            <a:r>
              <a:rPr lang="en-US" sz="1000" b="1" spc="300" kern="0" dirty="0">
                <a:solidFill>
                  <a:srgbClr val="C69214"/>
                </a:solidFill>
                <a:latin typeface="Calibri" pitchFamily="34" charset="0"/>
                <a:ea typeface="Calibri" pitchFamily="34" charset="-122"/>
                <a:cs typeface="Calibri" pitchFamily="34" charset="-120"/>
              </a:rPr>
              <a:t>05  —  TECHNICAL FEASIBILITY</a:t>
            </a:r>
            <a:endParaRPr lang="en-US" sz="1000" dirty="0"/>
          </a:p>
        </p:txBody>
      </p:sp>
      <p:sp>
        <p:nvSpPr>
          <p:cNvPr id="14" name="Text 11"/>
          <p:cNvSpPr/>
          <p:nvPr/>
        </p:nvSpPr>
        <p:spPr>
          <a:xfrm>
            <a:off x="6858000" y="457200"/>
            <a:ext cx="4602175" cy="219456"/>
          </a:xfrm>
          <a:prstGeom prst="rect">
            <a:avLst/>
          </a:prstGeom>
          <a:noFill/>
          <a:ln/>
        </p:spPr>
        <p:txBody>
          <a:bodyPr wrap="square" lIns="0" tIns="0" rIns="0" bIns="0" rtlCol="0" anchor="ctr"/>
          <a:lstStyle/>
          <a:p>
            <a:pPr algn="r" indent="0" marL="0">
              <a:buNone/>
            </a:pPr>
            <a:r>
              <a:rPr lang="en-US" sz="900" spc="200" kern="0" dirty="0">
                <a:solidFill>
                  <a:srgbClr val="8A8279"/>
                </a:solidFill>
                <a:latin typeface="Calibri" pitchFamily="34" charset="0"/>
                <a:ea typeface="Calibri" pitchFamily="34" charset="-122"/>
                <a:cs typeface="Calibri" pitchFamily="34" charset="-120"/>
              </a:rPr>
              <a:t>28.6139° N  ·  77.2090° E  EDGE NETWORK</a:t>
            </a:r>
            <a:endParaRPr lang="en-US" sz="900" dirty="0"/>
          </a:p>
        </p:txBody>
      </p:sp>
      <p:sp>
        <p:nvSpPr>
          <p:cNvPr id="15" name="Text 12"/>
          <p:cNvSpPr/>
          <p:nvPr/>
        </p:nvSpPr>
        <p:spPr>
          <a:xfrm>
            <a:off x="731520" y="713232"/>
            <a:ext cx="6583680" cy="8686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SIMPLE ARCHITECTURE.
</a:t>
            </a:r>
            <a:pPr indent="0" marL="0">
              <a:lnSpc>
                <a:spcPct val="105000"/>
              </a:lnSpc>
              <a:buNone/>
            </a:pPr>
            <a:r>
              <a:rPr lang="en-US" sz="3200" b="1" dirty="0">
                <a:solidFill>
                  <a:srgbClr val="C69214"/>
                </a:solidFill>
                <a:latin typeface="Cambria" pitchFamily="34" charset="0"/>
                <a:ea typeface="Cambria" pitchFamily="34" charset="-122"/>
                <a:cs typeface="Cambria" pitchFamily="34" charset="-120"/>
              </a:rPr>
              <a:t>POWERFUL EXPERIENCE.</a:t>
            </a:r>
            <a:endParaRPr lang="en-US" sz="3200" dirty="0"/>
          </a:p>
        </p:txBody>
      </p:sp>
      <p:sp>
        <p:nvSpPr>
          <p:cNvPr id="16" name="Text 13"/>
          <p:cNvSpPr/>
          <p:nvPr/>
        </p:nvSpPr>
        <p:spPr>
          <a:xfrm>
            <a:off x="731520" y="1627632"/>
            <a:ext cx="6400800" cy="256032"/>
          </a:xfrm>
          <a:prstGeom prst="rect">
            <a:avLst/>
          </a:prstGeom>
          <a:noFill/>
          <a:ln/>
        </p:spPr>
        <p:txBody>
          <a:bodyPr wrap="square" lIns="0" tIns="0" rIns="0" bIns="0" rtlCol="0" anchor="ctr"/>
          <a:lstStyle/>
          <a:p>
            <a:pPr indent="0" marL="0">
              <a:buNone/>
            </a:pPr>
            <a:r>
              <a:rPr lang="en-US" sz="1200" dirty="0">
                <a:solidFill>
                  <a:srgbClr val="E8E0D4"/>
                </a:solidFill>
                <a:latin typeface="Calibri" pitchFamily="34" charset="0"/>
                <a:ea typeface="Calibri" pitchFamily="34" charset="-122"/>
                <a:cs typeface="Calibri" pitchFamily="34" charset="-120"/>
              </a:rPr>
              <a:t>Engineered on modern browser standards for zero server streaming costs. (Feasibility &amp; Technical Viability)</a:t>
            </a:r>
            <a:endParaRPr lang="en-US" sz="1200" dirty="0"/>
          </a:p>
        </p:txBody>
      </p:sp>
      <p:sp>
        <p:nvSpPr>
          <p:cNvPr id="17" name="Shape 14"/>
          <p:cNvSpPr/>
          <p:nvPr/>
        </p:nvSpPr>
        <p:spPr>
          <a:xfrm>
            <a:off x="8808415" y="502920"/>
            <a:ext cx="2651760" cy="292608"/>
          </a:xfrm>
          <a:prstGeom prst="roundRect">
            <a:avLst>
              <a:gd name="adj" fmla="val 12500"/>
            </a:avLst>
          </a:prstGeom>
          <a:solidFill>
            <a:srgbClr val="1A1714"/>
          </a:solidFill>
          <a:ln w="12700">
            <a:solidFill>
              <a:srgbClr val="C69214"/>
            </a:solidFill>
            <a:prstDash val="solid"/>
          </a:ln>
        </p:spPr>
      </p:sp>
      <p:sp>
        <p:nvSpPr>
          <p:cNvPr id="18" name="Text 15"/>
          <p:cNvSpPr/>
          <p:nvPr/>
        </p:nvSpPr>
        <p:spPr>
          <a:xfrm>
            <a:off x="8808415" y="502920"/>
            <a:ext cx="2651760" cy="292608"/>
          </a:xfrm>
          <a:prstGeom prst="rect">
            <a:avLst/>
          </a:prstGeom>
          <a:noFill/>
          <a:ln/>
        </p:spPr>
        <p:txBody>
          <a:bodyPr wrap="square" lIns="0" tIns="0" rIns="0" bIns="0" rtlCol="0" anchor="ctr"/>
          <a:lstStyle/>
          <a:p>
            <a:pPr algn="ctr" indent="0" marL="0">
              <a:buNone/>
            </a:pPr>
            <a:r>
              <a:rPr lang="en-US" sz="850" b="1" dirty="0">
                <a:solidFill>
                  <a:srgbClr val="C69214"/>
                </a:solidFill>
                <a:latin typeface="Calibri" pitchFamily="34" charset="0"/>
                <a:ea typeface="Calibri" pitchFamily="34" charset="-122"/>
                <a:cs typeface="Calibri" pitchFamily="34" charset="-120"/>
              </a:rPr>
              <a:t>MVP-FIRST ARCHITECTURE</a:t>
            </a:r>
            <a:endParaRPr lang="en-US" sz="850" dirty="0"/>
          </a:p>
        </p:txBody>
      </p:sp>
      <p:sp>
        <p:nvSpPr>
          <p:cNvPr id="19" name="Text 16"/>
          <p:cNvSpPr/>
          <p:nvPr/>
        </p:nvSpPr>
        <p:spPr>
          <a:xfrm>
            <a:off x="8351215" y="868680"/>
            <a:ext cx="3108960" cy="201168"/>
          </a:xfrm>
          <a:prstGeom prst="rect">
            <a:avLst/>
          </a:prstGeom>
          <a:noFill/>
          <a:ln/>
        </p:spPr>
        <p:txBody>
          <a:bodyPr wrap="square" lIns="0" tIns="0" rIns="0" bIns="0" rtlCol="0" anchor="ctr"/>
          <a:lstStyle/>
          <a:p>
            <a:pPr algn="r" indent="0" marL="0">
              <a:buNone/>
            </a:pPr>
            <a:r>
              <a:rPr lang="en-US" sz="950" dirty="0">
                <a:solidFill>
                  <a:srgbClr val="E8E0D4"/>
                </a:solidFill>
                <a:latin typeface="Calibri" pitchFamily="34" charset="0"/>
                <a:ea typeface="Calibri" pitchFamily="34" charset="-122"/>
                <a:cs typeface="Calibri" pitchFamily="34" charset="-120"/>
              </a:rPr>
              <a:t>No complicated backend is required for the MVP.</a:t>
            </a:r>
            <a:endParaRPr lang="en-US" sz="950" dirty="0"/>
          </a:p>
        </p:txBody>
      </p:sp>
      <p:sp>
        <p:nvSpPr>
          <p:cNvPr id="20" name="Shape 17"/>
          <p:cNvSpPr/>
          <p:nvPr/>
        </p:nvSpPr>
        <p:spPr>
          <a:xfrm>
            <a:off x="731520" y="1965960"/>
            <a:ext cx="1325880" cy="1920240"/>
          </a:xfrm>
          <a:prstGeom prst="roundRect">
            <a:avLst>
              <a:gd name="adj" fmla="val 5517"/>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21" name="Shape 18"/>
          <p:cNvSpPr/>
          <p:nvPr/>
        </p:nvSpPr>
        <p:spPr>
          <a:xfrm>
            <a:off x="1019556" y="2075688"/>
            <a:ext cx="749808" cy="749808"/>
          </a:xfrm>
          <a:prstGeom prst="roundRect">
            <a:avLst>
              <a:gd name="adj" fmla="val 7317"/>
            </a:avLst>
          </a:prstGeom>
          <a:solidFill>
            <a:srgbClr val="0D0B09"/>
          </a:solidFill>
          <a:ln w="12700">
            <a:solidFill>
              <a:srgbClr val="2E2A25"/>
            </a:solidFill>
            <a:prstDash val="solid"/>
          </a:ln>
        </p:spPr>
      </p:sp>
      <p:sp>
        <p:nvSpPr>
          <p:cNvPr id="22" name="Text 19"/>
          <p:cNvSpPr/>
          <p:nvPr/>
        </p:nvSpPr>
        <p:spPr>
          <a:xfrm>
            <a:off x="1019556" y="2130552"/>
            <a:ext cx="749808" cy="320040"/>
          </a:xfrm>
          <a:prstGeom prst="rect">
            <a:avLst/>
          </a:prstGeom>
          <a:noFill/>
          <a:ln/>
        </p:spPr>
        <p:txBody>
          <a:bodyPr wrap="square" lIns="0" tIns="0" rIns="0" bIns="0" rtlCol="0" anchor="ct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p>
        </p:txBody>
      </p:sp>
      <p:sp>
        <p:nvSpPr>
          <p:cNvPr id="23" name="Text 20"/>
          <p:cNvSpPr/>
          <p:nvPr/>
        </p:nvSpPr>
        <p:spPr>
          <a:xfrm>
            <a:off x="1019556" y="2496312"/>
            <a:ext cx="749808" cy="228600"/>
          </a:xfrm>
          <a:prstGeom prst="rect">
            <a:avLst/>
          </a:prstGeom>
          <a:noFill/>
          <a:ln/>
        </p:spPr>
        <p:txBody>
          <a:bodyPr wrap="square" lIns="0" tIns="0" rIns="0" bIns="0" rtlCol="0" anchor="ctr"/>
          <a:lstStyle/>
          <a:p>
            <a:pPr algn="ctr" indent="0" marL="0">
              <a:buNone/>
            </a:pPr>
            <a:r>
              <a:rPr lang="en-US" sz="650" b="1" dirty="0">
                <a:solidFill>
                  <a:srgbClr val="C69214"/>
                </a:solidFill>
                <a:latin typeface="Calibri" pitchFamily="34" charset="0"/>
                <a:ea typeface="Calibri" pitchFamily="34" charset="-122"/>
                <a:cs typeface="Calibri" pitchFamily="34" charset="-120"/>
              </a:rPr>
              <a:t>PWA CLIENT</a:t>
            </a:r>
            <a:endParaRPr lang="en-US" sz="650" dirty="0"/>
          </a:p>
        </p:txBody>
      </p:sp>
      <p:sp>
        <p:nvSpPr>
          <p:cNvPr id="24" name="Text 21"/>
          <p:cNvSpPr/>
          <p:nvPr/>
        </p:nvSpPr>
        <p:spPr>
          <a:xfrm>
            <a:off x="731520" y="2880360"/>
            <a:ext cx="1325880" cy="182880"/>
          </a:xfrm>
          <a:prstGeom prst="rect">
            <a:avLst/>
          </a:prstGeom>
          <a:noFill/>
          <a:ln/>
        </p:spPr>
        <p:txBody>
          <a:bodyPr wrap="square" lIns="0" tIns="0" rIns="0" bIns="0" rtlCol="0" anchor="ctr"/>
          <a:lstStyle/>
          <a:p>
            <a:pPr algn="ctr" indent="0" marL="0">
              <a:buNone/>
            </a:pPr>
            <a:r>
              <a:rPr lang="en-US" sz="950" b="1" dirty="0">
                <a:solidFill>
                  <a:srgbClr val="C69214"/>
                </a:solidFill>
                <a:latin typeface="Calibri" pitchFamily="34" charset="0"/>
                <a:ea typeface="Calibri" pitchFamily="34" charset="-122"/>
                <a:cs typeface="Calibri" pitchFamily="34" charset="-120"/>
              </a:rPr>
              <a:t>01</a:t>
            </a:r>
            <a:endParaRPr lang="en-US" sz="950" dirty="0"/>
          </a:p>
        </p:txBody>
      </p:sp>
      <p:sp>
        <p:nvSpPr>
          <p:cNvPr id="25" name="Text 22"/>
          <p:cNvSpPr/>
          <p:nvPr/>
        </p:nvSpPr>
        <p:spPr>
          <a:xfrm>
            <a:off x="731520" y="3063240"/>
            <a:ext cx="1325880"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USER</a:t>
            </a:r>
            <a:endParaRPr lang="en-US" sz="1500" dirty="0"/>
          </a:p>
        </p:txBody>
      </p:sp>
      <p:sp>
        <p:nvSpPr>
          <p:cNvPr id="26" name="Text 23"/>
          <p:cNvSpPr/>
          <p:nvPr/>
        </p:nvSpPr>
        <p:spPr>
          <a:xfrm>
            <a:off x="777240" y="3337560"/>
            <a:ext cx="1234440" cy="411480"/>
          </a:xfrm>
          <a:prstGeom prst="rect">
            <a:avLst/>
          </a:prstGeom>
          <a:noFill/>
          <a:ln/>
        </p:spPr>
        <p:txBody>
          <a:bodyPr wrap="square" lIns="0" tIns="0" rIns="0" bIns="0" rtlCol="0" anchor="ctr"/>
          <a:lstStyle/>
          <a:p>
            <a:pPr algn="ctr" indent="0" marL="0">
              <a:buNone/>
            </a:pPr>
            <a:r>
              <a:rPr lang="en-US" sz="850" dirty="0">
                <a:solidFill>
                  <a:srgbClr val="8A8279"/>
                </a:solidFill>
                <a:latin typeface="Calibri" pitchFamily="34" charset="0"/>
                <a:ea typeface="Calibri" pitchFamily="34" charset="-122"/>
                <a:cs typeface="Calibri" pitchFamily="34" charset="-120"/>
              </a:rPr>
              <a:t>Mobile browser</a:t>
            </a:r>
            <a:endParaRPr lang="en-US" sz="850" dirty="0"/>
          </a:p>
        </p:txBody>
      </p:sp>
      <p:sp>
        <p:nvSpPr>
          <p:cNvPr id="27" name="Shape 24"/>
          <p:cNvSpPr/>
          <p:nvPr/>
        </p:nvSpPr>
        <p:spPr>
          <a:xfrm>
            <a:off x="2057400" y="2926080"/>
            <a:ext cx="182880" cy="0"/>
          </a:xfrm>
          <a:prstGeom prst="line">
            <a:avLst/>
          </a:prstGeom>
          <a:noFill/>
          <a:ln w="15240">
            <a:solidFill>
              <a:srgbClr val="C69214"/>
            </a:solidFill>
            <a:prstDash val="dash"/>
          </a:ln>
        </p:spPr>
      </p:sp>
      <p:sp>
        <p:nvSpPr>
          <p:cNvPr id="28" name="Shape 25"/>
          <p:cNvSpPr/>
          <p:nvPr/>
        </p:nvSpPr>
        <p:spPr>
          <a:xfrm>
            <a:off x="1394460" y="3886200"/>
            <a:ext cx="0" cy="365760"/>
          </a:xfrm>
          <a:prstGeom prst="line">
            <a:avLst/>
          </a:prstGeom>
          <a:noFill/>
          <a:ln w="9525">
            <a:solidFill>
              <a:srgbClr val="2E2A25"/>
            </a:solidFill>
            <a:prstDash val="solid"/>
          </a:ln>
        </p:spPr>
      </p:sp>
      <p:sp>
        <p:nvSpPr>
          <p:cNvPr id="29" name="Shape 26"/>
          <p:cNvSpPr/>
          <p:nvPr/>
        </p:nvSpPr>
        <p:spPr>
          <a:xfrm>
            <a:off x="2240280" y="1965960"/>
            <a:ext cx="1325880" cy="1920240"/>
          </a:xfrm>
          <a:prstGeom prst="roundRect">
            <a:avLst>
              <a:gd name="adj" fmla="val 5517"/>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30" name="Shape 27"/>
          <p:cNvSpPr/>
          <p:nvPr/>
        </p:nvSpPr>
        <p:spPr>
          <a:xfrm>
            <a:off x="2528316" y="2075688"/>
            <a:ext cx="749808" cy="749808"/>
          </a:xfrm>
          <a:prstGeom prst="roundRect">
            <a:avLst>
              <a:gd name="adj" fmla="val 7317"/>
            </a:avLst>
          </a:prstGeom>
          <a:solidFill>
            <a:srgbClr val="0D0B09"/>
          </a:solidFill>
          <a:ln w="12700">
            <a:solidFill>
              <a:srgbClr val="2E2A25"/>
            </a:solidFill>
            <a:prstDash val="solid"/>
          </a:ln>
        </p:spPr>
      </p:sp>
      <p:sp>
        <p:nvSpPr>
          <p:cNvPr id="31" name="Text 28"/>
          <p:cNvSpPr/>
          <p:nvPr/>
        </p:nvSpPr>
        <p:spPr>
          <a:xfrm>
            <a:off x="2528316" y="2130552"/>
            <a:ext cx="749808" cy="320040"/>
          </a:xfrm>
          <a:prstGeom prst="rect">
            <a:avLst/>
          </a:prstGeom>
          <a:noFill/>
          <a:ln/>
        </p:spPr>
        <p:txBody>
          <a:bodyPr wrap="square" lIns="0" tIns="0" rIns="0" bIns="0" rtlCol="0" anchor="ct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p>
        </p:txBody>
      </p:sp>
      <p:sp>
        <p:nvSpPr>
          <p:cNvPr id="32" name="Text 29"/>
          <p:cNvSpPr/>
          <p:nvPr/>
        </p:nvSpPr>
        <p:spPr>
          <a:xfrm>
            <a:off x="2528316" y="2496312"/>
            <a:ext cx="749808" cy="228600"/>
          </a:xfrm>
          <a:prstGeom prst="rect">
            <a:avLst/>
          </a:prstGeom>
          <a:noFill/>
          <a:ln/>
        </p:spPr>
        <p:txBody>
          <a:bodyPr wrap="square" lIns="0" tIns="0" rIns="0" bIns="0" rtlCol="0" anchor="ctr"/>
          <a:lstStyle/>
          <a:p>
            <a:pPr algn="ctr" indent="0" marL="0">
              <a:buNone/>
            </a:pPr>
            <a:r>
              <a:rPr lang="en-US" sz="650" b="1" dirty="0">
                <a:solidFill>
                  <a:srgbClr val="C69214"/>
                </a:solidFill>
                <a:latin typeface="Calibri" pitchFamily="34" charset="0"/>
                <a:ea typeface="Calibri" pitchFamily="34" charset="-122"/>
                <a:cs typeface="Calibri" pitchFamily="34" charset="-120"/>
              </a:rPr>
              <a:t>TILES · PINS · Z</a:t>
            </a:r>
            <a:endParaRPr lang="en-US" sz="650" dirty="0"/>
          </a:p>
        </p:txBody>
      </p:sp>
      <p:sp>
        <p:nvSpPr>
          <p:cNvPr id="33" name="Text 30"/>
          <p:cNvSpPr/>
          <p:nvPr/>
        </p:nvSpPr>
        <p:spPr>
          <a:xfrm>
            <a:off x="2240280" y="2880360"/>
            <a:ext cx="1325880" cy="182880"/>
          </a:xfrm>
          <a:prstGeom prst="rect">
            <a:avLst/>
          </a:prstGeom>
          <a:noFill/>
          <a:ln/>
        </p:spPr>
        <p:txBody>
          <a:bodyPr wrap="square" lIns="0" tIns="0" rIns="0" bIns="0" rtlCol="0" anchor="ctr"/>
          <a:lstStyle/>
          <a:p>
            <a:pPr algn="ctr" indent="0" marL="0">
              <a:buNone/>
            </a:pPr>
            <a:r>
              <a:rPr lang="en-US" sz="950" b="1" dirty="0">
                <a:solidFill>
                  <a:srgbClr val="C69214"/>
                </a:solidFill>
                <a:latin typeface="Calibri" pitchFamily="34" charset="0"/>
                <a:ea typeface="Calibri" pitchFamily="34" charset="-122"/>
                <a:cs typeface="Calibri" pitchFamily="34" charset="-120"/>
              </a:rPr>
              <a:t>02</a:t>
            </a:r>
            <a:endParaRPr lang="en-US" sz="950" dirty="0"/>
          </a:p>
        </p:txBody>
      </p:sp>
      <p:sp>
        <p:nvSpPr>
          <p:cNvPr id="34" name="Text 31"/>
          <p:cNvSpPr/>
          <p:nvPr/>
        </p:nvSpPr>
        <p:spPr>
          <a:xfrm>
            <a:off x="2240280" y="3063240"/>
            <a:ext cx="1325880"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MAP</a:t>
            </a:r>
            <a:endParaRPr lang="en-US" sz="1500" dirty="0"/>
          </a:p>
        </p:txBody>
      </p:sp>
      <p:sp>
        <p:nvSpPr>
          <p:cNvPr id="35" name="Text 32"/>
          <p:cNvSpPr/>
          <p:nvPr/>
        </p:nvSpPr>
        <p:spPr>
          <a:xfrm>
            <a:off x="2286000" y="3337560"/>
            <a:ext cx="1234440" cy="411480"/>
          </a:xfrm>
          <a:prstGeom prst="rect">
            <a:avLst/>
          </a:prstGeom>
          <a:noFill/>
          <a:ln/>
        </p:spPr>
        <p:txBody>
          <a:bodyPr wrap="square" lIns="0" tIns="0" rIns="0" bIns="0" rtlCol="0" anchor="ctr"/>
          <a:lstStyle/>
          <a:p>
            <a:pPr algn="ctr" indent="0" marL="0">
              <a:buNone/>
            </a:pPr>
            <a:r>
              <a:rPr lang="en-US" sz="850" dirty="0">
                <a:solidFill>
                  <a:srgbClr val="8A8279"/>
                </a:solidFill>
                <a:latin typeface="Calibri" pitchFamily="34" charset="0"/>
                <a:ea typeface="Calibri" pitchFamily="34" charset="-122"/>
                <a:cs typeface="Calibri" pitchFamily="34" charset="-120"/>
              </a:rPr>
              <a:t>Google Maps / Mapbox</a:t>
            </a:r>
            <a:endParaRPr lang="en-US" sz="850" dirty="0"/>
          </a:p>
        </p:txBody>
      </p:sp>
      <p:sp>
        <p:nvSpPr>
          <p:cNvPr id="36" name="Shape 33"/>
          <p:cNvSpPr/>
          <p:nvPr/>
        </p:nvSpPr>
        <p:spPr>
          <a:xfrm>
            <a:off x="3566160" y="2926080"/>
            <a:ext cx="182880" cy="0"/>
          </a:xfrm>
          <a:prstGeom prst="line">
            <a:avLst/>
          </a:prstGeom>
          <a:noFill/>
          <a:ln w="15240">
            <a:solidFill>
              <a:srgbClr val="C69214"/>
            </a:solidFill>
            <a:prstDash val="dash"/>
          </a:ln>
        </p:spPr>
      </p:sp>
      <p:sp>
        <p:nvSpPr>
          <p:cNvPr id="37" name="Shape 34"/>
          <p:cNvSpPr/>
          <p:nvPr/>
        </p:nvSpPr>
        <p:spPr>
          <a:xfrm>
            <a:off x="2903220" y="3886200"/>
            <a:ext cx="0" cy="365760"/>
          </a:xfrm>
          <a:prstGeom prst="line">
            <a:avLst/>
          </a:prstGeom>
          <a:noFill/>
          <a:ln w="9525">
            <a:solidFill>
              <a:srgbClr val="2E2A25"/>
            </a:solidFill>
            <a:prstDash val="solid"/>
          </a:ln>
        </p:spPr>
      </p:sp>
      <p:sp>
        <p:nvSpPr>
          <p:cNvPr id="38" name="Shape 35"/>
          <p:cNvSpPr/>
          <p:nvPr/>
        </p:nvSpPr>
        <p:spPr>
          <a:xfrm>
            <a:off x="3749040" y="1965960"/>
            <a:ext cx="1325880" cy="1920240"/>
          </a:xfrm>
          <a:prstGeom prst="roundRect">
            <a:avLst>
              <a:gd name="adj" fmla="val 5517"/>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39" name="Shape 36"/>
          <p:cNvSpPr/>
          <p:nvPr/>
        </p:nvSpPr>
        <p:spPr>
          <a:xfrm>
            <a:off x="4037076" y="2075688"/>
            <a:ext cx="749808" cy="749808"/>
          </a:xfrm>
          <a:prstGeom prst="roundRect">
            <a:avLst>
              <a:gd name="adj" fmla="val 7317"/>
            </a:avLst>
          </a:prstGeom>
          <a:solidFill>
            <a:srgbClr val="0D0B09"/>
          </a:solidFill>
          <a:ln w="12700">
            <a:solidFill>
              <a:srgbClr val="2E2A25"/>
            </a:solidFill>
            <a:prstDash val="solid"/>
          </a:ln>
        </p:spPr>
      </p:sp>
      <p:sp>
        <p:nvSpPr>
          <p:cNvPr id="40" name="Text 37"/>
          <p:cNvSpPr/>
          <p:nvPr/>
        </p:nvSpPr>
        <p:spPr>
          <a:xfrm>
            <a:off x="4037076" y="2130552"/>
            <a:ext cx="749808" cy="320040"/>
          </a:xfrm>
          <a:prstGeom prst="rect">
            <a:avLst/>
          </a:prstGeom>
          <a:noFill/>
          <a:ln/>
        </p:spPr>
        <p:txBody>
          <a:bodyPr wrap="square" lIns="0" tIns="0" rIns="0" bIns="0" rtlCol="0" anchor="ct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p>
        </p:txBody>
      </p:sp>
      <p:sp>
        <p:nvSpPr>
          <p:cNvPr id="41" name="Text 38"/>
          <p:cNvSpPr/>
          <p:nvPr/>
        </p:nvSpPr>
        <p:spPr>
          <a:xfrm>
            <a:off x="4037076" y="2496312"/>
            <a:ext cx="749808" cy="228600"/>
          </a:xfrm>
          <a:prstGeom prst="rect">
            <a:avLst/>
          </a:prstGeom>
          <a:noFill/>
          <a:ln/>
        </p:spPr>
        <p:txBody>
          <a:bodyPr wrap="square" lIns="0" tIns="0" rIns="0" bIns="0" rtlCol="0" anchor="ctr"/>
          <a:lstStyle/>
          <a:p>
            <a:pPr algn="ctr" indent="0" marL="0">
              <a:buNone/>
            </a:pPr>
            <a:r>
              <a:rPr lang="en-US" sz="650" b="1" dirty="0">
                <a:solidFill>
                  <a:srgbClr val="C69214"/>
                </a:solidFill>
                <a:latin typeface="Calibri" pitchFamily="34" charset="0"/>
                <a:ea typeface="Calibri" pitchFamily="34" charset="-122"/>
                <a:cs typeface="Calibri" pitchFamily="34" charset="-120"/>
              </a:rPr>
              <a:t>TEXT → SPEECH</a:t>
            </a:r>
            <a:endParaRPr lang="en-US" sz="650" dirty="0"/>
          </a:p>
        </p:txBody>
      </p:sp>
      <p:sp>
        <p:nvSpPr>
          <p:cNvPr id="42" name="Text 39"/>
          <p:cNvSpPr/>
          <p:nvPr/>
        </p:nvSpPr>
        <p:spPr>
          <a:xfrm>
            <a:off x="3749040" y="2880360"/>
            <a:ext cx="1325880" cy="182880"/>
          </a:xfrm>
          <a:prstGeom prst="rect">
            <a:avLst/>
          </a:prstGeom>
          <a:noFill/>
          <a:ln/>
        </p:spPr>
        <p:txBody>
          <a:bodyPr wrap="square" lIns="0" tIns="0" rIns="0" bIns="0" rtlCol="0" anchor="ctr"/>
          <a:lstStyle/>
          <a:p>
            <a:pPr algn="ctr" indent="0" marL="0">
              <a:buNone/>
            </a:pPr>
            <a:r>
              <a:rPr lang="en-US" sz="950" b="1" dirty="0">
                <a:solidFill>
                  <a:srgbClr val="C69214"/>
                </a:solidFill>
                <a:latin typeface="Calibri" pitchFamily="34" charset="0"/>
                <a:ea typeface="Calibri" pitchFamily="34" charset="-122"/>
                <a:cs typeface="Calibri" pitchFamily="34" charset="-120"/>
              </a:rPr>
              <a:t>03</a:t>
            </a:r>
            <a:endParaRPr lang="en-US" sz="950" dirty="0"/>
          </a:p>
        </p:txBody>
      </p:sp>
      <p:sp>
        <p:nvSpPr>
          <p:cNvPr id="43" name="Text 40"/>
          <p:cNvSpPr/>
          <p:nvPr/>
        </p:nvSpPr>
        <p:spPr>
          <a:xfrm>
            <a:off x="3749040" y="3063240"/>
            <a:ext cx="1325880"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STORY</a:t>
            </a:r>
            <a:endParaRPr lang="en-US" sz="1500" dirty="0"/>
          </a:p>
        </p:txBody>
      </p:sp>
      <p:sp>
        <p:nvSpPr>
          <p:cNvPr id="44" name="Text 41"/>
          <p:cNvSpPr/>
          <p:nvPr/>
        </p:nvSpPr>
        <p:spPr>
          <a:xfrm>
            <a:off x="3794760" y="3337560"/>
            <a:ext cx="1234440" cy="411480"/>
          </a:xfrm>
          <a:prstGeom prst="rect">
            <a:avLst/>
          </a:prstGeom>
          <a:noFill/>
          <a:ln/>
        </p:spPr>
        <p:txBody>
          <a:bodyPr wrap="square" lIns="0" tIns="0" rIns="0" bIns="0" rtlCol="0" anchor="ctr"/>
          <a:lstStyle/>
          <a:p>
            <a:pPr algn="ctr" indent="0" marL="0">
              <a:buNone/>
            </a:pPr>
            <a:r>
              <a:rPr lang="en-US" sz="850" dirty="0">
                <a:solidFill>
                  <a:srgbClr val="8A8279"/>
                </a:solidFill>
                <a:latin typeface="Calibri" pitchFamily="34" charset="0"/>
                <a:ea typeface="Calibri" pitchFamily="34" charset="-122"/>
                <a:cs typeface="Calibri" pitchFamily="34" charset="-120"/>
              </a:rPr>
              <a:t>Browser Web Speech</a:t>
            </a:r>
            <a:endParaRPr lang="en-US" sz="850" dirty="0"/>
          </a:p>
        </p:txBody>
      </p:sp>
      <p:sp>
        <p:nvSpPr>
          <p:cNvPr id="45" name="Shape 42"/>
          <p:cNvSpPr/>
          <p:nvPr/>
        </p:nvSpPr>
        <p:spPr>
          <a:xfrm>
            <a:off x="5074920" y="2926080"/>
            <a:ext cx="182880" cy="0"/>
          </a:xfrm>
          <a:prstGeom prst="line">
            <a:avLst/>
          </a:prstGeom>
          <a:noFill/>
          <a:ln w="15240">
            <a:solidFill>
              <a:srgbClr val="C69214"/>
            </a:solidFill>
            <a:prstDash val="dash"/>
          </a:ln>
        </p:spPr>
      </p:sp>
      <p:sp>
        <p:nvSpPr>
          <p:cNvPr id="46" name="Shape 43"/>
          <p:cNvSpPr/>
          <p:nvPr/>
        </p:nvSpPr>
        <p:spPr>
          <a:xfrm>
            <a:off x="4411980" y="3886200"/>
            <a:ext cx="0" cy="365760"/>
          </a:xfrm>
          <a:prstGeom prst="line">
            <a:avLst/>
          </a:prstGeom>
          <a:noFill/>
          <a:ln w="9525">
            <a:solidFill>
              <a:srgbClr val="2E2A25"/>
            </a:solidFill>
            <a:prstDash val="solid"/>
          </a:ln>
        </p:spPr>
      </p:sp>
      <p:sp>
        <p:nvSpPr>
          <p:cNvPr id="47" name="Shape 44"/>
          <p:cNvSpPr/>
          <p:nvPr/>
        </p:nvSpPr>
        <p:spPr>
          <a:xfrm>
            <a:off x="5257800" y="1965960"/>
            <a:ext cx="1325880" cy="1920240"/>
          </a:xfrm>
          <a:prstGeom prst="roundRect">
            <a:avLst>
              <a:gd name="adj" fmla="val 5517"/>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48" name="Shape 45"/>
          <p:cNvSpPr/>
          <p:nvPr/>
        </p:nvSpPr>
        <p:spPr>
          <a:xfrm>
            <a:off x="5545836" y="2075688"/>
            <a:ext cx="749808" cy="749808"/>
          </a:xfrm>
          <a:prstGeom prst="roundRect">
            <a:avLst>
              <a:gd name="adj" fmla="val 7317"/>
            </a:avLst>
          </a:prstGeom>
          <a:solidFill>
            <a:srgbClr val="0D0B09"/>
          </a:solidFill>
          <a:ln w="12700">
            <a:solidFill>
              <a:srgbClr val="2E2A25"/>
            </a:solidFill>
            <a:prstDash val="solid"/>
          </a:ln>
        </p:spPr>
      </p:sp>
      <p:sp>
        <p:nvSpPr>
          <p:cNvPr id="49" name="Text 46"/>
          <p:cNvSpPr/>
          <p:nvPr/>
        </p:nvSpPr>
        <p:spPr>
          <a:xfrm>
            <a:off x="5545836" y="2130552"/>
            <a:ext cx="749808" cy="320040"/>
          </a:xfrm>
          <a:prstGeom prst="rect">
            <a:avLst/>
          </a:prstGeom>
          <a:noFill/>
          <a:ln/>
        </p:spPr>
        <p:txBody>
          <a:bodyPr wrap="square" lIns="0" tIns="0" rIns="0" bIns="0" rtlCol="0" anchor="ct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p>
        </p:txBody>
      </p:sp>
      <p:sp>
        <p:nvSpPr>
          <p:cNvPr id="50" name="Text 47"/>
          <p:cNvSpPr/>
          <p:nvPr/>
        </p:nvSpPr>
        <p:spPr>
          <a:xfrm>
            <a:off x="5545836" y="2496312"/>
            <a:ext cx="749808" cy="228600"/>
          </a:xfrm>
          <a:prstGeom prst="rect">
            <a:avLst/>
          </a:prstGeom>
          <a:noFill/>
          <a:ln/>
        </p:spPr>
        <p:txBody>
          <a:bodyPr wrap="square" lIns="0" tIns="0" rIns="0" bIns="0" rtlCol="0" anchor="ctr"/>
          <a:lstStyle/>
          <a:p>
            <a:pPr algn="ctr" indent="0" marL="0">
              <a:buNone/>
            </a:pPr>
            <a:r>
              <a:rPr lang="en-US" sz="650" b="1" dirty="0">
                <a:solidFill>
                  <a:srgbClr val="C69214"/>
                </a:solidFill>
                <a:latin typeface="Calibri" pitchFamily="34" charset="0"/>
                <a:ea typeface="Calibri" pitchFamily="34" charset="-122"/>
                <a:cs typeface="Calibri" pitchFamily="34" charset="-120"/>
              </a:rPr>
              <a:t>SHEET → JSON</a:t>
            </a:r>
            <a:endParaRPr lang="en-US" sz="650" dirty="0"/>
          </a:p>
        </p:txBody>
      </p:sp>
      <p:sp>
        <p:nvSpPr>
          <p:cNvPr id="51" name="Text 48"/>
          <p:cNvSpPr/>
          <p:nvPr/>
        </p:nvSpPr>
        <p:spPr>
          <a:xfrm>
            <a:off x="5257800" y="2880360"/>
            <a:ext cx="1325880" cy="182880"/>
          </a:xfrm>
          <a:prstGeom prst="rect">
            <a:avLst/>
          </a:prstGeom>
          <a:noFill/>
          <a:ln/>
        </p:spPr>
        <p:txBody>
          <a:bodyPr wrap="square" lIns="0" tIns="0" rIns="0" bIns="0" rtlCol="0" anchor="ctr"/>
          <a:lstStyle/>
          <a:p>
            <a:pPr algn="ctr" indent="0" marL="0">
              <a:buNone/>
            </a:pPr>
            <a:r>
              <a:rPr lang="en-US" sz="950" b="1" dirty="0">
                <a:solidFill>
                  <a:srgbClr val="C69214"/>
                </a:solidFill>
                <a:latin typeface="Calibri" pitchFamily="34" charset="0"/>
                <a:ea typeface="Calibri" pitchFamily="34" charset="-122"/>
                <a:cs typeface="Calibri" pitchFamily="34" charset="-120"/>
              </a:rPr>
              <a:t>04</a:t>
            </a:r>
            <a:endParaRPr lang="en-US" sz="950" dirty="0"/>
          </a:p>
        </p:txBody>
      </p:sp>
      <p:sp>
        <p:nvSpPr>
          <p:cNvPr id="52" name="Text 49"/>
          <p:cNvSpPr/>
          <p:nvPr/>
        </p:nvSpPr>
        <p:spPr>
          <a:xfrm>
            <a:off x="5257800" y="3063240"/>
            <a:ext cx="1325880"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p:txBody>
      </p:sp>
      <p:sp>
        <p:nvSpPr>
          <p:cNvPr id="53" name="Text 50"/>
          <p:cNvSpPr/>
          <p:nvPr/>
        </p:nvSpPr>
        <p:spPr>
          <a:xfrm>
            <a:off x="5303520" y="3337560"/>
            <a:ext cx="1234440" cy="411480"/>
          </a:xfrm>
          <a:prstGeom prst="rect">
            <a:avLst/>
          </a:prstGeom>
          <a:noFill/>
          <a:ln/>
        </p:spPr>
        <p:txBody>
          <a:bodyPr wrap="square" lIns="0" tIns="0" rIns="0" bIns="0" rtlCol="0" anchor="ctr"/>
          <a:lstStyle/>
          <a:p>
            <a:pPr algn="ctr" indent="0" marL="0">
              <a:buNone/>
            </a:pPr>
            <a:r>
              <a:rPr lang="en-US" sz="850" dirty="0">
                <a:solidFill>
                  <a:srgbClr val="8A8279"/>
                </a:solidFill>
                <a:latin typeface="Calibri" pitchFamily="34" charset="0"/>
                <a:ea typeface="Calibri" pitchFamily="34" charset="-122"/>
                <a:cs typeface="Calibri" pitchFamily="34" charset="-120"/>
              </a:rPr>
              <a:t>Lightweight JSON</a:t>
            </a:r>
            <a:endParaRPr lang="en-US" sz="850" dirty="0"/>
          </a:p>
        </p:txBody>
      </p:sp>
      <p:sp>
        <p:nvSpPr>
          <p:cNvPr id="54" name="Shape 51"/>
          <p:cNvSpPr/>
          <p:nvPr/>
        </p:nvSpPr>
        <p:spPr>
          <a:xfrm>
            <a:off x="6583680" y="2926080"/>
            <a:ext cx="182880" cy="0"/>
          </a:xfrm>
          <a:prstGeom prst="line">
            <a:avLst/>
          </a:prstGeom>
          <a:noFill/>
          <a:ln w="15240">
            <a:solidFill>
              <a:srgbClr val="C69214"/>
            </a:solidFill>
            <a:prstDash val="dash"/>
          </a:ln>
        </p:spPr>
      </p:sp>
      <p:sp>
        <p:nvSpPr>
          <p:cNvPr id="55" name="Shape 52"/>
          <p:cNvSpPr/>
          <p:nvPr/>
        </p:nvSpPr>
        <p:spPr>
          <a:xfrm>
            <a:off x="5920740" y="3886200"/>
            <a:ext cx="0" cy="365760"/>
          </a:xfrm>
          <a:prstGeom prst="line">
            <a:avLst/>
          </a:prstGeom>
          <a:noFill/>
          <a:ln w="9525">
            <a:solidFill>
              <a:srgbClr val="2E2A25"/>
            </a:solidFill>
            <a:prstDash val="solid"/>
          </a:ln>
        </p:spPr>
      </p:sp>
      <p:sp>
        <p:nvSpPr>
          <p:cNvPr id="56" name="Shape 53"/>
          <p:cNvSpPr/>
          <p:nvPr/>
        </p:nvSpPr>
        <p:spPr>
          <a:xfrm>
            <a:off x="6766560" y="1965960"/>
            <a:ext cx="1325880" cy="1920240"/>
          </a:xfrm>
          <a:prstGeom prst="roundRect">
            <a:avLst>
              <a:gd name="adj" fmla="val 5517"/>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57" name="Shape 54"/>
          <p:cNvSpPr/>
          <p:nvPr/>
        </p:nvSpPr>
        <p:spPr>
          <a:xfrm>
            <a:off x="7054596" y="2075688"/>
            <a:ext cx="749808" cy="749808"/>
          </a:xfrm>
          <a:prstGeom prst="roundRect">
            <a:avLst>
              <a:gd name="adj" fmla="val 7317"/>
            </a:avLst>
          </a:prstGeom>
          <a:solidFill>
            <a:srgbClr val="0D0B09"/>
          </a:solidFill>
          <a:ln w="12700">
            <a:solidFill>
              <a:srgbClr val="2E2A25"/>
            </a:solidFill>
            <a:prstDash val="solid"/>
          </a:ln>
        </p:spPr>
      </p:sp>
      <p:sp>
        <p:nvSpPr>
          <p:cNvPr id="58" name="Text 55"/>
          <p:cNvSpPr/>
          <p:nvPr/>
        </p:nvSpPr>
        <p:spPr>
          <a:xfrm>
            <a:off x="7054596" y="2130552"/>
            <a:ext cx="749808" cy="320040"/>
          </a:xfrm>
          <a:prstGeom prst="rect">
            <a:avLst/>
          </a:prstGeom>
          <a:noFill/>
          <a:ln/>
        </p:spPr>
        <p:txBody>
          <a:bodyPr wrap="square" lIns="0" tIns="0" rIns="0" bIns="0" rtlCol="0" anchor="ct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p>
        </p:txBody>
      </p:sp>
      <p:sp>
        <p:nvSpPr>
          <p:cNvPr id="59" name="Text 56"/>
          <p:cNvSpPr/>
          <p:nvPr/>
        </p:nvSpPr>
        <p:spPr>
          <a:xfrm>
            <a:off x="7054596" y="2496312"/>
            <a:ext cx="749808" cy="228600"/>
          </a:xfrm>
          <a:prstGeom prst="rect">
            <a:avLst/>
          </a:prstGeom>
          <a:noFill/>
          <a:ln/>
        </p:spPr>
        <p:txBody>
          <a:bodyPr wrap="square" lIns="0" tIns="0" rIns="0" bIns="0" rtlCol="0" anchor="ctr"/>
          <a:lstStyle/>
          <a:p>
            <a:pPr algn="ctr" indent="0" marL="0">
              <a:buNone/>
            </a:pPr>
            <a:r>
              <a:rPr lang="en-US" sz="650" b="1" dirty="0">
                <a:solidFill>
                  <a:srgbClr val="C69214"/>
                </a:solidFill>
                <a:latin typeface="Calibri" pitchFamily="34" charset="0"/>
                <a:ea typeface="Calibri" pitchFamily="34" charset="-122"/>
                <a:cs typeface="Calibri" pitchFamily="34" charset="-120"/>
              </a:rPr>
              <a:t>STATIC HOSTING</a:t>
            </a:r>
            <a:endParaRPr lang="en-US" sz="650" dirty="0"/>
          </a:p>
        </p:txBody>
      </p:sp>
      <p:sp>
        <p:nvSpPr>
          <p:cNvPr id="60" name="Text 57"/>
          <p:cNvSpPr/>
          <p:nvPr/>
        </p:nvSpPr>
        <p:spPr>
          <a:xfrm>
            <a:off x="6766560" y="2880360"/>
            <a:ext cx="1325880" cy="182880"/>
          </a:xfrm>
          <a:prstGeom prst="rect">
            <a:avLst/>
          </a:prstGeom>
          <a:noFill/>
          <a:ln/>
        </p:spPr>
        <p:txBody>
          <a:bodyPr wrap="square" lIns="0" tIns="0" rIns="0" bIns="0" rtlCol="0" anchor="ctr"/>
          <a:lstStyle/>
          <a:p>
            <a:pPr algn="ctr" indent="0" marL="0">
              <a:buNone/>
            </a:pPr>
            <a:r>
              <a:rPr lang="en-US" sz="950" b="1" dirty="0">
                <a:solidFill>
                  <a:srgbClr val="C69214"/>
                </a:solidFill>
                <a:latin typeface="Calibri" pitchFamily="34" charset="0"/>
                <a:ea typeface="Calibri" pitchFamily="34" charset="-122"/>
                <a:cs typeface="Calibri" pitchFamily="34" charset="-120"/>
              </a:rPr>
              <a:t>05</a:t>
            </a:r>
            <a:endParaRPr lang="en-US" sz="950" dirty="0"/>
          </a:p>
        </p:txBody>
      </p:sp>
      <p:sp>
        <p:nvSpPr>
          <p:cNvPr id="61" name="Text 58"/>
          <p:cNvSpPr/>
          <p:nvPr/>
        </p:nvSpPr>
        <p:spPr>
          <a:xfrm>
            <a:off x="6766560" y="3063240"/>
            <a:ext cx="1325880"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WEB</a:t>
            </a:r>
            <a:endParaRPr lang="en-US" sz="1500" dirty="0"/>
          </a:p>
        </p:txBody>
      </p:sp>
      <p:sp>
        <p:nvSpPr>
          <p:cNvPr id="62" name="Text 59"/>
          <p:cNvSpPr/>
          <p:nvPr/>
        </p:nvSpPr>
        <p:spPr>
          <a:xfrm>
            <a:off x="6812280" y="3337560"/>
            <a:ext cx="1234440" cy="411480"/>
          </a:xfrm>
          <a:prstGeom prst="rect">
            <a:avLst/>
          </a:prstGeom>
          <a:noFill/>
          <a:ln/>
        </p:spPr>
        <p:txBody>
          <a:bodyPr wrap="square" lIns="0" tIns="0" rIns="0" bIns="0" rtlCol="0" anchor="ctr"/>
          <a:lstStyle/>
          <a:p>
            <a:pPr algn="ctr" indent="0" marL="0">
              <a:buNone/>
            </a:pPr>
            <a:r>
              <a:rPr lang="en-US" sz="850" dirty="0">
                <a:solidFill>
                  <a:srgbClr val="8A8279"/>
                </a:solidFill>
                <a:latin typeface="Calibri" pitchFamily="34" charset="0"/>
                <a:ea typeface="Calibri" pitchFamily="34" charset="-122"/>
                <a:cs typeface="Calibri" pitchFamily="34" charset="-120"/>
              </a:rPr>
              <a:t>Vercel / GitHub Pages</a:t>
            </a:r>
            <a:endParaRPr lang="en-US" sz="850" dirty="0"/>
          </a:p>
        </p:txBody>
      </p:sp>
      <p:sp>
        <p:nvSpPr>
          <p:cNvPr id="63" name="Shape 60"/>
          <p:cNvSpPr/>
          <p:nvPr/>
        </p:nvSpPr>
        <p:spPr>
          <a:xfrm>
            <a:off x="7429500" y="3886200"/>
            <a:ext cx="0" cy="365760"/>
          </a:xfrm>
          <a:prstGeom prst="line">
            <a:avLst/>
          </a:prstGeom>
          <a:noFill/>
          <a:ln w="9525">
            <a:solidFill>
              <a:srgbClr val="2E2A25"/>
            </a:solidFill>
            <a:prstDash val="solid"/>
          </a:ln>
        </p:spPr>
      </p:sp>
      <p:sp>
        <p:nvSpPr>
          <p:cNvPr id="64" name="Shape 61"/>
          <p:cNvSpPr/>
          <p:nvPr/>
        </p:nvSpPr>
        <p:spPr>
          <a:xfrm>
            <a:off x="8412480" y="2057400"/>
            <a:ext cx="0" cy="1645920"/>
          </a:xfrm>
          <a:prstGeom prst="line">
            <a:avLst/>
          </a:prstGeom>
          <a:noFill/>
          <a:ln w="12700">
            <a:solidFill>
              <a:srgbClr val="C69214"/>
            </a:solidFill>
            <a:prstDash val="solid"/>
          </a:ln>
        </p:spPr>
      </p:sp>
      <p:sp>
        <p:nvSpPr>
          <p:cNvPr id="65" name="Text 62"/>
          <p:cNvSpPr/>
          <p:nvPr/>
        </p:nvSpPr>
        <p:spPr>
          <a:xfrm>
            <a:off x="8577072" y="2057400"/>
            <a:ext cx="2864815" cy="201168"/>
          </a:xfrm>
          <a:prstGeom prst="rect">
            <a:avLst/>
          </a:prstGeom>
          <a:noFill/>
          <a:ln/>
        </p:spPr>
        <p:txBody>
          <a:bodyPr wrap="square" lIns="0" tIns="0" rIns="0" bIns="0" rtlCol="0" anchor="ctr"/>
          <a:lstStyle/>
          <a:p>
            <a:pPr indent="0" marL="0">
              <a:buNone/>
            </a:pPr>
            <a:r>
              <a:rPr lang="en-US" sz="950" b="1" spc="200" kern="0" dirty="0">
                <a:solidFill>
                  <a:srgbClr val="C69214"/>
                </a:solidFill>
                <a:latin typeface="Calibri" pitchFamily="34" charset="0"/>
                <a:ea typeface="Calibri" pitchFamily="34" charset="-122"/>
                <a:cs typeface="Calibri" pitchFamily="34" charset="-120"/>
              </a:rPr>
              <a:t>WHY IT SHIPS</a:t>
            </a:r>
            <a:endParaRPr lang="en-US" sz="950" dirty="0"/>
          </a:p>
        </p:txBody>
      </p:sp>
      <p:sp>
        <p:nvSpPr>
          <p:cNvPr id="66" name="Text 63"/>
          <p:cNvSpPr/>
          <p:nvPr/>
        </p:nvSpPr>
        <p:spPr>
          <a:xfrm>
            <a:off x="8577072" y="2313432"/>
            <a:ext cx="2864815" cy="868680"/>
          </a:xfrm>
          <a:prstGeom prst="rect">
            <a:avLst/>
          </a:prstGeom>
          <a:noFill/>
          <a:ln/>
        </p:spPr>
        <p:txBody>
          <a:bodyPr wrap="square" lIns="0" tIns="0" rIns="0" bIns="0" rtlCol="0" anchor="ctr"/>
          <a:lstStyle/>
          <a:p>
            <a:pPr indent="0" marL="0">
              <a:lnSpc>
                <a:spcPct val="115000"/>
              </a:lnSpc>
              <a:buNone/>
            </a:pPr>
            <a:r>
              <a:rPr lang="en-US" sz="850" dirty="0">
                <a:solidFill>
                  <a:srgbClr val="E8E0D4"/>
                </a:solidFill>
                <a:latin typeface="Calibri" pitchFamily="34" charset="0"/>
                <a:ea typeface="Calibri" pitchFamily="34" charset="-122"/>
                <a:cs typeface="Calibri" pitchFamily="34" charset="-120"/>
              </a:rPr>
              <a:t>Every layer is an existing browser or platform capability (Next.js 14 PWA, Global Edge CDN, Web Speech in 5+ Indian languages). The 3,693 ASI monuments catalog starts as a spreadsheet and exports to JSON — so content can grow without touching the code.</a:t>
            </a:r>
            <a:endParaRPr lang="en-US" sz="850" dirty="0"/>
          </a:p>
        </p:txBody>
      </p:sp>
      <p:sp>
        <p:nvSpPr>
          <p:cNvPr id="67" name="Text 64"/>
          <p:cNvSpPr/>
          <p:nvPr/>
        </p:nvSpPr>
        <p:spPr>
          <a:xfrm>
            <a:off x="8577072" y="3264408"/>
            <a:ext cx="2864815" cy="182880"/>
          </a:xfrm>
          <a:prstGeom prst="rect">
            <a:avLst/>
          </a:prstGeom>
          <a:noFill/>
          <a:ln/>
        </p:spPr>
        <p:txBody>
          <a:bodyPr wrap="square" lIns="0" tIns="0" rIns="0" bIns="0" rtlCol="0" anchor="ctr"/>
          <a:lstStyle/>
          <a:p>
            <a:pPr indent="0" marL="0">
              <a:buNone/>
            </a:pPr>
            <a:r>
              <a:rPr lang="en-US" sz="850" b="1" spc="200" kern="0" dirty="0">
                <a:solidFill>
                  <a:srgbClr val="C69214"/>
                </a:solidFill>
                <a:latin typeface="Calibri" pitchFamily="34" charset="0"/>
                <a:ea typeface="Calibri" pitchFamily="34" charset="-122"/>
                <a:cs typeface="Calibri" pitchFamily="34" charset="-120"/>
              </a:rPr>
              <a:t>DEPLOY SURFACE</a:t>
            </a:r>
            <a:endParaRPr lang="en-US" sz="850" dirty="0"/>
          </a:p>
        </p:txBody>
      </p:sp>
      <p:sp>
        <p:nvSpPr>
          <p:cNvPr id="68" name="Text 65"/>
          <p:cNvSpPr/>
          <p:nvPr/>
        </p:nvSpPr>
        <p:spPr>
          <a:xfrm>
            <a:off x="8577072" y="3465576"/>
            <a:ext cx="2864815" cy="4114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Static site,</a:t>
            </a:r>
            <a:endParaRPr lang="en-US" sz="1200" dirty="0"/>
          </a:p>
          <a:p>
            <a:pPr indent="0" marL="0">
              <a:buNone/>
            </a:pPr>
            <a:r>
              <a:rPr lang="en-US" sz="1200" b="1" dirty="0">
                <a:solidFill>
                  <a:srgbClr val="FFFFFF"/>
                </a:solidFill>
                <a:latin typeface="Calibri" pitchFamily="34" charset="0"/>
                <a:ea typeface="Calibri" pitchFamily="34" charset="-122"/>
                <a:cs typeface="Calibri" pitchFamily="34" charset="-120"/>
              </a:rPr>
              <a:t>any modern browser</a:t>
            </a:r>
            <a:endParaRPr lang="en-US" sz="1200" dirty="0"/>
          </a:p>
        </p:txBody>
      </p:sp>
      <p:sp>
        <p:nvSpPr>
          <p:cNvPr id="69" name="Shape 66"/>
          <p:cNvSpPr/>
          <p:nvPr/>
        </p:nvSpPr>
        <p:spPr>
          <a:xfrm>
            <a:off x="731520" y="4251960"/>
            <a:ext cx="7360920" cy="0"/>
          </a:xfrm>
          <a:prstGeom prst="line">
            <a:avLst/>
          </a:prstGeom>
          <a:noFill/>
          <a:ln w="9525">
            <a:solidFill>
              <a:srgbClr val="2E2A25"/>
            </a:solidFill>
            <a:prstDash val="solid"/>
          </a:ln>
        </p:spPr>
      </p:sp>
      <p:sp>
        <p:nvSpPr>
          <p:cNvPr id="70" name="Text 67"/>
          <p:cNvSpPr/>
          <p:nvPr/>
        </p:nvSpPr>
        <p:spPr>
          <a:xfrm>
            <a:off x="731520" y="4343400"/>
            <a:ext cx="7360920" cy="201168"/>
          </a:xfrm>
          <a:prstGeom prst="rect">
            <a:avLst/>
          </a:prstGeom>
          <a:noFill/>
          <a:ln/>
        </p:spPr>
        <p:txBody>
          <a:bodyPr wrap="square" lIns="0" tIns="0" rIns="0" bIns="0" rtlCol="0" anchor="ctr"/>
          <a:lstStyle/>
          <a:p>
            <a:pPr indent="0" marL="0">
              <a:buNone/>
            </a:pPr>
            <a:r>
              <a:rPr lang="en-US" sz="750" spc="200" kern="0" dirty="0">
                <a:solidFill>
                  <a:srgbClr val="8A8279"/>
                </a:solidFill>
                <a:latin typeface="Calibri" pitchFamily="34" charset="0"/>
                <a:ea typeface="Calibri" pitchFamily="34" charset="-122"/>
                <a:cs typeface="Calibri" pitchFamily="34" charset="-120"/>
              </a:rPr>
              <a:t>EXISTING, PROVEN BUILDING BLOCKS  —  NO CUSTOM SERVER, NO DATABASE LAYER IN THE MVP</a:t>
            </a:r>
            <a:endParaRPr lang="en-US" sz="750" dirty="0"/>
          </a:p>
        </p:txBody>
      </p:sp>
      <p:sp>
        <p:nvSpPr>
          <p:cNvPr id="71" name="Text 68"/>
          <p:cNvSpPr/>
          <p:nvPr/>
        </p:nvSpPr>
        <p:spPr>
          <a:xfrm>
            <a:off x="731520" y="4983480"/>
            <a:ext cx="1828800" cy="201168"/>
          </a:xfrm>
          <a:prstGeom prst="rect">
            <a:avLst/>
          </a:prstGeom>
          <a:noFill/>
          <a:ln/>
        </p:spPr>
        <p:txBody>
          <a:bodyPr wrap="square" lIns="0" tIns="0" rIns="0" bIns="0" rtlCol="0" anchor="ctr"/>
          <a:lstStyle/>
          <a:p>
            <a:pPr indent="0" marL="0">
              <a:buNone/>
            </a:pPr>
            <a:r>
              <a:rPr lang="en-US" sz="1000" b="1" spc="200" kern="0" dirty="0">
                <a:solidFill>
                  <a:srgbClr val="C69214"/>
                </a:solidFill>
                <a:latin typeface="Calibri" pitchFamily="34" charset="0"/>
                <a:ea typeface="Calibri" pitchFamily="34" charset="-122"/>
                <a:cs typeface="Calibri" pitchFamily="34" charset="-120"/>
              </a:rPr>
              <a:t>STRETCH  /  NEXT</a:t>
            </a:r>
            <a:endParaRPr lang="en-US" sz="1000" dirty="0"/>
          </a:p>
        </p:txBody>
      </p:sp>
      <p:sp>
        <p:nvSpPr>
          <p:cNvPr id="72" name="Text 69"/>
          <p:cNvSpPr/>
          <p:nvPr/>
        </p:nvSpPr>
        <p:spPr>
          <a:xfrm>
            <a:off x="731520" y="5212080"/>
            <a:ext cx="1828800" cy="365760"/>
          </a:xfrm>
          <a:prstGeom prst="rect">
            <a:avLst/>
          </a:prstGeom>
          <a:noFill/>
          <a:ln/>
        </p:spPr>
        <p:txBody>
          <a:bodyPr wrap="square" lIns="0" tIns="0" rIns="0" bIns="0" rtlCol="0" anchor="ctr"/>
          <a:lstStyle/>
          <a:p>
            <a:pPr indent="0" marL="0">
              <a:buNone/>
            </a:pPr>
            <a:r>
              <a:rPr lang="en-US" sz="850" dirty="0">
                <a:solidFill>
                  <a:srgbClr val="8A8279"/>
                </a:solidFill>
                <a:latin typeface="Calibri" pitchFamily="34" charset="0"/>
                <a:ea typeface="Calibri" pitchFamily="34" charset="-122"/>
                <a:cs typeface="Calibri" pitchFamily="34" charset="-120"/>
              </a:rPr>
              <a:t>Not implemented.</a:t>
            </a:r>
            <a:endParaRPr lang="en-US" sz="850" dirty="0"/>
          </a:p>
          <a:p>
            <a:pPr indent="0" marL="0">
              <a:buNone/>
            </a:pPr>
            <a:r>
              <a:rPr lang="en-US" sz="850" dirty="0">
                <a:solidFill>
                  <a:srgbClr val="8A8279"/>
                </a:solidFill>
                <a:latin typeface="Calibri" pitchFamily="34" charset="0"/>
                <a:ea typeface="Calibri" pitchFamily="34" charset="-122"/>
                <a:cs typeface="Calibri" pitchFamily="34" charset="-120"/>
              </a:rPr>
              <a:t>Explored after MVP.</a:t>
            </a:r>
            <a:endParaRPr lang="en-US" sz="850" dirty="0"/>
          </a:p>
        </p:txBody>
      </p:sp>
      <p:sp>
        <p:nvSpPr>
          <p:cNvPr id="73" name="Shape 70"/>
          <p:cNvSpPr/>
          <p:nvPr/>
        </p:nvSpPr>
        <p:spPr>
          <a:xfrm>
            <a:off x="2560320" y="4983480"/>
            <a:ext cx="2697480" cy="548640"/>
          </a:xfrm>
          <a:prstGeom prst="roundRect">
            <a:avLst>
              <a:gd name="adj" fmla="val 8333"/>
            </a:avLst>
          </a:prstGeom>
          <a:solidFill>
            <a:srgbClr val="1A1714"/>
          </a:solidFill>
          <a:ln w="12700">
            <a:solidFill>
              <a:srgbClr val="2E2A25"/>
            </a:solidFill>
            <a:prstDash val="dash"/>
          </a:ln>
        </p:spPr>
      </p:sp>
      <p:sp>
        <p:nvSpPr>
          <p:cNvPr id="74" name="Text 71"/>
          <p:cNvSpPr/>
          <p:nvPr/>
        </p:nvSpPr>
        <p:spPr>
          <a:xfrm>
            <a:off x="2560320" y="4983480"/>
            <a:ext cx="2697480" cy="548640"/>
          </a:xfrm>
          <a:prstGeom prst="rect">
            <a:avLst/>
          </a:prstGeom>
          <a:noFill/>
          <a:ln/>
        </p:spPr>
        <p:txBody>
          <a:bodyPr wrap="square" lIns="0" tIns="0" rIns="0" bIns="0" rtlCol="0" anchor="ctr"/>
          <a:lstStyle/>
          <a:p>
            <a:pPr algn="ctr" indent="0" marL="0">
              <a:buNone/>
            </a:pPr>
            <a:r>
              <a:rPr lang="en-US" sz="950" b="1" dirty="0">
                <a:solidFill>
                  <a:srgbClr val="E8E0D4"/>
                </a:solidFill>
                <a:latin typeface="Calibri" pitchFamily="34" charset="0"/>
                <a:ea typeface="Calibri" pitchFamily="34" charset="-122"/>
                <a:cs typeface="Calibri" pitchFamily="34" charset="-120"/>
              </a:rPr>
              <a:t>3D MAP EXPERIENCES</a:t>
            </a:r>
            <a:endParaRPr lang="en-US" sz="950" dirty="0"/>
          </a:p>
        </p:txBody>
      </p:sp>
      <p:sp>
        <p:nvSpPr>
          <p:cNvPr id="75" name="Shape 72"/>
          <p:cNvSpPr/>
          <p:nvPr/>
        </p:nvSpPr>
        <p:spPr>
          <a:xfrm>
            <a:off x="5440680" y="4983480"/>
            <a:ext cx="2697480" cy="548640"/>
          </a:xfrm>
          <a:prstGeom prst="roundRect">
            <a:avLst>
              <a:gd name="adj" fmla="val 8333"/>
            </a:avLst>
          </a:prstGeom>
          <a:solidFill>
            <a:srgbClr val="1A1714"/>
          </a:solidFill>
          <a:ln w="12700">
            <a:solidFill>
              <a:srgbClr val="2E2A25"/>
            </a:solidFill>
            <a:prstDash val="dash"/>
          </a:ln>
        </p:spPr>
      </p:sp>
      <p:sp>
        <p:nvSpPr>
          <p:cNvPr id="76" name="Text 73"/>
          <p:cNvSpPr/>
          <p:nvPr/>
        </p:nvSpPr>
        <p:spPr>
          <a:xfrm>
            <a:off x="5440680" y="4983480"/>
            <a:ext cx="2697480" cy="548640"/>
          </a:xfrm>
          <a:prstGeom prst="rect">
            <a:avLst/>
          </a:prstGeom>
          <a:noFill/>
          <a:ln/>
        </p:spPr>
        <p:txBody>
          <a:bodyPr wrap="square" lIns="0" tIns="0" rIns="0" bIns="0" rtlCol="0" anchor="ctr"/>
          <a:lstStyle/>
          <a:p>
            <a:pPr algn="ctr" indent="0" marL="0">
              <a:buNone/>
            </a:pPr>
            <a:r>
              <a:rPr lang="en-US" sz="950" b="1" dirty="0">
                <a:solidFill>
                  <a:srgbClr val="E8E0D4"/>
                </a:solidFill>
                <a:latin typeface="Calibri" pitchFamily="34" charset="0"/>
                <a:ea typeface="Calibri" pitchFamily="34" charset="-122"/>
                <a:cs typeface="Calibri" pitchFamily="34" charset="-120"/>
              </a:rPr>
              <a:t>MULTI-LANGUAGE AUDIO</a:t>
            </a:r>
            <a:endParaRPr lang="en-US" sz="950" dirty="0"/>
          </a:p>
        </p:txBody>
      </p:sp>
      <p:sp>
        <p:nvSpPr>
          <p:cNvPr id="77" name="Shape 74"/>
          <p:cNvSpPr/>
          <p:nvPr/>
        </p:nvSpPr>
        <p:spPr>
          <a:xfrm>
            <a:off x="8321040" y="4983480"/>
            <a:ext cx="3139135" cy="548640"/>
          </a:xfrm>
          <a:prstGeom prst="roundRect">
            <a:avLst>
              <a:gd name="adj" fmla="val 8333"/>
            </a:avLst>
          </a:prstGeom>
          <a:solidFill>
            <a:srgbClr val="1A1714"/>
          </a:solidFill>
          <a:ln w="12700">
            <a:solidFill>
              <a:srgbClr val="2E2A25"/>
            </a:solidFill>
            <a:prstDash val="dash"/>
          </a:ln>
        </p:spPr>
      </p:sp>
      <p:sp>
        <p:nvSpPr>
          <p:cNvPr id="78" name="Text 75"/>
          <p:cNvSpPr/>
          <p:nvPr/>
        </p:nvSpPr>
        <p:spPr>
          <a:xfrm>
            <a:off x="8321040" y="4983480"/>
            <a:ext cx="3139135" cy="548640"/>
          </a:xfrm>
          <a:prstGeom prst="rect">
            <a:avLst/>
          </a:prstGeom>
          <a:noFill/>
          <a:ln/>
        </p:spPr>
        <p:txBody>
          <a:bodyPr wrap="square" lIns="0" tIns="0" rIns="0" bIns="0" rtlCol="0" anchor="ctr"/>
          <a:lstStyle/>
          <a:p>
            <a:pPr algn="ctr" indent="0" marL="0">
              <a:buNone/>
            </a:pPr>
            <a:r>
              <a:rPr lang="en-US" sz="950" b="1" dirty="0">
                <a:solidFill>
                  <a:srgbClr val="E8E0D4"/>
                </a:solidFill>
                <a:latin typeface="Calibri" pitchFamily="34" charset="0"/>
                <a:ea typeface="Calibri" pitchFamily="34" charset="-122"/>
                <a:cs typeface="Calibri" pitchFamily="34" charset="-120"/>
              </a:rPr>
              <a:t>SEARCH &amp; FILTERS</a:t>
            </a:r>
            <a:endParaRPr lang="en-US" sz="950" dirty="0"/>
          </a:p>
        </p:txBody>
      </p:sp>
      <p:sp>
        <p:nvSpPr>
          <p:cNvPr id="79" name="Text 76"/>
          <p:cNvSpPr/>
          <p:nvPr/>
        </p:nvSpPr>
        <p:spPr>
          <a:xfrm>
            <a:off x="2560320" y="5605272"/>
            <a:ext cx="8899855" cy="201168"/>
          </a:xfrm>
          <a:prstGeom prst="rect">
            <a:avLst/>
          </a:prstGeom>
          <a:noFill/>
          <a:ln/>
        </p:spPr>
        <p:txBody>
          <a:bodyPr wrap="square" lIns="0" tIns="0" rIns="0" bIns="0" rtlCol="0" anchor="ctr"/>
          <a:lstStyle/>
          <a:p>
            <a:pPr indent="0" marL="0">
              <a:buNone/>
            </a:pPr>
            <a:r>
              <a:rPr lang="en-US" sz="800" dirty="0">
                <a:solidFill>
                  <a:srgbClr val="8A8279"/>
                </a:solidFill>
                <a:latin typeface="Calibri" pitchFamily="34" charset="0"/>
                <a:ea typeface="Calibri" pitchFamily="34" charset="-122"/>
                <a:cs typeface="Calibri" pitchFamily="34" charset="-120"/>
              </a:rPr>
              <a:t>&lt; 350 KB Initial Bundle Payload · ₹0 / User Marginal Audio Streaming Cost · 48 Hours Onboarding Cycle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9"/>
        </a:solidFill>
      </p:bgPr>
    </p:bg>
    <p:spTree>
      <p:nvGrpSpPr>
        <p:cNvPr id="1" name=""/>
        <p:cNvGrpSpPr/>
        <p:nvPr/>
      </p:nvGrpSpPr>
      <p:grpSpPr>
        <a:xfrm>
          <a:off x="0" y="0"/>
          <a:ext cx="0" cy="0"/>
          <a:chOff x="0" y="0"/>
          <a:chExt cx="0" cy="0"/>
        </a:xfrm>
      </p:grpSpPr>
      <p:sp>
        <p:nvSpPr>
          <p:cNvPr id="2" name="Shape 0"/>
          <p:cNvSpPr/>
          <p:nvPr/>
        </p:nvSpPr>
        <p:spPr>
          <a:xfrm>
            <a:off x="2377440" y="457200"/>
            <a:ext cx="0" cy="5760720"/>
          </a:xfrm>
          <a:prstGeom prst="line">
            <a:avLst/>
          </a:prstGeom>
          <a:noFill/>
          <a:ln w="6350">
            <a:solidFill>
              <a:srgbClr val="1C1916"/>
            </a:solidFill>
            <a:prstDash val="solid"/>
          </a:ln>
        </p:spPr>
      </p:sp>
      <p:sp>
        <p:nvSpPr>
          <p:cNvPr id="3" name="Shape 1"/>
          <p:cNvSpPr/>
          <p:nvPr/>
        </p:nvSpPr>
        <p:spPr>
          <a:xfrm>
            <a:off x="4023360" y="457200"/>
            <a:ext cx="0" cy="5760720"/>
          </a:xfrm>
          <a:prstGeom prst="line">
            <a:avLst/>
          </a:prstGeom>
          <a:noFill/>
          <a:ln w="6350">
            <a:solidFill>
              <a:srgbClr val="1C1916"/>
            </a:solidFill>
            <a:prstDash val="solid"/>
          </a:ln>
        </p:spPr>
      </p:sp>
      <p:sp>
        <p:nvSpPr>
          <p:cNvPr id="4" name="Shape 2"/>
          <p:cNvSpPr/>
          <p:nvPr/>
        </p:nvSpPr>
        <p:spPr>
          <a:xfrm>
            <a:off x="5669280" y="457200"/>
            <a:ext cx="0" cy="5760720"/>
          </a:xfrm>
          <a:prstGeom prst="line">
            <a:avLst/>
          </a:prstGeom>
          <a:noFill/>
          <a:ln w="6350">
            <a:solidFill>
              <a:srgbClr val="1C1916"/>
            </a:solidFill>
            <a:prstDash val="solid"/>
          </a:ln>
        </p:spPr>
      </p:sp>
      <p:sp>
        <p:nvSpPr>
          <p:cNvPr id="5" name="Shape 3"/>
          <p:cNvSpPr/>
          <p:nvPr/>
        </p:nvSpPr>
        <p:spPr>
          <a:xfrm>
            <a:off x="7315200" y="457200"/>
            <a:ext cx="0" cy="5760720"/>
          </a:xfrm>
          <a:prstGeom prst="line">
            <a:avLst/>
          </a:prstGeom>
          <a:noFill/>
          <a:ln w="6350">
            <a:solidFill>
              <a:srgbClr val="1C1916"/>
            </a:solidFill>
            <a:prstDash val="solid"/>
          </a:ln>
        </p:spPr>
      </p:sp>
      <p:sp>
        <p:nvSpPr>
          <p:cNvPr id="6" name="Shape 4"/>
          <p:cNvSpPr/>
          <p:nvPr/>
        </p:nvSpPr>
        <p:spPr>
          <a:xfrm>
            <a:off x="8961120" y="457200"/>
            <a:ext cx="0" cy="5760720"/>
          </a:xfrm>
          <a:prstGeom prst="line">
            <a:avLst/>
          </a:prstGeom>
          <a:noFill/>
          <a:ln w="6350">
            <a:solidFill>
              <a:srgbClr val="1C1916"/>
            </a:solidFill>
            <a:prstDash val="solid"/>
          </a:ln>
        </p:spPr>
      </p:sp>
      <p:sp>
        <p:nvSpPr>
          <p:cNvPr id="7" name="Shape 5"/>
          <p:cNvSpPr/>
          <p:nvPr/>
        </p:nvSpPr>
        <p:spPr>
          <a:xfrm>
            <a:off x="10607040" y="457200"/>
            <a:ext cx="0" cy="5760720"/>
          </a:xfrm>
          <a:prstGeom prst="line">
            <a:avLst/>
          </a:prstGeom>
          <a:noFill/>
          <a:ln w="6350">
            <a:solidFill>
              <a:srgbClr val="1C1916"/>
            </a:solidFill>
            <a:prstDash val="solid"/>
          </a:ln>
        </p:spPr>
      </p:sp>
      <p:sp>
        <p:nvSpPr>
          <p:cNvPr id="8" name="Shape 6"/>
          <p:cNvSpPr/>
          <p:nvPr/>
        </p:nvSpPr>
        <p:spPr>
          <a:xfrm>
            <a:off x="731520" y="2103120"/>
            <a:ext cx="10728655" cy="0"/>
          </a:xfrm>
          <a:prstGeom prst="line">
            <a:avLst/>
          </a:prstGeom>
          <a:noFill/>
          <a:ln w="6350">
            <a:solidFill>
              <a:srgbClr val="1C1916"/>
            </a:solidFill>
            <a:prstDash val="solid"/>
          </a:ln>
        </p:spPr>
      </p:sp>
      <p:sp>
        <p:nvSpPr>
          <p:cNvPr id="9" name="Shape 7"/>
          <p:cNvSpPr/>
          <p:nvPr/>
        </p:nvSpPr>
        <p:spPr>
          <a:xfrm>
            <a:off x="731520" y="3474720"/>
            <a:ext cx="10728655" cy="0"/>
          </a:xfrm>
          <a:prstGeom prst="line">
            <a:avLst/>
          </a:prstGeom>
          <a:noFill/>
          <a:ln w="6350">
            <a:solidFill>
              <a:srgbClr val="1C1916"/>
            </a:solidFill>
            <a:prstDash val="solid"/>
          </a:ln>
        </p:spPr>
      </p:sp>
      <p:sp>
        <p:nvSpPr>
          <p:cNvPr id="10" name="Shape 8"/>
          <p:cNvSpPr/>
          <p:nvPr/>
        </p:nvSpPr>
        <p:spPr>
          <a:xfrm>
            <a:off x="731520" y="4846320"/>
            <a:ext cx="10728655" cy="0"/>
          </a:xfrm>
          <a:prstGeom prst="line">
            <a:avLst/>
          </a:prstGeom>
          <a:noFill/>
          <a:ln w="6350">
            <a:solidFill>
              <a:srgbClr val="1C1916"/>
            </a:solidFill>
            <a:prstDash val="solid"/>
          </a:ln>
        </p:spPr>
      </p:sp>
      <p:sp>
        <p:nvSpPr>
          <p:cNvPr id="11" name="Shape 9"/>
          <p:cNvSpPr/>
          <p:nvPr/>
        </p:nvSpPr>
        <p:spPr>
          <a:xfrm>
            <a:off x="731520" y="6217920"/>
            <a:ext cx="10728655" cy="0"/>
          </a:xfrm>
          <a:prstGeom prst="line">
            <a:avLst/>
          </a:prstGeom>
          <a:noFill/>
          <a:ln w="6350">
            <a:solidFill>
              <a:srgbClr val="1C1916"/>
            </a:solidFill>
            <a:prstDash val="solid"/>
          </a:ln>
        </p:spPr>
      </p:sp>
      <p:pic>
        <p:nvPicPr>
          <p:cNvPr id="12" name="Image 0" descr="/Users/krishnajangid/.gemini/antigravity/brain/0257ec97-0b88-48e3-abaf-ced68cd3ce48/closing_monument_1789403341798.jpg">    </p:cNvPr>
          <p:cNvPicPr>
            <a:picLocks noChangeAspect="1"/>
          </p:cNvPicPr>
          <p:nvPr/>
        </p:nvPicPr>
        <p:blipFill>
          <a:blip r:embed="rId1">
            <a:alphaModFix amt="12000"/>
          </a:blip>
          <a:stretch>
            <a:fillRect/>
          </a:stretch>
        </p:blipFill>
        <p:spPr>
          <a:xfrm>
            <a:off x="6583680" y="457200"/>
            <a:ext cx="4876495" cy="5760720"/>
          </a:xfrm>
          <a:prstGeom prst="rect">
            <a:avLst/>
          </a:prstGeom>
        </p:spPr>
      </p:pic>
      <p:sp>
        <p:nvSpPr>
          <p:cNvPr id="13" name="Text 10"/>
          <p:cNvSpPr/>
          <p:nvPr/>
        </p:nvSpPr>
        <p:spPr>
          <a:xfrm>
            <a:off x="731520" y="457200"/>
            <a:ext cx="4389120" cy="219456"/>
          </a:xfrm>
          <a:prstGeom prst="rect">
            <a:avLst/>
          </a:prstGeom>
          <a:noFill/>
          <a:ln/>
        </p:spPr>
        <p:txBody>
          <a:bodyPr wrap="square" lIns="0" tIns="0" rIns="0" bIns="0" rtlCol="0" anchor="ctr"/>
          <a:lstStyle/>
          <a:p>
            <a:pPr indent="0" marL="0">
              <a:buNone/>
            </a:pPr>
            <a:r>
              <a:rPr lang="en-US" sz="1000" b="1" spc="300" kern="0" dirty="0">
                <a:solidFill>
                  <a:srgbClr val="C69214"/>
                </a:solidFill>
                <a:latin typeface="Calibri" pitchFamily="34" charset="0"/>
                <a:ea typeface="Calibri" pitchFamily="34" charset="-122"/>
                <a:cs typeface="Calibri" pitchFamily="34" charset="-120"/>
              </a:rPr>
              <a:t>06  —  IMPACT &amp; VALUE</a:t>
            </a:r>
            <a:endParaRPr lang="en-US" sz="1000" dirty="0"/>
          </a:p>
        </p:txBody>
      </p:sp>
      <p:sp>
        <p:nvSpPr>
          <p:cNvPr id="14" name="Text 11"/>
          <p:cNvSpPr/>
          <p:nvPr/>
        </p:nvSpPr>
        <p:spPr>
          <a:xfrm>
            <a:off x="6858000" y="457200"/>
            <a:ext cx="4602175" cy="219456"/>
          </a:xfrm>
          <a:prstGeom prst="rect">
            <a:avLst/>
          </a:prstGeom>
          <a:noFill/>
          <a:ln/>
        </p:spPr>
        <p:txBody>
          <a:bodyPr wrap="square" lIns="0" tIns="0" rIns="0" bIns="0" rtlCol="0" anchor="ctr"/>
          <a:lstStyle/>
          <a:p>
            <a:pPr algn="r" indent="0" marL="0">
              <a:buNone/>
            </a:pPr>
            <a:r>
              <a:rPr lang="en-US" sz="900" spc="200" kern="0" dirty="0">
                <a:solidFill>
                  <a:srgbClr val="8A8279"/>
                </a:solidFill>
                <a:latin typeface="Calibri" pitchFamily="34" charset="0"/>
                <a:ea typeface="Calibri" pitchFamily="34" charset="-122"/>
                <a:cs typeface="Calibri" pitchFamily="34" charset="-120"/>
              </a:rPr>
              <a:t>26.2967° N  ·  73.0182° E  JODHPUR, IN</a:t>
            </a:r>
            <a:endParaRPr lang="en-US" sz="900" dirty="0"/>
          </a:p>
        </p:txBody>
      </p:sp>
      <p:sp>
        <p:nvSpPr>
          <p:cNvPr id="15" name="Text 12"/>
          <p:cNvSpPr/>
          <p:nvPr/>
        </p:nvSpPr>
        <p:spPr>
          <a:xfrm>
            <a:off x="731520" y="713232"/>
            <a:ext cx="6583680" cy="8686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THREE THINGS.
</a:t>
            </a:r>
            <a:pPr indent="0" marL="0">
              <a:lnSpc>
                <a:spcPct val="105000"/>
              </a:lnSpc>
              <a:buNone/>
            </a:pPr>
            <a:r>
              <a:rPr lang="en-US" sz="3200" b="1" dirty="0">
                <a:solidFill>
                  <a:srgbClr val="C69214"/>
                </a:solidFill>
                <a:latin typeface="Cambria" pitchFamily="34" charset="0"/>
                <a:ea typeface="Cambria" pitchFamily="34" charset="-122"/>
                <a:cs typeface="Cambria" pitchFamily="34" charset="-120"/>
              </a:rPr>
              <a:t>ONE EXPERIENCE.</a:t>
            </a:r>
            <a:endParaRPr lang="en-US" sz="3200" dirty="0"/>
          </a:p>
        </p:txBody>
      </p:sp>
      <p:sp>
        <p:nvSpPr>
          <p:cNvPr id="16" name="Text 13"/>
          <p:cNvSpPr/>
          <p:nvPr/>
        </p:nvSpPr>
        <p:spPr>
          <a:xfrm>
            <a:off x="731520" y="1627632"/>
            <a:ext cx="6400800" cy="256032"/>
          </a:xfrm>
          <a:prstGeom prst="rect">
            <a:avLst/>
          </a:prstGeom>
          <a:noFill/>
          <a:ln/>
        </p:spPr>
        <p:txBody>
          <a:bodyPr wrap="square" lIns="0" tIns="0" rIns="0" bIns="0" rtlCol="0" anchor="ctr"/>
          <a:lstStyle/>
          <a:p>
            <a:pPr indent="0" marL="0">
              <a:buNone/>
            </a:pPr>
            <a:r>
              <a:rPr lang="en-US" sz="1200" dirty="0">
                <a:solidFill>
                  <a:srgbClr val="E8E0D4"/>
                </a:solidFill>
                <a:latin typeface="Calibri" pitchFamily="34" charset="0"/>
                <a:ea typeface="Calibri" pitchFamily="34" charset="-122"/>
                <a:cs typeface="Calibri" pitchFamily="34" charset="-120"/>
              </a:rPr>
              <a:t>Discovery, storytelling and visitor planning in one flow. (Business Model &amp; Scalability · Impact &amp; Social Relevance)</a:t>
            </a:r>
            <a:endParaRPr lang="en-US" sz="1200" dirty="0"/>
          </a:p>
        </p:txBody>
      </p:sp>
      <p:sp>
        <p:nvSpPr>
          <p:cNvPr id="17" name="Text 14"/>
          <p:cNvSpPr/>
          <p:nvPr/>
        </p:nvSpPr>
        <p:spPr>
          <a:xfrm>
            <a:off x="7498080" y="685800"/>
            <a:ext cx="3962095" cy="960120"/>
          </a:xfrm>
          <a:prstGeom prst="rect">
            <a:avLst/>
          </a:prstGeom>
          <a:noFill/>
          <a:ln/>
        </p:spPr>
        <p:txBody>
          <a:bodyPr wrap="square" lIns="0" tIns="0" rIns="0" bIns="0" rtlCol="0" anchor="ctr"/>
          <a:lstStyle/>
          <a:p>
            <a:pPr algn="r" indent="0" marL="0">
              <a:lnSpc>
                <a:spcPct val="110000"/>
              </a:lnSpc>
              <a:buNone/>
            </a:pPr>
            <a:r>
              <a:rPr lang="en-US" sz="2000" i="1" dirty="0">
                <a:solidFill>
                  <a:srgbClr val="C69214"/>
                </a:solidFill>
                <a:latin typeface="Cambria" pitchFamily="34" charset="0"/>
                <a:ea typeface="Cambria" pitchFamily="34" charset="-122"/>
                <a:cs typeface="Cambria" pitchFamily="34" charset="-120"/>
              </a:rPr>
              <a:t>Discovery, storytelling and</a:t>
            </a:r>
            <a:endParaRPr lang="en-US" sz="2000" dirty="0"/>
          </a:p>
          <a:p>
            <a:pPr algn="r" indent="0" marL="0">
              <a:lnSpc>
                <a:spcPct val="110000"/>
              </a:lnSpc>
              <a:buNone/>
            </a:pPr>
            <a:r>
              <a:rPr lang="en-US" sz="2000" i="1" dirty="0">
                <a:solidFill>
                  <a:srgbClr val="C69214"/>
                </a:solidFill>
                <a:latin typeface="Cambria" pitchFamily="34" charset="0"/>
                <a:ea typeface="Cambria" pitchFamily="34" charset="-122"/>
                <a:cs typeface="Cambria" pitchFamily="34" charset="-120"/>
              </a:rPr>
              <a:t>visitor planning in one flow.</a:t>
            </a:r>
            <a:endParaRPr lang="en-US" sz="2000" dirty="0"/>
          </a:p>
        </p:txBody>
      </p:sp>
      <p:sp>
        <p:nvSpPr>
          <p:cNvPr id="18" name="Shape 15"/>
          <p:cNvSpPr/>
          <p:nvPr/>
        </p:nvSpPr>
        <p:spPr>
          <a:xfrm>
            <a:off x="822960" y="1874520"/>
            <a:ext cx="182880" cy="182880"/>
          </a:xfrm>
          <a:prstGeom prst="ellipse">
            <a:avLst/>
          </a:prstGeom>
          <a:solidFill>
            <a:srgbClr val="C69214">
              <a:alpha val="15000"/>
            </a:srgbClr>
          </a:solidFill>
          <a:ln w="12700">
            <a:solidFill>
              <a:srgbClr val="C69214"/>
            </a:solidFill>
            <a:prstDash val="dash"/>
          </a:ln>
        </p:spPr>
      </p:sp>
      <p:sp>
        <p:nvSpPr>
          <p:cNvPr id="19" name="Shape 16"/>
          <p:cNvSpPr/>
          <p:nvPr/>
        </p:nvSpPr>
        <p:spPr>
          <a:xfrm>
            <a:off x="868680" y="1920240"/>
            <a:ext cx="91440" cy="91440"/>
          </a:xfrm>
          <a:prstGeom prst="ellipse">
            <a:avLst/>
          </a:prstGeom>
          <a:noFill/>
          <a:ln w="19050">
            <a:solidFill>
              <a:srgbClr val="C69214"/>
            </a:solidFill>
            <a:prstDash val="solid"/>
          </a:ln>
        </p:spPr>
      </p:sp>
      <p:sp>
        <p:nvSpPr>
          <p:cNvPr id="20" name="Shape 17"/>
          <p:cNvSpPr/>
          <p:nvPr/>
        </p:nvSpPr>
        <p:spPr>
          <a:xfrm>
            <a:off x="882396" y="1933956"/>
            <a:ext cx="64008" cy="64008"/>
          </a:xfrm>
          <a:prstGeom prst="ellipse">
            <a:avLst/>
          </a:prstGeom>
          <a:solidFill>
            <a:srgbClr val="C69214"/>
          </a:solidFill>
          <a:ln/>
        </p:spPr>
      </p:sp>
      <p:sp>
        <p:nvSpPr>
          <p:cNvPr id="21" name="Shape 18"/>
          <p:cNvSpPr/>
          <p:nvPr/>
        </p:nvSpPr>
        <p:spPr>
          <a:xfrm>
            <a:off x="1051560" y="1965960"/>
            <a:ext cx="3017520" cy="0"/>
          </a:xfrm>
          <a:prstGeom prst="line">
            <a:avLst/>
          </a:prstGeom>
          <a:noFill/>
          <a:ln w="12700">
            <a:solidFill>
              <a:srgbClr val="C69214"/>
            </a:solidFill>
            <a:prstDash val="dash"/>
          </a:ln>
        </p:spPr>
      </p:sp>
      <p:sp>
        <p:nvSpPr>
          <p:cNvPr id="22" name="Shape 19"/>
          <p:cNvSpPr/>
          <p:nvPr/>
        </p:nvSpPr>
        <p:spPr>
          <a:xfrm>
            <a:off x="731520" y="2103120"/>
            <a:ext cx="3337560" cy="1645920"/>
          </a:xfrm>
          <a:prstGeom prst="roundRect">
            <a:avLst>
              <a:gd name="adj" fmla="val 4444"/>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23" name="Text 20"/>
          <p:cNvSpPr/>
          <p:nvPr/>
        </p:nvSpPr>
        <p:spPr>
          <a:xfrm>
            <a:off x="914400" y="2240280"/>
            <a:ext cx="457200" cy="201168"/>
          </a:xfrm>
          <a:prstGeom prst="rect">
            <a:avLst/>
          </a:prstGeom>
          <a:noFill/>
          <a:ln/>
        </p:spPr>
        <p:txBody>
          <a:bodyPr wrap="square" lIns="0" tIns="0" rIns="0" bIns="0" rtlCol="0" anchor="ctr"/>
          <a:lstStyle/>
          <a:p>
            <a:pPr indent="0" marL="0">
              <a:buNone/>
            </a:pPr>
            <a:r>
              <a:rPr lang="en-US" sz="1100" b="1" dirty="0">
                <a:solidFill>
                  <a:srgbClr val="C69214"/>
                </a:solidFill>
                <a:latin typeface="Calibri" pitchFamily="34" charset="0"/>
                <a:ea typeface="Calibri" pitchFamily="34" charset="-122"/>
                <a:cs typeface="Calibri" pitchFamily="34" charset="-120"/>
              </a:rPr>
              <a:t>01</a:t>
            </a:r>
            <a:endParaRPr lang="en-US" sz="1100" dirty="0"/>
          </a:p>
        </p:txBody>
      </p:sp>
      <p:sp>
        <p:nvSpPr>
          <p:cNvPr id="24" name="Text 21"/>
          <p:cNvSpPr/>
          <p:nvPr/>
        </p:nvSpPr>
        <p:spPr>
          <a:xfrm>
            <a:off x="3520440" y="2240280"/>
            <a:ext cx="365760" cy="201168"/>
          </a:xfrm>
          <a:prstGeom prst="rect">
            <a:avLst/>
          </a:prstGeom>
          <a:noFill/>
          <a:ln/>
        </p:spPr>
        <p:txBody>
          <a:bodyPr wrap="square" lIns="0" tIns="0" rIns="0" bIns="0" rtlCol="0" anchor="ctr"/>
          <a:lstStyle/>
          <a:p>
            <a:pPr algn="r" indent="0" marL="0">
              <a:buNone/>
            </a:pPr>
            <a:r>
              <a:rPr lang="en-US" sz="1300" dirty="0">
                <a:solidFill>
                  <a:srgbClr val="C69214"/>
                </a:solidFill>
                <a:latin typeface="Calibri" pitchFamily="34" charset="0"/>
                <a:ea typeface="Calibri" pitchFamily="34" charset="-122"/>
                <a:cs typeface="Calibri" pitchFamily="34" charset="-120"/>
              </a:rPr>
              <a:t>📍</a:t>
            </a:r>
            <a:endParaRPr lang="en-US" sz="1300" dirty="0"/>
          </a:p>
        </p:txBody>
      </p:sp>
      <p:sp>
        <p:nvSpPr>
          <p:cNvPr id="25" name="Text 22"/>
          <p:cNvSpPr/>
          <p:nvPr/>
        </p:nvSpPr>
        <p:spPr>
          <a:xfrm>
            <a:off x="914400" y="2514600"/>
            <a:ext cx="2971800" cy="38404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DISCOVER</a:t>
            </a:r>
            <a:endParaRPr lang="en-US" sz="2600" dirty="0"/>
          </a:p>
        </p:txBody>
      </p:sp>
      <p:sp>
        <p:nvSpPr>
          <p:cNvPr id="26" name="Text 23"/>
          <p:cNvSpPr/>
          <p:nvPr/>
        </p:nvSpPr>
        <p:spPr>
          <a:xfrm>
            <a:off x="914400" y="2926080"/>
            <a:ext cx="2971800" cy="256032"/>
          </a:xfrm>
          <a:prstGeom prst="rect">
            <a:avLst/>
          </a:prstGeom>
          <a:noFill/>
          <a:ln/>
        </p:spPr>
        <p:txBody>
          <a:bodyPr wrap="square" lIns="0" tIns="0" rIns="0" bIns="0" rtlCol="0" anchor="ctr"/>
          <a:lstStyle/>
          <a:p>
            <a:pPr indent="0" marL="0">
              <a:buNone/>
            </a:pPr>
            <a:r>
              <a:rPr lang="en-US" sz="1300" dirty="0">
                <a:solidFill>
                  <a:srgbClr val="E8E0D4"/>
                </a:solidFill>
                <a:latin typeface="Calibri" pitchFamily="34" charset="0"/>
                <a:ea typeface="Calibri" pitchFamily="34" charset="-122"/>
                <a:cs typeface="Calibri" pitchFamily="34" charset="-120"/>
              </a:rPr>
              <a:t>See where history is.</a:t>
            </a:r>
            <a:endParaRPr lang="en-US" sz="1300" dirty="0"/>
          </a:p>
        </p:txBody>
      </p:sp>
      <p:sp>
        <p:nvSpPr>
          <p:cNvPr id="27" name="Text 24"/>
          <p:cNvSpPr/>
          <p:nvPr/>
        </p:nvSpPr>
        <p:spPr>
          <a:xfrm>
            <a:off x="914400" y="3429000"/>
            <a:ext cx="2971800" cy="201168"/>
          </a:xfrm>
          <a:prstGeom prst="rect">
            <a:avLst/>
          </a:prstGeom>
          <a:noFill/>
          <a:ln/>
        </p:spPr>
        <p:txBody>
          <a:bodyPr wrap="square" lIns="0" tIns="0" rIns="0" bIns="0" rtlCol="0" anchor="ctr"/>
          <a:lstStyle/>
          <a:p>
            <a:pPr indent="0" marL="0">
              <a:buNone/>
            </a:pPr>
            <a:r>
              <a:rPr lang="en-US" sz="800" b="1" spc="200" kern="0" dirty="0">
                <a:solidFill>
                  <a:srgbClr val="8A8279"/>
                </a:solidFill>
                <a:latin typeface="Calibri" pitchFamily="34" charset="0"/>
                <a:ea typeface="Calibri" pitchFamily="34" charset="-122"/>
                <a:cs typeface="Calibri" pitchFamily="34" charset="-120"/>
              </a:rPr>
              <a:t>MAP  ·  LOCATION PIN</a:t>
            </a:r>
            <a:endParaRPr lang="en-US" sz="800" dirty="0"/>
          </a:p>
        </p:txBody>
      </p:sp>
      <p:sp>
        <p:nvSpPr>
          <p:cNvPr id="28" name="Text 25"/>
          <p:cNvSpPr/>
          <p:nvPr/>
        </p:nvSpPr>
        <p:spPr>
          <a:xfrm>
            <a:off x="731520" y="3977640"/>
            <a:ext cx="3337560" cy="201168"/>
          </a:xfrm>
          <a:prstGeom prst="rect">
            <a:avLst/>
          </a:prstGeom>
          <a:noFill/>
          <a:ln/>
        </p:spPr>
        <p:txBody>
          <a:bodyPr wrap="square" lIns="0" tIns="0" rIns="0" bIns="0" rtlCol="0" anchor="ctr"/>
          <a:lstStyle/>
          <a:p>
            <a:pPr indent="0" marL="0">
              <a:buNone/>
            </a:pPr>
            <a:r>
              <a:rPr lang="en-US" sz="1000" b="1" spc="200" kern="0" dirty="0">
                <a:solidFill>
                  <a:srgbClr val="C69214"/>
                </a:solidFill>
                <a:latin typeface="Calibri" pitchFamily="34" charset="0"/>
                <a:ea typeface="Calibri" pitchFamily="34" charset="-122"/>
                <a:cs typeface="Calibri" pitchFamily="34" charset="-120"/>
              </a:rPr>
              <a:t>TOURISM &amp; HERITAGE</a:t>
            </a:r>
            <a:endParaRPr lang="en-US" sz="1000" dirty="0"/>
          </a:p>
        </p:txBody>
      </p:sp>
      <p:sp>
        <p:nvSpPr>
          <p:cNvPr id="29" name="Text 26"/>
          <p:cNvSpPr/>
          <p:nvPr/>
        </p:nvSpPr>
        <p:spPr>
          <a:xfrm>
            <a:off x="731520" y="4206240"/>
            <a:ext cx="3337560" cy="502920"/>
          </a:xfrm>
          <a:prstGeom prst="rect">
            <a:avLst/>
          </a:prstGeom>
          <a:noFill/>
          <a:ln/>
        </p:spPr>
        <p:txBody>
          <a:bodyPr wrap="square" lIns="0" tIns="0" rIns="0" bIns="0" rtlCol="0" anchor="ctr"/>
          <a:lstStyle/>
          <a:p>
            <a:pPr indent="0" marL="0">
              <a:lnSpc>
                <a:spcPct val="115000"/>
              </a:lnSpc>
              <a:buNone/>
            </a:pPr>
            <a:r>
              <a:rPr lang="en-US" sz="1100" dirty="0">
                <a:solidFill>
                  <a:srgbClr val="E8E0D4"/>
                </a:solidFill>
                <a:latin typeface="Calibri" pitchFamily="34" charset="0"/>
                <a:ea typeface="Calibri" pitchFamily="34" charset="-122"/>
                <a:cs typeface="Calibri" pitchFamily="34" charset="-120"/>
              </a:rPr>
              <a:t>Makes monument discovery and historical context easier to access across all 28 states.</a:t>
            </a:r>
            <a:endParaRPr lang="en-US" sz="1100" dirty="0"/>
          </a:p>
        </p:txBody>
      </p:sp>
      <p:sp>
        <p:nvSpPr>
          <p:cNvPr id="30" name="Text 27"/>
          <p:cNvSpPr/>
          <p:nvPr/>
        </p:nvSpPr>
        <p:spPr>
          <a:xfrm>
            <a:off x="731520" y="4727448"/>
            <a:ext cx="3337560" cy="411480"/>
          </a:xfrm>
          <a:prstGeom prst="rect">
            <a:avLst/>
          </a:prstGeom>
          <a:noFill/>
          <a:ln/>
        </p:spPr>
        <p:txBody>
          <a:bodyPr wrap="square" lIns="0" tIns="0" rIns="0" bIns="0" rtlCol="0" anchor="ctr"/>
          <a:lstStyle/>
          <a:p>
            <a:pPr indent="0" marL="0">
              <a:lnSpc>
                <a:spcPct val="110000"/>
              </a:lnSpc>
              <a:buNone/>
            </a:pPr>
            <a:r>
              <a:rPr lang="en-US" sz="850" dirty="0">
                <a:solidFill>
                  <a:srgbClr val="8A8279"/>
                </a:solidFill>
                <a:latin typeface="Calibri" pitchFamily="34" charset="0"/>
                <a:ea typeface="Calibri" pitchFamily="34" charset="-122"/>
                <a:cs typeface="Calibri" pitchFamily="34" charset="-120"/>
              </a:rPr>
              <a:t>Revitalizing 3,500+ forgotten monuments · B2G Tourism board partnerships &amp; 2%-3% ASI e-ticket affiliate commissions.</a:t>
            </a:r>
            <a:endParaRPr lang="en-US" sz="850" dirty="0"/>
          </a:p>
        </p:txBody>
      </p:sp>
      <p:sp>
        <p:nvSpPr>
          <p:cNvPr id="31" name="Shape 28"/>
          <p:cNvSpPr/>
          <p:nvPr/>
        </p:nvSpPr>
        <p:spPr>
          <a:xfrm>
            <a:off x="4517136" y="1874520"/>
            <a:ext cx="182880" cy="182880"/>
          </a:xfrm>
          <a:prstGeom prst="ellipse">
            <a:avLst/>
          </a:prstGeom>
          <a:solidFill>
            <a:srgbClr val="C69214">
              <a:alpha val="15000"/>
            </a:srgbClr>
          </a:solidFill>
          <a:ln w="12700">
            <a:solidFill>
              <a:srgbClr val="C69214"/>
            </a:solidFill>
            <a:prstDash val="dash"/>
          </a:ln>
        </p:spPr>
      </p:sp>
      <p:sp>
        <p:nvSpPr>
          <p:cNvPr id="32" name="Shape 29"/>
          <p:cNvSpPr/>
          <p:nvPr/>
        </p:nvSpPr>
        <p:spPr>
          <a:xfrm>
            <a:off x="4562856" y="1920240"/>
            <a:ext cx="91440" cy="91440"/>
          </a:xfrm>
          <a:prstGeom prst="ellipse">
            <a:avLst/>
          </a:prstGeom>
          <a:noFill/>
          <a:ln w="19050">
            <a:solidFill>
              <a:srgbClr val="C69214"/>
            </a:solidFill>
            <a:prstDash val="solid"/>
          </a:ln>
        </p:spPr>
      </p:sp>
      <p:sp>
        <p:nvSpPr>
          <p:cNvPr id="33" name="Shape 30"/>
          <p:cNvSpPr/>
          <p:nvPr/>
        </p:nvSpPr>
        <p:spPr>
          <a:xfrm>
            <a:off x="4576572" y="1933956"/>
            <a:ext cx="64008" cy="64008"/>
          </a:xfrm>
          <a:prstGeom prst="ellipse">
            <a:avLst/>
          </a:prstGeom>
          <a:solidFill>
            <a:srgbClr val="C69214"/>
          </a:solidFill>
          <a:ln/>
        </p:spPr>
      </p:sp>
      <p:sp>
        <p:nvSpPr>
          <p:cNvPr id="34" name="Shape 31"/>
          <p:cNvSpPr/>
          <p:nvPr/>
        </p:nvSpPr>
        <p:spPr>
          <a:xfrm>
            <a:off x="4745736" y="1965960"/>
            <a:ext cx="3017520" cy="0"/>
          </a:xfrm>
          <a:prstGeom prst="line">
            <a:avLst/>
          </a:prstGeom>
          <a:noFill/>
          <a:ln w="12700">
            <a:solidFill>
              <a:srgbClr val="C69214"/>
            </a:solidFill>
            <a:prstDash val="dash"/>
          </a:ln>
        </p:spPr>
      </p:sp>
      <p:sp>
        <p:nvSpPr>
          <p:cNvPr id="35" name="Shape 32"/>
          <p:cNvSpPr/>
          <p:nvPr/>
        </p:nvSpPr>
        <p:spPr>
          <a:xfrm>
            <a:off x="4425696" y="2103120"/>
            <a:ext cx="3337560" cy="1645920"/>
          </a:xfrm>
          <a:prstGeom prst="roundRect">
            <a:avLst>
              <a:gd name="adj" fmla="val 4444"/>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36" name="Text 33"/>
          <p:cNvSpPr/>
          <p:nvPr/>
        </p:nvSpPr>
        <p:spPr>
          <a:xfrm>
            <a:off x="4608576" y="2240280"/>
            <a:ext cx="457200" cy="201168"/>
          </a:xfrm>
          <a:prstGeom prst="rect">
            <a:avLst/>
          </a:prstGeom>
          <a:noFill/>
          <a:ln/>
        </p:spPr>
        <p:txBody>
          <a:bodyPr wrap="square" lIns="0" tIns="0" rIns="0" bIns="0" rtlCol="0" anchor="ctr"/>
          <a:lstStyle/>
          <a:p>
            <a:pPr indent="0" marL="0">
              <a:buNone/>
            </a:pPr>
            <a:r>
              <a:rPr lang="en-US" sz="1100" b="1" dirty="0">
                <a:solidFill>
                  <a:srgbClr val="C69214"/>
                </a:solidFill>
                <a:latin typeface="Calibri" pitchFamily="34" charset="0"/>
                <a:ea typeface="Calibri" pitchFamily="34" charset="-122"/>
                <a:cs typeface="Calibri" pitchFamily="34" charset="-120"/>
              </a:rPr>
              <a:t>02</a:t>
            </a:r>
            <a:endParaRPr lang="en-US" sz="1100" dirty="0"/>
          </a:p>
        </p:txBody>
      </p:sp>
      <p:sp>
        <p:nvSpPr>
          <p:cNvPr id="37" name="Text 34"/>
          <p:cNvSpPr/>
          <p:nvPr/>
        </p:nvSpPr>
        <p:spPr>
          <a:xfrm>
            <a:off x="7214616" y="2240280"/>
            <a:ext cx="365760" cy="201168"/>
          </a:xfrm>
          <a:prstGeom prst="rect">
            <a:avLst/>
          </a:prstGeom>
          <a:noFill/>
          <a:ln/>
        </p:spPr>
        <p:txBody>
          <a:bodyPr wrap="square" lIns="0" tIns="0" rIns="0" bIns="0" rtlCol="0" anchor="ctr"/>
          <a:lstStyle/>
          <a:p>
            <a:pPr algn="r" indent="0" marL="0">
              <a:buNone/>
            </a:pPr>
            <a:r>
              <a:rPr lang="en-US" sz="1300" dirty="0">
                <a:solidFill>
                  <a:srgbClr val="C69214"/>
                </a:solidFill>
                <a:latin typeface="Calibri" pitchFamily="34" charset="0"/>
                <a:ea typeface="Calibri" pitchFamily="34" charset="-122"/>
                <a:cs typeface="Calibri" pitchFamily="34" charset="-120"/>
              </a:rPr>
              <a:t>🔊</a:t>
            </a:r>
            <a:endParaRPr lang="en-US" sz="1300" dirty="0"/>
          </a:p>
        </p:txBody>
      </p:sp>
      <p:sp>
        <p:nvSpPr>
          <p:cNvPr id="38" name="Text 35"/>
          <p:cNvSpPr/>
          <p:nvPr/>
        </p:nvSpPr>
        <p:spPr>
          <a:xfrm>
            <a:off x="4608576" y="2514600"/>
            <a:ext cx="2971800" cy="38404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UNDERSTAND</a:t>
            </a:r>
            <a:endParaRPr lang="en-US" sz="2600" dirty="0"/>
          </a:p>
        </p:txBody>
      </p:sp>
      <p:sp>
        <p:nvSpPr>
          <p:cNvPr id="39" name="Text 36"/>
          <p:cNvSpPr/>
          <p:nvPr/>
        </p:nvSpPr>
        <p:spPr>
          <a:xfrm>
            <a:off x="4608576" y="2926080"/>
            <a:ext cx="2971800" cy="256032"/>
          </a:xfrm>
          <a:prstGeom prst="rect">
            <a:avLst/>
          </a:prstGeom>
          <a:noFill/>
          <a:ln/>
        </p:spPr>
        <p:txBody>
          <a:bodyPr wrap="square" lIns="0" tIns="0" rIns="0" bIns="0" rtlCol="0" anchor="ctr"/>
          <a:lstStyle/>
          <a:p>
            <a:pPr indent="0" marL="0">
              <a:buNone/>
            </a:pPr>
            <a:r>
              <a:rPr lang="en-US" sz="1300" dirty="0">
                <a:solidFill>
                  <a:srgbClr val="E8E0D4"/>
                </a:solidFill>
                <a:latin typeface="Calibri" pitchFamily="34" charset="0"/>
                <a:ea typeface="Calibri" pitchFamily="34" charset="-122"/>
                <a:cs typeface="Calibri" pitchFamily="34" charset="-120"/>
              </a:rPr>
              <a:t>Hear why it matters.</a:t>
            </a:r>
            <a:endParaRPr lang="en-US" sz="1300" dirty="0"/>
          </a:p>
        </p:txBody>
      </p:sp>
      <p:sp>
        <p:nvSpPr>
          <p:cNvPr id="40" name="Text 37"/>
          <p:cNvSpPr/>
          <p:nvPr/>
        </p:nvSpPr>
        <p:spPr>
          <a:xfrm>
            <a:off x="4608576" y="3429000"/>
            <a:ext cx="2971800" cy="201168"/>
          </a:xfrm>
          <a:prstGeom prst="rect">
            <a:avLst/>
          </a:prstGeom>
          <a:noFill/>
          <a:ln/>
        </p:spPr>
        <p:txBody>
          <a:bodyPr wrap="square" lIns="0" tIns="0" rIns="0" bIns="0" rtlCol="0" anchor="ctr"/>
          <a:lstStyle/>
          <a:p>
            <a:pPr indent="0" marL="0">
              <a:buNone/>
            </a:pPr>
            <a:r>
              <a:rPr lang="en-US" sz="800" b="1" spc="200" kern="0" dirty="0">
                <a:solidFill>
                  <a:srgbClr val="8A8279"/>
                </a:solidFill>
                <a:latin typeface="Calibri" pitchFamily="34" charset="0"/>
                <a:ea typeface="Calibri" pitchFamily="34" charset="-122"/>
                <a:cs typeface="Calibri" pitchFamily="34" charset="-120"/>
              </a:rPr>
              <a:t>AUDIO NARRATION  ·  LISTEN</a:t>
            </a:r>
            <a:endParaRPr lang="en-US" sz="800" dirty="0"/>
          </a:p>
        </p:txBody>
      </p:sp>
      <p:sp>
        <p:nvSpPr>
          <p:cNvPr id="41" name="Text 38"/>
          <p:cNvSpPr/>
          <p:nvPr/>
        </p:nvSpPr>
        <p:spPr>
          <a:xfrm>
            <a:off x="4425696" y="3977640"/>
            <a:ext cx="3337560" cy="201168"/>
          </a:xfrm>
          <a:prstGeom prst="rect">
            <a:avLst/>
          </a:prstGeom>
          <a:noFill/>
          <a:ln/>
        </p:spPr>
        <p:txBody>
          <a:bodyPr wrap="square" lIns="0" tIns="0" rIns="0" bIns="0" rtlCol="0" anchor="ctr"/>
          <a:lstStyle/>
          <a:p>
            <a:pPr indent="0" marL="0">
              <a:buNone/>
            </a:pPr>
            <a:r>
              <a:rPr lang="en-US" sz="1000" b="1" spc="200" kern="0" dirty="0">
                <a:solidFill>
                  <a:srgbClr val="C69214"/>
                </a:solidFill>
                <a:latin typeface="Calibri" pitchFamily="34" charset="0"/>
                <a:ea typeface="Calibri" pitchFamily="34" charset="-122"/>
                <a:cs typeface="Calibri" pitchFamily="34" charset="-120"/>
              </a:rPr>
              <a:t>INDEPENDENCE</a:t>
            </a:r>
            <a:endParaRPr lang="en-US" sz="1000" dirty="0"/>
          </a:p>
        </p:txBody>
      </p:sp>
      <p:sp>
        <p:nvSpPr>
          <p:cNvPr id="42" name="Text 39"/>
          <p:cNvSpPr/>
          <p:nvPr/>
        </p:nvSpPr>
        <p:spPr>
          <a:xfrm>
            <a:off x="4425696" y="4206240"/>
            <a:ext cx="3337560" cy="502920"/>
          </a:xfrm>
          <a:prstGeom prst="rect">
            <a:avLst/>
          </a:prstGeom>
          <a:noFill/>
          <a:ln/>
        </p:spPr>
        <p:txBody>
          <a:bodyPr wrap="square" lIns="0" tIns="0" rIns="0" bIns="0" rtlCol="0" anchor="ctr"/>
          <a:lstStyle/>
          <a:p>
            <a:pPr indent="0" marL="0">
              <a:lnSpc>
                <a:spcPct val="115000"/>
              </a:lnSpc>
              <a:buNone/>
            </a:pPr>
            <a:r>
              <a:rPr lang="en-US" sz="1100" dirty="0">
                <a:solidFill>
                  <a:srgbClr val="E8E0D4"/>
                </a:solidFill>
                <a:latin typeface="Calibri" pitchFamily="34" charset="0"/>
                <a:ea typeface="Calibri" pitchFamily="34" charset="-122"/>
                <a:cs typeface="Calibri" pitchFamily="34" charset="-120"/>
              </a:rPr>
              <a:t>Brings map, story and practical visitor information together, instead of forcing visitors to piece them together.</a:t>
            </a:r>
            <a:endParaRPr lang="en-US" sz="1100" dirty="0"/>
          </a:p>
        </p:txBody>
      </p:sp>
      <p:sp>
        <p:nvSpPr>
          <p:cNvPr id="43" name="Text 40"/>
          <p:cNvSpPr/>
          <p:nvPr/>
        </p:nvSpPr>
        <p:spPr>
          <a:xfrm>
            <a:off x="4425696" y="4727448"/>
            <a:ext cx="3337560" cy="411480"/>
          </a:xfrm>
          <a:prstGeom prst="rect">
            <a:avLst/>
          </a:prstGeom>
          <a:noFill/>
          <a:ln/>
        </p:spPr>
        <p:txBody>
          <a:bodyPr wrap="square" lIns="0" tIns="0" rIns="0" bIns="0" rtlCol="0" anchor="ctr"/>
          <a:lstStyle/>
          <a:p>
            <a:pPr indent="0" marL="0">
              <a:lnSpc>
                <a:spcPct val="110000"/>
              </a:lnSpc>
              <a:buNone/>
            </a:pPr>
            <a:r>
              <a:rPr lang="en-US" sz="850" dirty="0">
                <a:solidFill>
                  <a:srgbClr val="8A8279"/>
                </a:solidFill>
                <a:latin typeface="Calibri" pitchFamily="34" charset="0"/>
                <a:ea typeface="Calibri" pitchFamily="34" charset="-122"/>
                <a:cs typeface="Calibri" pitchFamily="34" charset="-120"/>
              </a:rPr>
              <a:t>Breaking English-only divide with 5 Indian languages · Freemium ₹49-₹99 UPI micro-payments for deep-dive walks (90s free).</a:t>
            </a:r>
            <a:endParaRPr lang="en-US" sz="850" dirty="0"/>
          </a:p>
        </p:txBody>
      </p:sp>
      <p:sp>
        <p:nvSpPr>
          <p:cNvPr id="44" name="Shape 41"/>
          <p:cNvSpPr/>
          <p:nvPr/>
        </p:nvSpPr>
        <p:spPr>
          <a:xfrm>
            <a:off x="8211312" y="1874520"/>
            <a:ext cx="182880" cy="182880"/>
          </a:xfrm>
          <a:prstGeom prst="ellipse">
            <a:avLst/>
          </a:prstGeom>
          <a:solidFill>
            <a:srgbClr val="C69214">
              <a:alpha val="15000"/>
            </a:srgbClr>
          </a:solidFill>
          <a:ln w="12700">
            <a:solidFill>
              <a:srgbClr val="C69214"/>
            </a:solidFill>
            <a:prstDash val="dash"/>
          </a:ln>
        </p:spPr>
      </p:sp>
      <p:sp>
        <p:nvSpPr>
          <p:cNvPr id="45" name="Shape 42"/>
          <p:cNvSpPr/>
          <p:nvPr/>
        </p:nvSpPr>
        <p:spPr>
          <a:xfrm>
            <a:off x="8257032" y="1920240"/>
            <a:ext cx="91440" cy="91440"/>
          </a:xfrm>
          <a:prstGeom prst="ellipse">
            <a:avLst/>
          </a:prstGeom>
          <a:noFill/>
          <a:ln w="19050">
            <a:solidFill>
              <a:srgbClr val="C69214"/>
            </a:solidFill>
            <a:prstDash val="solid"/>
          </a:ln>
        </p:spPr>
      </p:sp>
      <p:sp>
        <p:nvSpPr>
          <p:cNvPr id="46" name="Shape 43"/>
          <p:cNvSpPr/>
          <p:nvPr/>
        </p:nvSpPr>
        <p:spPr>
          <a:xfrm>
            <a:off x="8270748" y="1933956"/>
            <a:ext cx="64008" cy="64008"/>
          </a:xfrm>
          <a:prstGeom prst="ellipse">
            <a:avLst/>
          </a:prstGeom>
          <a:solidFill>
            <a:srgbClr val="C69214"/>
          </a:solidFill>
          <a:ln/>
        </p:spPr>
      </p:sp>
      <p:sp>
        <p:nvSpPr>
          <p:cNvPr id="47" name="Shape 44"/>
          <p:cNvSpPr/>
          <p:nvPr/>
        </p:nvSpPr>
        <p:spPr>
          <a:xfrm>
            <a:off x="8439912" y="1965960"/>
            <a:ext cx="3017520" cy="0"/>
          </a:xfrm>
          <a:prstGeom prst="line">
            <a:avLst/>
          </a:prstGeom>
          <a:noFill/>
          <a:ln w="12700">
            <a:solidFill>
              <a:srgbClr val="C69214"/>
            </a:solidFill>
            <a:prstDash val="dash"/>
          </a:ln>
        </p:spPr>
      </p:sp>
      <p:sp>
        <p:nvSpPr>
          <p:cNvPr id="48" name="Shape 45"/>
          <p:cNvSpPr/>
          <p:nvPr/>
        </p:nvSpPr>
        <p:spPr>
          <a:xfrm>
            <a:off x="8119872" y="2103120"/>
            <a:ext cx="3337560" cy="1645920"/>
          </a:xfrm>
          <a:prstGeom prst="roundRect">
            <a:avLst>
              <a:gd name="adj" fmla="val 4444"/>
            </a:avLst>
          </a:prstGeom>
          <a:solidFill>
            <a:srgbClr val="1A1714"/>
          </a:solidFill>
          <a:ln w="12700">
            <a:solidFill>
              <a:srgbClr val="2E2A25"/>
            </a:solidFill>
            <a:prstDash val="solid"/>
          </a:ln>
          <a:effectLst>
            <a:outerShdw sx="100000" sy="100000" kx="0" ky="0" algn="bl" rotWithShape="0" blurRad="50800" dist="25400" dir="2700000">
              <a:srgbClr val="000000">
                <a:alpha val="25000"/>
              </a:srgbClr>
            </a:outerShdw>
          </a:effectLst>
        </p:spPr>
      </p:sp>
      <p:sp>
        <p:nvSpPr>
          <p:cNvPr id="49" name="Text 46"/>
          <p:cNvSpPr/>
          <p:nvPr/>
        </p:nvSpPr>
        <p:spPr>
          <a:xfrm>
            <a:off x="8302752" y="2240280"/>
            <a:ext cx="457200" cy="201168"/>
          </a:xfrm>
          <a:prstGeom prst="rect">
            <a:avLst/>
          </a:prstGeom>
          <a:noFill/>
          <a:ln/>
        </p:spPr>
        <p:txBody>
          <a:bodyPr wrap="square" lIns="0" tIns="0" rIns="0" bIns="0" rtlCol="0" anchor="ctr"/>
          <a:lstStyle/>
          <a:p>
            <a:pPr indent="0" marL="0">
              <a:buNone/>
            </a:pPr>
            <a:r>
              <a:rPr lang="en-US" sz="1100" b="1" dirty="0">
                <a:solidFill>
                  <a:srgbClr val="C69214"/>
                </a:solidFill>
                <a:latin typeface="Calibri" pitchFamily="34" charset="0"/>
                <a:ea typeface="Calibri" pitchFamily="34" charset="-122"/>
                <a:cs typeface="Calibri" pitchFamily="34" charset="-120"/>
              </a:rPr>
              <a:t>03</a:t>
            </a:r>
            <a:endParaRPr lang="en-US" sz="1100" dirty="0"/>
          </a:p>
        </p:txBody>
      </p:sp>
      <p:sp>
        <p:nvSpPr>
          <p:cNvPr id="50" name="Text 47"/>
          <p:cNvSpPr/>
          <p:nvPr/>
        </p:nvSpPr>
        <p:spPr>
          <a:xfrm>
            <a:off x="10908792" y="2240280"/>
            <a:ext cx="365760" cy="201168"/>
          </a:xfrm>
          <a:prstGeom prst="rect">
            <a:avLst/>
          </a:prstGeom>
          <a:noFill/>
          <a:ln/>
        </p:spPr>
        <p:txBody>
          <a:bodyPr wrap="square" lIns="0" tIns="0" rIns="0" bIns="0" rtlCol="0" anchor="ctr"/>
          <a:lstStyle/>
          <a:p>
            <a:pPr algn="r" indent="0" marL="0">
              <a:buNone/>
            </a:pPr>
            <a:r>
              <a:rPr lang="en-US" sz="1300" dirty="0">
                <a:solidFill>
                  <a:srgbClr val="C69214"/>
                </a:solidFill>
                <a:latin typeface="Calibri" pitchFamily="34" charset="0"/>
                <a:ea typeface="Calibri" pitchFamily="34" charset="-122"/>
                <a:cs typeface="Calibri" pitchFamily="34" charset="-120"/>
              </a:rPr>
              <a:t>🎟</a:t>
            </a:r>
            <a:endParaRPr lang="en-US" sz="1300" dirty="0"/>
          </a:p>
        </p:txBody>
      </p:sp>
      <p:sp>
        <p:nvSpPr>
          <p:cNvPr id="51" name="Text 48"/>
          <p:cNvSpPr/>
          <p:nvPr/>
        </p:nvSpPr>
        <p:spPr>
          <a:xfrm>
            <a:off x="8302752" y="2514600"/>
            <a:ext cx="2971800" cy="38404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PLAN</a:t>
            </a:r>
            <a:endParaRPr lang="en-US" sz="2600" dirty="0"/>
          </a:p>
        </p:txBody>
      </p:sp>
      <p:sp>
        <p:nvSpPr>
          <p:cNvPr id="52" name="Text 49"/>
          <p:cNvSpPr/>
          <p:nvPr/>
        </p:nvSpPr>
        <p:spPr>
          <a:xfrm>
            <a:off x="8302752" y="2926080"/>
            <a:ext cx="2971800" cy="256032"/>
          </a:xfrm>
          <a:prstGeom prst="rect">
            <a:avLst/>
          </a:prstGeom>
          <a:noFill/>
          <a:ln/>
        </p:spPr>
        <p:txBody>
          <a:bodyPr wrap="square" lIns="0" tIns="0" rIns="0" bIns="0" rtlCol="0" anchor="ctr"/>
          <a:lstStyle/>
          <a:p>
            <a:pPr indent="0" marL="0">
              <a:buNone/>
            </a:pPr>
            <a:r>
              <a:rPr lang="en-US" sz="1300" dirty="0">
                <a:solidFill>
                  <a:srgbClr val="E8E0D4"/>
                </a:solidFill>
                <a:latin typeface="Calibri" pitchFamily="34" charset="0"/>
                <a:ea typeface="Calibri" pitchFamily="34" charset="-122"/>
                <a:cs typeface="Calibri" pitchFamily="34" charset="-120"/>
              </a:rPr>
              <a:t>Know what to do next.</a:t>
            </a:r>
            <a:endParaRPr lang="en-US" sz="1300" dirty="0"/>
          </a:p>
        </p:txBody>
      </p:sp>
      <p:sp>
        <p:nvSpPr>
          <p:cNvPr id="53" name="Text 50"/>
          <p:cNvSpPr/>
          <p:nvPr/>
        </p:nvSpPr>
        <p:spPr>
          <a:xfrm>
            <a:off x="8302752" y="3429000"/>
            <a:ext cx="2971800" cy="201168"/>
          </a:xfrm>
          <a:prstGeom prst="rect">
            <a:avLst/>
          </a:prstGeom>
          <a:noFill/>
          <a:ln/>
        </p:spPr>
        <p:txBody>
          <a:bodyPr wrap="square" lIns="0" tIns="0" rIns="0" bIns="0" rtlCol="0" anchor="ctr"/>
          <a:lstStyle/>
          <a:p>
            <a:pPr indent="0" marL="0">
              <a:buNone/>
            </a:pPr>
            <a:r>
              <a:rPr lang="en-US" sz="800" b="1" spc="200" kern="0" dirty="0">
                <a:solidFill>
                  <a:srgbClr val="8A8279"/>
                </a:solidFill>
                <a:latin typeface="Calibri" pitchFamily="34" charset="0"/>
                <a:ea typeface="Calibri" pitchFamily="34" charset="-122"/>
                <a:cs typeface="Calibri" pitchFamily="34" charset="-120"/>
              </a:rPr>
              <a:t>ROUTE  ·  TICKETS  ·  VISITOR INFO</a:t>
            </a:r>
            <a:endParaRPr lang="en-US" sz="800" dirty="0"/>
          </a:p>
        </p:txBody>
      </p:sp>
      <p:sp>
        <p:nvSpPr>
          <p:cNvPr id="54" name="Text 51"/>
          <p:cNvSpPr/>
          <p:nvPr/>
        </p:nvSpPr>
        <p:spPr>
          <a:xfrm>
            <a:off x="8119872" y="3977640"/>
            <a:ext cx="3337560" cy="201168"/>
          </a:xfrm>
          <a:prstGeom prst="rect">
            <a:avLst/>
          </a:prstGeom>
          <a:noFill/>
          <a:ln/>
        </p:spPr>
        <p:txBody>
          <a:bodyPr wrap="square" lIns="0" tIns="0" rIns="0" bIns="0" rtlCol="0" anchor="ctr"/>
          <a:lstStyle/>
          <a:p>
            <a:pPr indent="0" marL="0">
              <a:buNone/>
            </a:pPr>
            <a:r>
              <a:rPr lang="en-US" sz="1000" b="1" spc="200" kern="0" dirty="0">
                <a:solidFill>
                  <a:srgbClr val="C69214"/>
                </a:solidFill>
                <a:latin typeface="Calibri" pitchFamily="34" charset="0"/>
                <a:ea typeface="Calibri" pitchFamily="34" charset="-122"/>
                <a:cs typeface="Calibri" pitchFamily="34" charset="-120"/>
              </a:rPr>
              <a:t>ACCESSIBILITY</a:t>
            </a:r>
            <a:endParaRPr lang="en-US" sz="1000" dirty="0"/>
          </a:p>
        </p:txBody>
      </p:sp>
      <p:sp>
        <p:nvSpPr>
          <p:cNvPr id="55" name="Text 52"/>
          <p:cNvSpPr/>
          <p:nvPr/>
        </p:nvSpPr>
        <p:spPr>
          <a:xfrm>
            <a:off x="8119872" y="4206240"/>
            <a:ext cx="3337560" cy="502920"/>
          </a:xfrm>
          <a:prstGeom prst="rect">
            <a:avLst/>
          </a:prstGeom>
          <a:noFill/>
          <a:ln/>
        </p:spPr>
        <p:txBody>
          <a:bodyPr wrap="square" lIns="0" tIns="0" rIns="0" bIns="0" rtlCol="0" anchor="ctr"/>
          <a:lstStyle/>
          <a:p>
            <a:pPr indent="0" marL="0">
              <a:lnSpc>
                <a:spcPct val="115000"/>
              </a:lnSpc>
              <a:buNone/>
            </a:pPr>
            <a:r>
              <a:rPr lang="en-US" sz="1100" dirty="0">
                <a:solidFill>
                  <a:srgbClr val="E8E0D4"/>
                </a:solidFill>
                <a:latin typeface="Calibri" pitchFamily="34" charset="0"/>
                <a:ea typeface="Calibri" pitchFamily="34" charset="-122"/>
                <a:cs typeface="Calibri" pitchFamily="34" charset="-120"/>
              </a:rPr>
              <a:t>Audio narration offers another way to experience heritage for visitors who prefer listening, and supports accessibility.</a:t>
            </a:r>
            <a:endParaRPr lang="en-US" sz="1100" dirty="0"/>
          </a:p>
        </p:txBody>
      </p:sp>
      <p:sp>
        <p:nvSpPr>
          <p:cNvPr id="56" name="Text 53"/>
          <p:cNvSpPr/>
          <p:nvPr/>
        </p:nvSpPr>
        <p:spPr>
          <a:xfrm>
            <a:off x="8119872" y="4727448"/>
            <a:ext cx="3337560" cy="411480"/>
          </a:xfrm>
          <a:prstGeom prst="rect">
            <a:avLst/>
          </a:prstGeom>
          <a:noFill/>
          <a:ln/>
        </p:spPr>
        <p:txBody>
          <a:bodyPr wrap="square" lIns="0" tIns="0" rIns="0" bIns="0" rtlCol="0" anchor="ctr"/>
          <a:lstStyle/>
          <a:p>
            <a:pPr indent="0" marL="0">
              <a:lnSpc>
                <a:spcPct val="110000"/>
              </a:lnSpc>
              <a:buNone/>
            </a:pPr>
            <a:r>
              <a:rPr lang="en-US" sz="850" dirty="0">
                <a:solidFill>
                  <a:srgbClr val="8A8279"/>
                </a:solidFill>
                <a:latin typeface="Calibri" pitchFamily="34" charset="0"/>
                <a:ea typeface="Calibri" pitchFamily="34" charset="-122"/>
                <a:cs typeface="Calibri" pitchFamily="34" charset="-120"/>
              </a:rPr>
              <a:t>Universal accessibility for non-readers &amp; visually impaired · Hyperlocal craft directory with 10%-15% artisan commissions.</a:t>
            </a:r>
            <a:endParaRPr lang="en-US" sz="850" dirty="0"/>
          </a:p>
        </p:txBody>
      </p:sp>
      <p:sp>
        <p:nvSpPr>
          <p:cNvPr id="57" name="Text 54"/>
          <p:cNvSpPr/>
          <p:nvPr/>
        </p:nvSpPr>
        <p:spPr>
          <a:xfrm>
            <a:off x="731520" y="5440680"/>
            <a:ext cx="8046720" cy="594360"/>
          </a:xfrm>
          <a:prstGeom prst="rect">
            <a:avLst/>
          </a:prstGeom>
          <a:noFill/>
          <a:ln/>
        </p:spPr>
        <p:txBody>
          <a:bodyPr wrap="square" lIns="0" tIns="0" rIns="0" bIns="0" rtlCol="0" anchor="ctr"/>
          <a:lstStyle/>
          <a:p>
            <a:pPr indent="0" marL="0">
              <a:lnSpc>
                <a:spcPct val="115000"/>
              </a:lnSpc>
              <a:buNone/>
            </a:pPr>
            <a:r>
              <a:rPr lang="en-US" sz="1400" b="1" dirty="0">
                <a:solidFill>
                  <a:srgbClr val="FFFFFF"/>
                </a:solidFill>
                <a:latin typeface="Calibri" pitchFamily="34" charset="0"/>
                <a:ea typeface="Calibri" pitchFamily="34" charset="-122"/>
                <a:cs typeface="Calibri" pitchFamily="34" charset="-120"/>
              </a:rPr>
              <a:t>HERODOTUS CONNECTS DISCOVERY, STORYTELLING</a:t>
            </a:r>
            <a:endParaRPr lang="en-US" sz="1400" dirty="0"/>
          </a:p>
          <a:p>
            <a:pPr indent="0" marL="0">
              <a:lnSpc>
                <a:spcPct val="115000"/>
              </a:lnSpc>
              <a:buNone/>
            </a:pPr>
            <a:r>
              <a:rPr lang="en-US" sz="1400" b="1" dirty="0">
                <a:solidFill>
                  <a:srgbClr val="FFFFFF"/>
                </a:solidFill>
                <a:latin typeface="Calibri" pitchFamily="34" charset="0"/>
                <a:ea typeface="Calibri" pitchFamily="34" charset="-122"/>
                <a:cs typeface="Calibri" pitchFamily="34" charset="-120"/>
              </a:rPr>
              <a:t>AND VISITOR PLANNING IN ONE MAP-FIRST EXPERIENCE.</a:t>
            </a:r>
            <a:endParaRPr lang="en-US" sz="1400" dirty="0"/>
          </a:p>
        </p:txBody>
      </p:sp>
      <p:sp>
        <p:nvSpPr>
          <p:cNvPr id="58" name="Text 55"/>
          <p:cNvSpPr/>
          <p:nvPr/>
        </p:nvSpPr>
        <p:spPr>
          <a:xfrm>
            <a:off x="8961120" y="5669280"/>
            <a:ext cx="2499055" cy="219456"/>
          </a:xfrm>
          <a:prstGeom prst="rect">
            <a:avLst/>
          </a:prstGeom>
          <a:noFill/>
          <a:ln/>
        </p:spPr>
        <p:txBody>
          <a:bodyPr wrap="square" lIns="0" tIns="0" rIns="0" bIns="0" rtlCol="0" anchor="ctr"/>
          <a:lstStyle/>
          <a:p>
            <a:pPr algn="r" indent="0" marL="0">
              <a:buNone/>
            </a:pPr>
            <a:r>
              <a:rPr lang="en-US" sz="900" dirty="0">
                <a:solidFill>
                  <a:srgbClr val="8A8279"/>
                </a:solidFill>
                <a:latin typeface="Calibri" pitchFamily="34" charset="0"/>
                <a:ea typeface="Calibri" pitchFamily="34" charset="-122"/>
                <a:cs typeface="Calibri" pitchFamily="34" charset="-120"/>
              </a:rPr>
              <a:t>26.2967°N  73.0182°E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9"/>
        </a:solidFill>
      </p:bgPr>
    </p:bg>
    <p:spTree>
      <p:nvGrpSpPr>
        <p:cNvPr id="1" name=""/>
        <p:cNvGrpSpPr/>
        <p:nvPr/>
      </p:nvGrpSpPr>
      <p:grpSpPr>
        <a:xfrm>
          <a:off x="0" y="0"/>
          <a:ext cx="0" cy="0"/>
          <a:chOff x="0" y="0"/>
          <a:chExt cx="0" cy="0"/>
        </a:xfrm>
      </p:grpSpPr>
      <p:pic>
        <p:nvPicPr>
          <p:cNvPr id="2" name="Image 0" descr="/Users/krishnajangid/.gemini/antigravity/brain/0257ec97-0b88-48e3-abaf-ced68cd3ce48/visitor_monument_1789383102153.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5943600" cy="6858000"/>
          </a:xfrm>
          <a:prstGeom prst="rect">
            <a:avLst/>
          </a:prstGeom>
          <a:solidFill>
            <a:srgbClr val="0D0B09"/>
          </a:solidFill>
          <a:ln w="12700">
            <a:solidFill>
              <a:srgbClr val="333333"/>
            </a:solidFill>
            <a:prstDash val="solid"/>
          </a:ln>
        </p:spPr>
      </p:sp>
      <p:sp>
        <p:nvSpPr>
          <p:cNvPr id="4" name="Shape 1"/>
          <p:cNvSpPr/>
          <p:nvPr/>
        </p:nvSpPr>
        <p:spPr>
          <a:xfrm>
            <a:off x="5897880" y="0"/>
            <a:ext cx="2011680" cy="6858000"/>
          </a:xfrm>
          <a:prstGeom prst="rect">
            <a:avLst/>
          </a:prstGeom>
          <a:solidFill>
            <a:srgbClr val="0D0B09">
              <a:alpha val="65000"/>
            </a:srgbClr>
          </a:solidFill>
          <a:ln w="12700">
            <a:solidFill>
              <a:srgbClr val="333333"/>
            </a:solidFill>
            <a:prstDash val="solid"/>
          </a:ln>
        </p:spPr>
      </p:sp>
      <p:sp>
        <p:nvSpPr>
          <p:cNvPr id="5" name="Shape 2"/>
          <p:cNvSpPr/>
          <p:nvPr/>
        </p:nvSpPr>
        <p:spPr>
          <a:xfrm>
            <a:off x="0" y="0"/>
            <a:ext cx="12191695" cy="365760"/>
          </a:xfrm>
          <a:prstGeom prst="rect">
            <a:avLst/>
          </a:prstGeom>
          <a:solidFill>
            <a:srgbClr val="000000"/>
          </a:solidFill>
          <a:ln w="12700">
            <a:solidFill>
              <a:srgbClr val="333333"/>
            </a:solidFill>
            <a:prstDash val="solid"/>
          </a:ln>
        </p:spPr>
      </p:sp>
      <p:sp>
        <p:nvSpPr>
          <p:cNvPr id="6" name="Shape 3"/>
          <p:cNvSpPr/>
          <p:nvPr/>
        </p:nvSpPr>
        <p:spPr>
          <a:xfrm>
            <a:off x="0" y="6492240"/>
            <a:ext cx="12191695" cy="365760"/>
          </a:xfrm>
          <a:prstGeom prst="rect">
            <a:avLst/>
          </a:prstGeom>
          <a:solidFill>
            <a:srgbClr val="000000"/>
          </a:solidFill>
          <a:ln w="12700">
            <a:solidFill>
              <a:srgbClr val="333333"/>
            </a:solidFill>
            <a:prstDash val="solid"/>
          </a:ln>
        </p:spPr>
      </p:sp>
      <p:sp>
        <p:nvSpPr>
          <p:cNvPr id="7" name="Text 4"/>
          <p:cNvSpPr/>
          <p:nvPr/>
        </p:nvSpPr>
        <p:spPr>
          <a:xfrm>
            <a:off x="731520" y="109728"/>
            <a:ext cx="5486400" cy="201168"/>
          </a:xfrm>
          <a:prstGeom prst="rect">
            <a:avLst/>
          </a:prstGeom>
          <a:noFill/>
          <a:ln/>
        </p:spPr>
        <p:txBody>
          <a:bodyPr wrap="square" lIns="0" tIns="0" rIns="0" bIns="0" rtlCol="0" anchor="ctr"/>
          <a:lstStyle/>
          <a:p>
            <a:pPr indent="0" marL="0">
              <a:buNone/>
            </a:pPr>
            <a:r>
              <a:rPr lang="en-US" sz="950" b="1" spc="300" kern="0" dirty="0">
                <a:solidFill>
                  <a:srgbClr val="C69214"/>
                </a:solidFill>
                <a:latin typeface="Calibri" pitchFamily="34" charset="0"/>
                <a:ea typeface="Calibri" pitchFamily="34" charset="-122"/>
                <a:cs typeface="Calibri" pitchFamily="34" charset="-120"/>
              </a:rPr>
              <a:t>IDEA FORGE 2026  —  PITCH-A-THON</a:t>
            </a:r>
            <a:endParaRPr lang="en-US" sz="950" dirty="0"/>
          </a:p>
        </p:txBody>
      </p:sp>
      <p:sp>
        <p:nvSpPr>
          <p:cNvPr id="8" name="Text 5"/>
          <p:cNvSpPr/>
          <p:nvPr/>
        </p:nvSpPr>
        <p:spPr>
          <a:xfrm>
            <a:off x="6858000" y="109728"/>
            <a:ext cx="4602175" cy="201168"/>
          </a:xfrm>
          <a:prstGeom prst="rect">
            <a:avLst/>
          </a:prstGeom>
          <a:noFill/>
          <a:ln/>
        </p:spPr>
        <p:txBody>
          <a:bodyPr wrap="square" lIns="0" tIns="0" rIns="0" bIns="0" rtlCol="0" anchor="ctr"/>
          <a:lstStyle/>
          <a:p>
            <a:pPr algn="r" indent="0" marL="0">
              <a:buNone/>
            </a:pPr>
            <a:r>
              <a:rPr lang="en-US" sz="900" spc="200" kern="0" dirty="0">
                <a:solidFill>
                  <a:srgbClr val="8A8279"/>
                </a:solidFill>
                <a:latin typeface="Calibri" pitchFamily="34" charset="0"/>
                <a:ea typeface="Calibri" pitchFamily="34" charset="-122"/>
                <a:cs typeface="Calibri" pitchFamily="34" charset="-120"/>
              </a:rPr>
              <a:t>15.3350° N  ·  76.4600° E  ·  HAMPI, IN</a:t>
            </a:r>
            <a:endParaRPr lang="en-US" sz="900" dirty="0"/>
          </a:p>
        </p:txBody>
      </p:sp>
      <p:sp>
        <p:nvSpPr>
          <p:cNvPr id="9" name="Shape 6"/>
          <p:cNvSpPr/>
          <p:nvPr/>
        </p:nvSpPr>
        <p:spPr>
          <a:xfrm>
            <a:off x="731520" y="384048"/>
            <a:ext cx="10728655" cy="0"/>
          </a:xfrm>
          <a:prstGeom prst="line">
            <a:avLst/>
          </a:prstGeom>
          <a:noFill/>
          <a:ln w="9525">
            <a:solidFill>
              <a:srgbClr val="C69214"/>
            </a:solidFill>
            <a:prstDash val="solid"/>
          </a:ln>
        </p:spPr>
      </p:sp>
      <p:sp>
        <p:nvSpPr>
          <p:cNvPr id="10" name="Shape 7"/>
          <p:cNvSpPr/>
          <p:nvPr/>
        </p:nvSpPr>
        <p:spPr>
          <a:xfrm>
            <a:off x="731520" y="347472"/>
            <a:ext cx="0" cy="73152"/>
          </a:xfrm>
          <a:prstGeom prst="line">
            <a:avLst/>
          </a:prstGeom>
          <a:noFill/>
          <a:ln w="9525">
            <a:solidFill>
              <a:srgbClr val="C69214"/>
            </a:solidFill>
            <a:prstDash val="solid"/>
          </a:ln>
        </p:spPr>
      </p:sp>
      <p:sp>
        <p:nvSpPr>
          <p:cNvPr id="11" name="Shape 8"/>
          <p:cNvSpPr/>
          <p:nvPr/>
        </p:nvSpPr>
        <p:spPr>
          <a:xfrm>
            <a:off x="11460175" y="347472"/>
            <a:ext cx="0" cy="73152"/>
          </a:xfrm>
          <a:prstGeom prst="line">
            <a:avLst/>
          </a:prstGeom>
          <a:noFill/>
          <a:ln w="9525">
            <a:solidFill>
              <a:srgbClr val="C69214"/>
            </a:solidFill>
            <a:prstDash val="solid"/>
          </a:ln>
        </p:spPr>
      </p:sp>
      <p:sp>
        <p:nvSpPr>
          <p:cNvPr id="12" name="Text 9"/>
          <p:cNvSpPr/>
          <p:nvPr/>
        </p:nvSpPr>
        <p:spPr>
          <a:xfrm>
            <a:off x="731520" y="1874520"/>
            <a:ext cx="6217920" cy="141732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HISTORY IS EVERYWHERE.
</a:t>
            </a:r>
            <a:pPr indent="0" marL="0">
              <a:lnSpc>
                <a:spcPct val="105000"/>
              </a:lnSpc>
              <a:buNone/>
            </a:pPr>
            <a:r>
              <a:rPr lang="en-US" sz="4400" b="1" dirty="0">
                <a:solidFill>
                  <a:srgbClr val="C69214"/>
                </a:solidFill>
                <a:latin typeface="Cambria" pitchFamily="34" charset="0"/>
                <a:ea typeface="Cambria" pitchFamily="34" charset="-122"/>
                <a:cs typeface="Cambria" pitchFamily="34" charset="-120"/>
              </a:rPr>
              <a:t>NOW, IT CAN SPEAK.</a:t>
            </a:r>
            <a:endParaRPr lang="en-US" sz="4400" dirty="0"/>
          </a:p>
        </p:txBody>
      </p:sp>
      <p:sp>
        <p:nvSpPr>
          <p:cNvPr id="13" name="Text 10"/>
          <p:cNvSpPr/>
          <p:nvPr/>
        </p:nvSpPr>
        <p:spPr>
          <a:xfrm>
            <a:off x="731520" y="3566160"/>
            <a:ext cx="5029200" cy="38404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HERODOTUS</a:t>
            </a:r>
            <a:endParaRPr lang="en-US" sz="2800" dirty="0"/>
          </a:p>
        </p:txBody>
      </p:sp>
      <p:sp>
        <p:nvSpPr>
          <p:cNvPr id="14" name="Text 11"/>
          <p:cNvSpPr/>
          <p:nvPr/>
        </p:nvSpPr>
        <p:spPr>
          <a:xfrm>
            <a:off x="731520" y="4023360"/>
            <a:ext cx="5029200" cy="228600"/>
          </a:xfrm>
          <a:prstGeom prst="rect">
            <a:avLst/>
          </a:prstGeom>
          <a:noFill/>
          <a:ln/>
        </p:spPr>
        <p:txBody>
          <a:bodyPr wrap="square" lIns="0" tIns="0" rIns="0" bIns="0" rtlCol="0" anchor="ctr"/>
          <a:lstStyle/>
          <a:p>
            <a:pPr indent="0" marL="0">
              <a:buNone/>
            </a:pPr>
            <a:r>
              <a:rPr lang="en-US" sz="1150" b="1" spc="300" kern="0" dirty="0">
                <a:solidFill>
                  <a:srgbClr val="E8E0D4"/>
                </a:solidFill>
                <a:latin typeface="Calibri" pitchFamily="34" charset="0"/>
                <a:ea typeface="Calibri" pitchFamily="34" charset="-122"/>
                <a:cs typeface="Calibri" pitchFamily="34" charset="-120"/>
              </a:rPr>
              <a:t>EXPLORE.   LISTEN.   DISCOVER.</a:t>
            </a:r>
            <a:endParaRPr lang="en-US" sz="1150" dirty="0"/>
          </a:p>
        </p:txBody>
      </p:sp>
      <p:sp>
        <p:nvSpPr>
          <p:cNvPr id="15" name="Text 12"/>
          <p:cNvSpPr/>
          <p:nvPr/>
        </p:nvSpPr>
        <p:spPr>
          <a:xfrm>
            <a:off x="731520" y="4480560"/>
            <a:ext cx="5486400" cy="228600"/>
          </a:xfrm>
          <a:prstGeom prst="rect">
            <a:avLst/>
          </a:prstGeom>
          <a:noFill/>
          <a:ln/>
        </p:spPr>
        <p:txBody>
          <a:bodyPr wrap="square" lIns="0" tIns="0" rIns="0" bIns="0" rtlCol="0" anchor="ctr"/>
          <a:lstStyle/>
          <a:p>
            <a:pPr indent="0" marL="0">
              <a:buNone/>
            </a:pPr>
            <a:r>
              <a:rPr lang="en-US" sz="900" b="1" spc="100" kern="0" dirty="0">
                <a:solidFill>
                  <a:srgbClr val="C69214"/>
                </a:solidFill>
                <a:latin typeface="Calibri" pitchFamily="34" charset="0"/>
                <a:ea typeface="Calibri" pitchFamily="34" charset="-122"/>
                <a:cs typeface="Calibri" pitchFamily="34" charset="-120"/>
              </a:rPr>
              <a:t>✓ LIVE WORKING MVP  ·  ✓ ZERO-COST MARGINAL SCALE  ·  ✓ HIGH SOCIAL IMPACT</a:t>
            </a:r>
            <a:endParaRPr lang="en-US" sz="900" dirty="0"/>
          </a:p>
        </p:txBody>
      </p:sp>
      <p:sp>
        <p:nvSpPr>
          <p:cNvPr id="16" name="Shape 13"/>
          <p:cNvSpPr/>
          <p:nvPr/>
        </p:nvSpPr>
        <p:spPr>
          <a:xfrm>
            <a:off x="621792" y="5239512"/>
            <a:ext cx="219456" cy="219456"/>
          </a:xfrm>
          <a:prstGeom prst="ellipse">
            <a:avLst/>
          </a:prstGeom>
          <a:solidFill>
            <a:srgbClr val="C69214">
              <a:alpha val="15000"/>
            </a:srgbClr>
          </a:solidFill>
          <a:ln w="12700">
            <a:solidFill>
              <a:srgbClr val="C69214"/>
            </a:solidFill>
            <a:prstDash val="dash"/>
          </a:ln>
        </p:spPr>
      </p:sp>
      <p:sp>
        <p:nvSpPr>
          <p:cNvPr id="17" name="Shape 14"/>
          <p:cNvSpPr/>
          <p:nvPr/>
        </p:nvSpPr>
        <p:spPr>
          <a:xfrm>
            <a:off x="676656" y="5294376"/>
            <a:ext cx="109728" cy="109728"/>
          </a:xfrm>
          <a:prstGeom prst="ellipse">
            <a:avLst/>
          </a:prstGeom>
          <a:noFill/>
          <a:ln w="19050">
            <a:solidFill>
              <a:srgbClr val="C69214"/>
            </a:solidFill>
            <a:prstDash val="solid"/>
          </a:ln>
        </p:spPr>
      </p:sp>
      <p:sp>
        <p:nvSpPr>
          <p:cNvPr id="18" name="Shape 15"/>
          <p:cNvSpPr/>
          <p:nvPr/>
        </p:nvSpPr>
        <p:spPr>
          <a:xfrm>
            <a:off x="699516" y="5317236"/>
            <a:ext cx="64008" cy="64008"/>
          </a:xfrm>
          <a:prstGeom prst="ellipse">
            <a:avLst/>
          </a:prstGeom>
          <a:solidFill>
            <a:srgbClr val="C69214"/>
          </a:solidFill>
          <a:ln/>
        </p:spPr>
      </p:sp>
      <p:sp>
        <p:nvSpPr>
          <p:cNvPr id="19" name="Shape 16"/>
          <p:cNvSpPr/>
          <p:nvPr/>
        </p:nvSpPr>
        <p:spPr>
          <a:xfrm>
            <a:off x="868680" y="5349240"/>
            <a:ext cx="9372600" cy="-1874520"/>
          </a:xfrm>
          <a:prstGeom prst="line">
            <a:avLst/>
          </a:prstGeom>
          <a:noFill/>
          <a:ln w="15240">
            <a:solidFill>
              <a:srgbClr val="C69214"/>
            </a:solidFill>
            <a:prstDash val="dash"/>
          </a:ln>
        </p:spPr>
      </p:sp>
      <p:sp>
        <p:nvSpPr>
          <p:cNvPr id="20" name="Shape 17"/>
          <p:cNvSpPr/>
          <p:nvPr/>
        </p:nvSpPr>
        <p:spPr>
          <a:xfrm>
            <a:off x="10168128" y="3401568"/>
            <a:ext cx="146304" cy="146304"/>
          </a:xfrm>
          <a:prstGeom prst="ellipse">
            <a:avLst/>
          </a:prstGeom>
          <a:solidFill>
            <a:srgbClr val="C69214">
              <a:alpha val="15000"/>
            </a:srgbClr>
          </a:solidFill>
          <a:ln w="12700">
            <a:solidFill>
              <a:srgbClr val="C69214"/>
            </a:solidFill>
            <a:prstDash val="dash"/>
          </a:ln>
        </p:spPr>
      </p:sp>
      <p:sp>
        <p:nvSpPr>
          <p:cNvPr id="21" name="Shape 18"/>
          <p:cNvSpPr/>
          <p:nvPr/>
        </p:nvSpPr>
        <p:spPr>
          <a:xfrm>
            <a:off x="10204704" y="3438144"/>
            <a:ext cx="73152" cy="73152"/>
          </a:xfrm>
          <a:prstGeom prst="ellipse">
            <a:avLst/>
          </a:prstGeom>
          <a:noFill/>
          <a:ln w="19050">
            <a:solidFill>
              <a:srgbClr val="C69214"/>
            </a:solidFill>
            <a:prstDash val="solid"/>
          </a:ln>
        </p:spPr>
      </p:sp>
      <p:sp>
        <p:nvSpPr>
          <p:cNvPr id="22" name="Shape 19"/>
          <p:cNvSpPr/>
          <p:nvPr/>
        </p:nvSpPr>
        <p:spPr>
          <a:xfrm>
            <a:off x="10209276" y="3442716"/>
            <a:ext cx="64008" cy="64008"/>
          </a:xfrm>
          <a:prstGeom prst="ellipse">
            <a:avLst/>
          </a:prstGeom>
          <a:solidFill>
            <a:srgbClr val="C69214"/>
          </a:solidFill>
          <a:ln/>
        </p:spPr>
      </p:sp>
      <p:sp>
        <p:nvSpPr>
          <p:cNvPr id="23" name="Text 20"/>
          <p:cNvSpPr/>
          <p:nvPr/>
        </p:nvSpPr>
        <p:spPr>
          <a:xfrm>
            <a:off x="8961120" y="3063240"/>
            <a:ext cx="2499055" cy="365760"/>
          </a:xfrm>
          <a:prstGeom prst="rect">
            <a:avLst/>
          </a:prstGeom>
          <a:noFill/>
          <a:ln/>
        </p:spPr>
        <p:txBody>
          <a:bodyPr wrap="square" lIns="0" tIns="0" rIns="0" bIns="0" rtlCol="0" anchor="ctr"/>
          <a:lstStyle/>
          <a:p>
            <a:pPr algn="r" indent="0" marL="0">
              <a:buNone/>
            </a:pPr>
            <a:r>
              <a:rPr lang="en-US" sz="900" b="1" dirty="0">
                <a:solidFill>
                  <a:srgbClr val="8A8279"/>
                </a:solidFill>
                <a:latin typeface="Calibri" pitchFamily="34" charset="0"/>
                <a:ea typeface="Calibri" pitchFamily="34" charset="-122"/>
                <a:cs typeface="Calibri" pitchFamily="34" charset="-120"/>
              </a:rPr>
              <a:t>15.3350° N  ·  76.4600° E</a:t>
            </a:r>
            <a:endParaRPr lang="en-US" sz="900" dirty="0"/>
          </a:p>
          <a:p>
            <a:pPr algn="r" indent="0" marL="0">
              <a:buNone/>
            </a:pPr>
            <a:r>
              <a:rPr lang="en-US" sz="900" b="1" dirty="0">
                <a:solidFill>
                  <a:srgbClr val="8A8279"/>
                </a:solidFill>
                <a:latin typeface="Calibri" pitchFamily="34" charset="0"/>
                <a:ea typeface="Calibri" pitchFamily="34" charset="-122"/>
                <a:cs typeface="Calibri" pitchFamily="34" charset="-120"/>
              </a:rPr>
              <a:t>HAMPI, KARNATAKA</a:t>
            </a:r>
            <a:endParaRPr lang="en-US" sz="900" dirty="0"/>
          </a:p>
        </p:txBody>
      </p:sp>
      <p:sp>
        <p:nvSpPr>
          <p:cNvPr id="24" name="Text 21"/>
          <p:cNvSpPr/>
          <p:nvPr/>
        </p:nvSpPr>
        <p:spPr>
          <a:xfrm>
            <a:off x="7498080" y="5166360"/>
            <a:ext cx="2103120" cy="411480"/>
          </a:xfrm>
          <a:prstGeom prst="rect">
            <a:avLst/>
          </a:prstGeom>
          <a:noFill/>
          <a:ln/>
        </p:spPr>
        <p:txBody>
          <a:bodyPr wrap="square" lIns="0" tIns="0" rIns="0" bIns="0" rtlCol="0" anchor="ctr"/>
          <a:lstStyle/>
          <a:p>
            <a:pPr algn="r" indent="0" marL="0">
              <a:buNone/>
            </a:pPr>
            <a:r>
              <a:rPr lang="en-US" sz="1050" dirty="0">
                <a:solidFill>
                  <a:srgbClr val="E8E0D4"/>
                </a:solidFill>
                <a:latin typeface="Calibri" pitchFamily="34" charset="0"/>
                <a:ea typeface="Calibri" pitchFamily="34" charset="-122"/>
                <a:cs typeface="Calibri" pitchFamily="34" charset="-120"/>
              </a:rPr>
              <a:t>Try the prototype</a:t>
            </a:r>
            <a:endParaRPr lang="en-US" sz="1050" dirty="0"/>
          </a:p>
          <a:p>
            <a:pPr algn="r" indent="0" marL="0">
              <a:buNone/>
            </a:pPr>
            <a:r>
              <a:rPr lang="en-US" sz="1050" dirty="0">
                <a:solidFill>
                  <a:srgbClr val="E8E0D4"/>
                </a:solidFill>
                <a:latin typeface="Calibri" pitchFamily="34" charset="0"/>
                <a:ea typeface="Calibri" pitchFamily="34" charset="-122"/>
                <a:cs typeface="Calibri" pitchFamily="34" charset="-120"/>
              </a:rPr>
              <a:t>from your phone.</a:t>
            </a:r>
            <a:endParaRPr lang="en-US" sz="1050" dirty="0"/>
          </a:p>
        </p:txBody>
      </p:sp>
      <p:sp>
        <p:nvSpPr>
          <p:cNvPr id="25" name="Shape 22"/>
          <p:cNvSpPr/>
          <p:nvPr/>
        </p:nvSpPr>
        <p:spPr>
          <a:xfrm>
            <a:off x="9784080" y="4800600"/>
            <a:ext cx="1554480" cy="1508760"/>
          </a:xfrm>
          <a:prstGeom prst="roundRect">
            <a:avLst>
              <a:gd name="adj" fmla="val 3636"/>
            </a:avLst>
          </a:prstGeom>
          <a:solidFill>
            <a:srgbClr val="1A1714"/>
          </a:solidFill>
          <a:ln w="12700">
            <a:solidFill>
              <a:srgbClr val="C69214"/>
            </a:solidFill>
            <a:prstDash val="dash"/>
          </a:ln>
        </p:spPr>
      </p:sp>
      <p:sp>
        <p:nvSpPr>
          <p:cNvPr id="26" name="Shape 23"/>
          <p:cNvSpPr/>
          <p:nvPr/>
        </p:nvSpPr>
        <p:spPr>
          <a:xfrm>
            <a:off x="10172700" y="4965192"/>
            <a:ext cx="256032" cy="256032"/>
          </a:xfrm>
          <a:prstGeom prst="rect">
            <a:avLst/>
          </a:prstGeom>
          <a:solidFill>
            <a:srgbClr val="1A1714"/>
          </a:solidFill>
          <a:ln w="19050">
            <a:solidFill>
              <a:srgbClr val="C69214"/>
            </a:solidFill>
            <a:prstDash val="solid"/>
          </a:ln>
        </p:spPr>
      </p:sp>
      <p:sp>
        <p:nvSpPr>
          <p:cNvPr id="27" name="Shape 24"/>
          <p:cNvSpPr/>
          <p:nvPr/>
        </p:nvSpPr>
        <p:spPr>
          <a:xfrm>
            <a:off x="10245852" y="5038344"/>
            <a:ext cx="109728" cy="109728"/>
          </a:xfrm>
          <a:prstGeom prst="rect">
            <a:avLst/>
          </a:prstGeom>
          <a:solidFill>
            <a:srgbClr val="C69214"/>
          </a:solidFill>
          <a:ln w="12700">
            <a:solidFill>
              <a:srgbClr val="333333"/>
            </a:solidFill>
            <a:prstDash val="solid"/>
          </a:ln>
        </p:spPr>
      </p:sp>
      <p:sp>
        <p:nvSpPr>
          <p:cNvPr id="28" name="Shape 25"/>
          <p:cNvSpPr/>
          <p:nvPr/>
        </p:nvSpPr>
        <p:spPr>
          <a:xfrm>
            <a:off x="10693908" y="4965192"/>
            <a:ext cx="256032" cy="256032"/>
          </a:xfrm>
          <a:prstGeom prst="rect">
            <a:avLst/>
          </a:prstGeom>
          <a:solidFill>
            <a:srgbClr val="1A1714"/>
          </a:solidFill>
          <a:ln w="19050">
            <a:solidFill>
              <a:srgbClr val="C69214"/>
            </a:solidFill>
            <a:prstDash val="solid"/>
          </a:ln>
        </p:spPr>
      </p:sp>
      <p:sp>
        <p:nvSpPr>
          <p:cNvPr id="29" name="Shape 26"/>
          <p:cNvSpPr/>
          <p:nvPr/>
        </p:nvSpPr>
        <p:spPr>
          <a:xfrm>
            <a:off x="10767060" y="5038344"/>
            <a:ext cx="109728" cy="109728"/>
          </a:xfrm>
          <a:prstGeom prst="rect">
            <a:avLst/>
          </a:prstGeom>
          <a:solidFill>
            <a:srgbClr val="C69214"/>
          </a:solidFill>
          <a:ln w="12700">
            <a:solidFill>
              <a:srgbClr val="333333"/>
            </a:solidFill>
            <a:prstDash val="solid"/>
          </a:ln>
        </p:spPr>
      </p:sp>
      <p:sp>
        <p:nvSpPr>
          <p:cNvPr id="30" name="Shape 27"/>
          <p:cNvSpPr/>
          <p:nvPr/>
        </p:nvSpPr>
        <p:spPr>
          <a:xfrm>
            <a:off x="10172700" y="5486400"/>
            <a:ext cx="256032" cy="256032"/>
          </a:xfrm>
          <a:prstGeom prst="rect">
            <a:avLst/>
          </a:prstGeom>
          <a:solidFill>
            <a:srgbClr val="1A1714"/>
          </a:solidFill>
          <a:ln w="19050">
            <a:solidFill>
              <a:srgbClr val="C69214"/>
            </a:solidFill>
            <a:prstDash val="solid"/>
          </a:ln>
        </p:spPr>
      </p:sp>
      <p:sp>
        <p:nvSpPr>
          <p:cNvPr id="31" name="Shape 28"/>
          <p:cNvSpPr/>
          <p:nvPr/>
        </p:nvSpPr>
        <p:spPr>
          <a:xfrm>
            <a:off x="10245852" y="5559552"/>
            <a:ext cx="109728" cy="109728"/>
          </a:xfrm>
          <a:prstGeom prst="rect">
            <a:avLst/>
          </a:prstGeom>
          <a:solidFill>
            <a:srgbClr val="C69214"/>
          </a:solidFill>
          <a:ln w="12700">
            <a:solidFill>
              <a:srgbClr val="333333"/>
            </a:solidFill>
            <a:prstDash val="solid"/>
          </a:ln>
        </p:spPr>
      </p:sp>
      <p:sp>
        <p:nvSpPr>
          <p:cNvPr id="32" name="Shape 29"/>
          <p:cNvSpPr/>
          <p:nvPr/>
        </p:nvSpPr>
        <p:spPr>
          <a:xfrm>
            <a:off x="10492740" y="5056632"/>
            <a:ext cx="64008" cy="64008"/>
          </a:xfrm>
          <a:prstGeom prst="rect">
            <a:avLst/>
          </a:prstGeom>
          <a:solidFill>
            <a:srgbClr val="C69214"/>
          </a:solidFill>
          <a:ln w="12700">
            <a:solidFill>
              <a:srgbClr val="333333"/>
            </a:solidFill>
            <a:prstDash val="solid"/>
          </a:ln>
        </p:spPr>
      </p:sp>
      <p:sp>
        <p:nvSpPr>
          <p:cNvPr id="33" name="Shape 30"/>
          <p:cNvSpPr/>
          <p:nvPr/>
        </p:nvSpPr>
        <p:spPr>
          <a:xfrm>
            <a:off x="10584180" y="5056632"/>
            <a:ext cx="64008" cy="64008"/>
          </a:xfrm>
          <a:prstGeom prst="rect">
            <a:avLst/>
          </a:prstGeom>
          <a:solidFill>
            <a:srgbClr val="C69214"/>
          </a:solidFill>
          <a:ln w="12700">
            <a:solidFill>
              <a:srgbClr val="333333"/>
            </a:solidFill>
            <a:prstDash val="solid"/>
          </a:ln>
        </p:spPr>
      </p:sp>
      <p:sp>
        <p:nvSpPr>
          <p:cNvPr id="34" name="Shape 31"/>
          <p:cNvSpPr/>
          <p:nvPr/>
        </p:nvSpPr>
        <p:spPr>
          <a:xfrm>
            <a:off x="10264140" y="5285232"/>
            <a:ext cx="64008" cy="64008"/>
          </a:xfrm>
          <a:prstGeom prst="rect">
            <a:avLst/>
          </a:prstGeom>
          <a:solidFill>
            <a:srgbClr val="C69214"/>
          </a:solidFill>
          <a:ln w="12700">
            <a:solidFill>
              <a:srgbClr val="333333"/>
            </a:solidFill>
            <a:prstDash val="solid"/>
          </a:ln>
        </p:spPr>
      </p:sp>
      <p:sp>
        <p:nvSpPr>
          <p:cNvPr id="35" name="Shape 32"/>
          <p:cNvSpPr/>
          <p:nvPr/>
        </p:nvSpPr>
        <p:spPr>
          <a:xfrm>
            <a:off x="10492740" y="5285232"/>
            <a:ext cx="64008" cy="64008"/>
          </a:xfrm>
          <a:prstGeom prst="rect">
            <a:avLst/>
          </a:prstGeom>
          <a:solidFill>
            <a:srgbClr val="C69214"/>
          </a:solidFill>
          <a:ln w="12700">
            <a:solidFill>
              <a:srgbClr val="333333"/>
            </a:solidFill>
            <a:prstDash val="solid"/>
          </a:ln>
        </p:spPr>
      </p:sp>
      <p:sp>
        <p:nvSpPr>
          <p:cNvPr id="36" name="Shape 33"/>
          <p:cNvSpPr/>
          <p:nvPr/>
        </p:nvSpPr>
        <p:spPr>
          <a:xfrm>
            <a:off x="10584180" y="5285232"/>
            <a:ext cx="64008" cy="64008"/>
          </a:xfrm>
          <a:prstGeom prst="rect">
            <a:avLst/>
          </a:prstGeom>
          <a:solidFill>
            <a:srgbClr val="C69214"/>
          </a:solidFill>
          <a:ln w="12700">
            <a:solidFill>
              <a:srgbClr val="333333"/>
            </a:solidFill>
            <a:prstDash val="solid"/>
          </a:ln>
        </p:spPr>
      </p:sp>
      <p:sp>
        <p:nvSpPr>
          <p:cNvPr id="37" name="Shape 34"/>
          <p:cNvSpPr/>
          <p:nvPr/>
        </p:nvSpPr>
        <p:spPr>
          <a:xfrm>
            <a:off x="10767060" y="5285232"/>
            <a:ext cx="64008" cy="64008"/>
          </a:xfrm>
          <a:prstGeom prst="rect">
            <a:avLst/>
          </a:prstGeom>
          <a:solidFill>
            <a:srgbClr val="C69214"/>
          </a:solidFill>
          <a:ln w="12700">
            <a:solidFill>
              <a:srgbClr val="333333"/>
            </a:solidFill>
            <a:prstDash val="solid"/>
          </a:ln>
        </p:spPr>
      </p:sp>
      <p:sp>
        <p:nvSpPr>
          <p:cNvPr id="38" name="Shape 35"/>
          <p:cNvSpPr/>
          <p:nvPr/>
        </p:nvSpPr>
        <p:spPr>
          <a:xfrm>
            <a:off x="10492740" y="5468112"/>
            <a:ext cx="64008" cy="64008"/>
          </a:xfrm>
          <a:prstGeom prst="rect">
            <a:avLst/>
          </a:prstGeom>
          <a:solidFill>
            <a:srgbClr val="C69214"/>
          </a:solidFill>
          <a:ln w="12700">
            <a:solidFill>
              <a:srgbClr val="333333"/>
            </a:solidFill>
            <a:prstDash val="solid"/>
          </a:ln>
        </p:spPr>
      </p:sp>
      <p:sp>
        <p:nvSpPr>
          <p:cNvPr id="39" name="Shape 36"/>
          <p:cNvSpPr/>
          <p:nvPr/>
        </p:nvSpPr>
        <p:spPr>
          <a:xfrm>
            <a:off x="10675620" y="5468112"/>
            <a:ext cx="64008" cy="64008"/>
          </a:xfrm>
          <a:prstGeom prst="rect">
            <a:avLst/>
          </a:prstGeom>
          <a:solidFill>
            <a:srgbClr val="C69214"/>
          </a:solidFill>
          <a:ln w="12700">
            <a:solidFill>
              <a:srgbClr val="333333"/>
            </a:solidFill>
            <a:prstDash val="solid"/>
          </a:ln>
        </p:spPr>
      </p:sp>
      <p:sp>
        <p:nvSpPr>
          <p:cNvPr id="40" name="Shape 37"/>
          <p:cNvSpPr/>
          <p:nvPr/>
        </p:nvSpPr>
        <p:spPr>
          <a:xfrm>
            <a:off x="10812780" y="5468112"/>
            <a:ext cx="64008" cy="64008"/>
          </a:xfrm>
          <a:prstGeom prst="rect">
            <a:avLst/>
          </a:prstGeom>
          <a:solidFill>
            <a:srgbClr val="C69214"/>
          </a:solidFill>
          <a:ln w="12700">
            <a:solidFill>
              <a:srgbClr val="333333"/>
            </a:solidFill>
            <a:prstDash val="solid"/>
          </a:ln>
        </p:spPr>
      </p:sp>
      <p:sp>
        <p:nvSpPr>
          <p:cNvPr id="41" name="Shape 38"/>
          <p:cNvSpPr/>
          <p:nvPr/>
        </p:nvSpPr>
        <p:spPr>
          <a:xfrm>
            <a:off x="10538460" y="5605272"/>
            <a:ext cx="64008" cy="64008"/>
          </a:xfrm>
          <a:prstGeom prst="rect">
            <a:avLst/>
          </a:prstGeom>
          <a:solidFill>
            <a:srgbClr val="C69214"/>
          </a:solidFill>
          <a:ln w="12700">
            <a:solidFill>
              <a:srgbClr val="333333"/>
            </a:solidFill>
            <a:prstDash val="solid"/>
          </a:ln>
        </p:spPr>
      </p:sp>
      <p:sp>
        <p:nvSpPr>
          <p:cNvPr id="42" name="Shape 39"/>
          <p:cNvSpPr/>
          <p:nvPr/>
        </p:nvSpPr>
        <p:spPr>
          <a:xfrm>
            <a:off x="10675620" y="5605272"/>
            <a:ext cx="64008" cy="64008"/>
          </a:xfrm>
          <a:prstGeom prst="rect">
            <a:avLst/>
          </a:prstGeom>
          <a:solidFill>
            <a:srgbClr val="C69214"/>
          </a:solidFill>
          <a:ln w="12700">
            <a:solidFill>
              <a:srgbClr val="333333"/>
            </a:solidFill>
            <a:prstDash val="solid"/>
          </a:ln>
        </p:spPr>
      </p:sp>
      <p:sp>
        <p:nvSpPr>
          <p:cNvPr id="43" name="Shape 40"/>
          <p:cNvSpPr/>
          <p:nvPr/>
        </p:nvSpPr>
        <p:spPr>
          <a:xfrm>
            <a:off x="10812780" y="5605272"/>
            <a:ext cx="64008" cy="64008"/>
          </a:xfrm>
          <a:prstGeom prst="rect">
            <a:avLst/>
          </a:prstGeom>
          <a:solidFill>
            <a:srgbClr val="C69214"/>
          </a:solidFill>
          <a:ln w="12700">
            <a:solidFill>
              <a:srgbClr val="333333"/>
            </a:solidFill>
            <a:prstDash val="solid"/>
          </a:ln>
        </p:spPr>
      </p:sp>
      <p:sp>
        <p:nvSpPr>
          <p:cNvPr id="44" name="Text 41"/>
          <p:cNvSpPr/>
          <p:nvPr/>
        </p:nvSpPr>
        <p:spPr>
          <a:xfrm>
            <a:off x="9784080" y="6053328"/>
            <a:ext cx="1554480" cy="182880"/>
          </a:xfrm>
          <a:prstGeom prst="rect">
            <a:avLst/>
          </a:prstGeom>
          <a:noFill/>
          <a:ln/>
        </p:spPr>
        <p:txBody>
          <a:bodyPr wrap="square" lIns="0" tIns="0" rIns="0" bIns="0" rtlCol="0" anchor="ctr"/>
          <a:lstStyle/>
          <a:p>
            <a:pPr algn="ctr" indent="0" marL="0">
              <a:buNone/>
            </a:pPr>
            <a:r>
              <a:rPr lang="en-US" sz="850" b="1" spc="200" kern="0" dirty="0">
                <a:solidFill>
                  <a:srgbClr val="C69214"/>
                </a:solidFill>
                <a:latin typeface="Calibri" pitchFamily="34" charset="0"/>
                <a:ea typeface="Calibri" pitchFamily="34" charset="-122"/>
                <a:cs typeface="Calibri" pitchFamily="34" charset="-120"/>
              </a:rPr>
              <a:t>SCAN  ·  LIVE DEMO</a:t>
            </a:r>
            <a:endParaRPr lang="en-US" sz="850" dirty="0"/>
          </a:p>
        </p:txBody>
      </p:sp>
      <p:sp>
        <p:nvSpPr>
          <p:cNvPr id="45" name="Text 42"/>
          <p:cNvSpPr/>
          <p:nvPr/>
        </p:nvSpPr>
        <p:spPr>
          <a:xfrm>
            <a:off x="731520" y="5715000"/>
            <a:ext cx="3200400" cy="201168"/>
          </a:xfrm>
          <a:prstGeom prst="rect">
            <a:avLst/>
          </a:prstGeom>
          <a:noFill/>
          <a:ln/>
        </p:spPr>
        <p:txBody>
          <a:bodyPr wrap="square" lIns="0" tIns="0" rIns="0" bIns="0" rtlCol="0" anchor="ctr"/>
          <a:lstStyle/>
          <a:p>
            <a:pPr indent="0" marL="0">
              <a:buNone/>
            </a:pPr>
            <a:r>
              <a:rPr lang="en-US" sz="950" b="1" spc="300" kern="0" dirty="0">
                <a:solidFill>
                  <a:srgbClr val="C69214"/>
                </a:solidFill>
                <a:latin typeface="Calibri" pitchFamily="34" charset="0"/>
                <a:ea typeface="Calibri" pitchFamily="34" charset="-122"/>
                <a:cs typeface="Calibri" pitchFamily="34" charset="-120"/>
              </a:rPr>
              <a:t>TEAM HERODOTUS</a:t>
            </a:r>
            <a:endParaRPr lang="en-US" sz="950" dirty="0"/>
          </a:p>
        </p:txBody>
      </p:sp>
      <p:sp>
        <p:nvSpPr>
          <p:cNvPr id="46" name="Text 43"/>
          <p:cNvSpPr/>
          <p:nvPr/>
        </p:nvSpPr>
        <p:spPr>
          <a:xfrm>
            <a:off x="731520" y="5943600"/>
            <a:ext cx="4114800" cy="201168"/>
          </a:xfrm>
          <a:prstGeom prst="rect">
            <a:avLst/>
          </a:prstGeom>
          <a:noFill/>
          <a:ln/>
        </p:spPr>
        <p:txBody>
          <a:bodyPr wrap="square" lIns="0" tIns="0" rIns="0" bIns="0" rtlCol="0" anchor="ctr"/>
          <a:lstStyle/>
          <a:p>
            <a:pPr indent="0" marL="0">
              <a:buNone/>
            </a:pPr>
            <a:r>
              <a:rPr lang="en-US" sz="850" spc="200" kern="0" dirty="0">
                <a:solidFill>
                  <a:srgbClr val="8A8279"/>
                </a:solidFill>
                <a:latin typeface="Calibri" pitchFamily="34" charset="0"/>
                <a:ea typeface="Calibri" pitchFamily="34" charset="-122"/>
                <a:cs typeface="Calibri" pitchFamily="34" charset="-120"/>
              </a:rPr>
              <a:t>A MAP-FIRST DIGITAL HERITAGE EXPERIENCE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IDEA FORGE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Herodotus — Historical Monument Virtual Audio &amp; Fact Guide</dc:title>
  <dc:subject>Pitch Presentation (7 Slides)</dc:subject>
  <dc:creator>Team Herodotus</dc:creator>
  <cp:lastModifiedBy>Team Herodotus</cp:lastModifiedBy>
  <cp:revision>1</cp:revision>
  <dcterms:created xsi:type="dcterms:W3CDTF">2026-09-15T06:59:27Z</dcterms:created>
  <dcterms:modified xsi:type="dcterms:W3CDTF">2026-09-15T06:59:27Z</dcterms:modified>
</cp:coreProperties>
</file>